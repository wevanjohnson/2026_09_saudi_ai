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64" r:id="rId2"/>
    <p:sldId id="2147468568" r:id="rId3"/>
    <p:sldId id="2147468511" r:id="rId4"/>
    <p:sldId id="2147468423" r:id="rId5"/>
    <p:sldId id="2147468552" r:id="rId6"/>
    <p:sldId id="275" r:id="rId7"/>
    <p:sldId id="2147468527" r:id="rId8"/>
    <p:sldId id="2147468448" r:id="rId9"/>
    <p:sldId id="2147468491" r:id="rId10"/>
    <p:sldId id="2147468456" r:id="rId11"/>
    <p:sldId id="2147468461" r:id="rId12"/>
    <p:sldId id="2147468440" r:id="rId13"/>
    <p:sldId id="2147468457" r:id="rId14"/>
    <p:sldId id="258" r:id="rId15"/>
    <p:sldId id="2147468562" r:id="rId16"/>
    <p:sldId id="2147468508" r:id="rId17"/>
    <p:sldId id="2147468411" r:id="rId18"/>
    <p:sldId id="2147468563" r:id="rId19"/>
    <p:sldId id="2147468458" r:id="rId20"/>
    <p:sldId id="2147468506" r:id="rId21"/>
    <p:sldId id="2147468564" r:id="rId22"/>
    <p:sldId id="476" r:id="rId23"/>
    <p:sldId id="2147468462" r:id="rId24"/>
    <p:sldId id="2147468463" r:id="rId25"/>
    <p:sldId id="2147468573" r:id="rId26"/>
    <p:sldId id="2147468567" r:id="rId27"/>
    <p:sldId id="2147468569" r:id="rId28"/>
    <p:sldId id="2147468501" r:id="rId29"/>
    <p:sldId id="256" r:id="rId30"/>
    <p:sldId id="2147468525" r:id="rId31"/>
    <p:sldId id="2147468505" r:id="rId32"/>
    <p:sldId id="2147468538" r:id="rId33"/>
    <p:sldId id="2147468560" r:id="rId34"/>
    <p:sldId id="2147468500" r:id="rId35"/>
    <p:sldId id="265" r:id="rId36"/>
    <p:sldId id="261" r:id="rId37"/>
    <p:sldId id="257" r:id="rId38"/>
    <p:sldId id="2147468574" r:id="rId39"/>
    <p:sldId id="2147468571"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94623"/>
  </p:normalViewPr>
  <p:slideViewPr>
    <p:cSldViewPr snapToGrid="0">
      <p:cViewPr varScale="1">
        <p:scale>
          <a:sx n="100" d="100"/>
          <a:sy n="100" d="100"/>
        </p:scale>
        <p:origin x="184" y="544"/>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diagrams/_rels/data2.xml.rels><?xml version="1.0" encoding="UTF-8" standalone="yes"?>
<Relationships xmlns="http://schemas.openxmlformats.org/package/2006/relationships"><Relationship Id="rId3" Type="http://schemas.openxmlformats.org/officeDocument/2006/relationships/image" Target="../media/image68.svg"/><Relationship Id="rId2" Type="http://schemas.openxmlformats.org/officeDocument/2006/relationships/image" Target="../media/image67.svg"/><Relationship Id="rId1" Type="http://schemas.openxmlformats.org/officeDocument/2006/relationships/image" Target="../media/image66.svg"/><Relationship Id="rId5" Type="http://schemas.openxmlformats.org/officeDocument/2006/relationships/image" Target="../media/image70.svg"/><Relationship Id="rId4" Type="http://schemas.openxmlformats.org/officeDocument/2006/relationships/image" Target="../media/image6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68.svg"/><Relationship Id="rId2" Type="http://schemas.openxmlformats.org/officeDocument/2006/relationships/image" Target="../media/image67.svg"/><Relationship Id="rId1" Type="http://schemas.openxmlformats.org/officeDocument/2006/relationships/image" Target="../media/image66.svg"/><Relationship Id="rId5" Type="http://schemas.openxmlformats.org/officeDocument/2006/relationships/image" Target="../media/image70.svg"/><Relationship Id="rId4" Type="http://schemas.openxmlformats.org/officeDocument/2006/relationships/image" Target="../media/image69.svg"/></Relationships>
</file>

<file path=ppt/diagrams/colors1.xml><?xml version="1.0" encoding="utf-8"?>
<dgm:colorsDef xmlns:dgm="http://schemas.openxmlformats.org/drawingml/2006/diagram" xmlns:a="http://schemas.openxmlformats.org/drawingml/2006/main" uniqueId="urn:microsoft.com/office/officeart/2005/8/colors/accent5_2#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1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94B4CF5-46E7-4E2C-A4D4-5C45645B82A3}" type="doc">
      <dgm:prSet loTypeId="urn:microsoft.com/office/officeart/2005/8/layout/vList2" loCatId="list" qsTypeId="urn:microsoft.com/office/officeart/2005/8/quickstyle/simple2#6" qsCatId="simple" csTypeId="urn:microsoft.com/office/officeart/2005/8/colors/accent5_2#2" csCatId="accent5"/>
      <dgm:spPr/>
      <dgm:t>
        <a:bodyPr/>
        <a:lstStyle/>
        <a:p>
          <a:endParaRPr lang="en-US"/>
        </a:p>
      </dgm:t>
    </dgm:pt>
    <dgm:pt modelId="{11DA878F-1582-4501-B59C-D5BF25EF35A3}">
      <dgm:prSet/>
      <dgm:spPr/>
      <dgm:t>
        <a:bodyPr/>
        <a:lstStyle/>
        <a:p>
          <a:r>
            <a:rPr lang="en-US"/>
            <a:t>The Distinction in AI Program helps MD students to:</a:t>
          </a:r>
        </a:p>
      </dgm:t>
    </dgm:pt>
    <dgm:pt modelId="{6FF8A9E0-71F7-4262-962E-8D3F0AB1FEE5}" type="parTrans" cxnId="{47576185-6357-4B69-BA21-BF64022B2DC2}">
      <dgm:prSet/>
      <dgm:spPr/>
      <dgm:t>
        <a:bodyPr/>
        <a:lstStyle/>
        <a:p>
          <a:endParaRPr lang="en-US"/>
        </a:p>
      </dgm:t>
    </dgm:pt>
    <dgm:pt modelId="{11AD83F0-AB02-4D20-A961-37A95DBBDF16}" type="sibTrans" cxnId="{47576185-6357-4B69-BA21-BF64022B2DC2}">
      <dgm:prSet/>
      <dgm:spPr/>
      <dgm:t>
        <a:bodyPr/>
        <a:lstStyle/>
        <a:p>
          <a:endParaRPr lang="en-US"/>
        </a:p>
      </dgm:t>
    </dgm:pt>
    <dgm:pt modelId="{962E336A-C1EC-46E5-B852-1C61A29B5D41}">
      <dgm:prSet/>
      <dgm:spPr/>
      <dgm:t>
        <a:bodyPr/>
        <a:lstStyle/>
        <a:p>
          <a:r>
            <a:rPr lang="en-US"/>
            <a:t>Train in Machine Learning and Artificial Intelligence (ML/AI)</a:t>
          </a:r>
        </a:p>
      </dgm:t>
    </dgm:pt>
    <dgm:pt modelId="{5A8A3AC8-D40C-4A14-AEED-59E24EC6D571}" type="parTrans" cxnId="{E5B9ADE5-599D-435E-90FC-9BCAA73C1F01}">
      <dgm:prSet/>
      <dgm:spPr/>
      <dgm:t>
        <a:bodyPr/>
        <a:lstStyle/>
        <a:p>
          <a:endParaRPr lang="en-US"/>
        </a:p>
      </dgm:t>
    </dgm:pt>
    <dgm:pt modelId="{E5AF3435-B8E5-4928-BA38-30B8CA90F32E}" type="sibTrans" cxnId="{E5B9ADE5-599D-435E-90FC-9BCAA73C1F01}">
      <dgm:prSet/>
      <dgm:spPr/>
      <dgm:t>
        <a:bodyPr/>
        <a:lstStyle/>
        <a:p>
          <a:endParaRPr lang="en-US"/>
        </a:p>
      </dgm:t>
    </dgm:pt>
    <dgm:pt modelId="{B4A711D7-E117-44D3-ADD2-77FCF6F9F643}">
      <dgm:prSet/>
      <dgm:spPr/>
      <dgm:t>
        <a:bodyPr/>
        <a:lstStyle/>
        <a:p>
          <a:r>
            <a:rPr lang="en-US"/>
            <a:t>Learn ML/AI applications in healthcare</a:t>
          </a:r>
        </a:p>
      </dgm:t>
    </dgm:pt>
    <dgm:pt modelId="{DBF167CE-A79E-47B5-8955-7A35DD07BF75}" type="parTrans" cxnId="{5363EB97-189D-4D50-A2C1-CF1BA6A5721E}">
      <dgm:prSet/>
      <dgm:spPr/>
      <dgm:t>
        <a:bodyPr/>
        <a:lstStyle/>
        <a:p>
          <a:endParaRPr lang="en-US"/>
        </a:p>
      </dgm:t>
    </dgm:pt>
    <dgm:pt modelId="{2B53FC8B-D98D-4856-9C38-BFDC117238B0}" type="sibTrans" cxnId="{5363EB97-189D-4D50-A2C1-CF1BA6A5721E}">
      <dgm:prSet/>
      <dgm:spPr/>
      <dgm:t>
        <a:bodyPr/>
        <a:lstStyle/>
        <a:p>
          <a:endParaRPr lang="en-US"/>
        </a:p>
      </dgm:t>
    </dgm:pt>
    <dgm:pt modelId="{4923DEEB-10A4-48AB-95D0-A6289095FFD9}">
      <dgm:prSet/>
      <dgm:spPr/>
      <dgm:t>
        <a:bodyPr/>
        <a:lstStyle/>
        <a:p>
          <a:r>
            <a:rPr lang="en-US"/>
            <a:t>Engage with AI faculty</a:t>
          </a:r>
        </a:p>
      </dgm:t>
    </dgm:pt>
    <dgm:pt modelId="{7EF7BAD4-022B-4934-998E-7B01DFC12DE5}" type="parTrans" cxnId="{CAAC05DC-D3C6-4DFB-A62E-B5CACB1025E3}">
      <dgm:prSet/>
      <dgm:spPr/>
      <dgm:t>
        <a:bodyPr/>
        <a:lstStyle/>
        <a:p>
          <a:endParaRPr lang="en-US"/>
        </a:p>
      </dgm:t>
    </dgm:pt>
    <dgm:pt modelId="{9071FBBA-A75A-4193-BB46-CA8267427969}" type="sibTrans" cxnId="{CAAC05DC-D3C6-4DFB-A62E-B5CACB1025E3}">
      <dgm:prSet/>
      <dgm:spPr/>
      <dgm:t>
        <a:bodyPr/>
        <a:lstStyle/>
        <a:p>
          <a:endParaRPr lang="en-US"/>
        </a:p>
      </dgm:t>
    </dgm:pt>
    <dgm:pt modelId="{1BADA343-B72A-42CB-92A8-095933B70ECD}">
      <dgm:prSet/>
      <dgm:spPr/>
      <dgm:t>
        <a:bodyPr/>
        <a:lstStyle/>
        <a:p>
          <a:r>
            <a:rPr lang="en-US"/>
            <a:t>Demonstrate AI research skills</a:t>
          </a:r>
        </a:p>
      </dgm:t>
    </dgm:pt>
    <dgm:pt modelId="{2D69F740-15AA-4213-A15E-0B56A3A72B79}" type="parTrans" cxnId="{25E0159F-9B8A-4A63-9B00-02C3D9FCAD7F}">
      <dgm:prSet/>
      <dgm:spPr/>
      <dgm:t>
        <a:bodyPr/>
        <a:lstStyle/>
        <a:p>
          <a:endParaRPr lang="en-US"/>
        </a:p>
      </dgm:t>
    </dgm:pt>
    <dgm:pt modelId="{66DE545D-77FD-4E3A-80FB-FED3EB21E1E4}" type="sibTrans" cxnId="{25E0159F-9B8A-4A63-9B00-02C3D9FCAD7F}">
      <dgm:prSet/>
      <dgm:spPr/>
      <dgm:t>
        <a:bodyPr/>
        <a:lstStyle/>
        <a:p>
          <a:endParaRPr lang="en-US"/>
        </a:p>
      </dgm:t>
    </dgm:pt>
    <dgm:pt modelId="{53B0A686-50CD-0A47-B9C5-068CF962CB96}" type="pres">
      <dgm:prSet presAssocID="{794B4CF5-46E7-4E2C-A4D4-5C45645B82A3}" presName="linear" presStyleCnt="0">
        <dgm:presLayoutVars>
          <dgm:animLvl val="lvl"/>
          <dgm:resizeHandles val="exact"/>
        </dgm:presLayoutVars>
      </dgm:prSet>
      <dgm:spPr/>
    </dgm:pt>
    <dgm:pt modelId="{3527FA5E-63E8-5A42-A98D-7B15A8F6994F}" type="pres">
      <dgm:prSet presAssocID="{11DA878F-1582-4501-B59C-D5BF25EF35A3}" presName="parentText" presStyleLbl="node1" presStyleIdx="0" presStyleCnt="5">
        <dgm:presLayoutVars>
          <dgm:chMax val="0"/>
          <dgm:bulletEnabled val="1"/>
        </dgm:presLayoutVars>
      </dgm:prSet>
      <dgm:spPr/>
    </dgm:pt>
    <dgm:pt modelId="{23C746BF-4A5E-9A43-B549-2DB8BFFB6025}" type="pres">
      <dgm:prSet presAssocID="{11AD83F0-AB02-4D20-A961-37A95DBBDF16}" presName="spacer" presStyleCnt="0"/>
      <dgm:spPr/>
    </dgm:pt>
    <dgm:pt modelId="{7D980DD8-D259-DC4E-A613-4B8520295B9C}" type="pres">
      <dgm:prSet presAssocID="{962E336A-C1EC-46E5-B852-1C61A29B5D41}" presName="parentText" presStyleLbl="node1" presStyleIdx="1" presStyleCnt="5">
        <dgm:presLayoutVars>
          <dgm:chMax val="0"/>
          <dgm:bulletEnabled val="1"/>
        </dgm:presLayoutVars>
      </dgm:prSet>
      <dgm:spPr/>
    </dgm:pt>
    <dgm:pt modelId="{3437B22B-00B8-6540-8F75-17CD71EBB2B4}" type="pres">
      <dgm:prSet presAssocID="{E5AF3435-B8E5-4928-BA38-30B8CA90F32E}" presName="spacer" presStyleCnt="0"/>
      <dgm:spPr/>
    </dgm:pt>
    <dgm:pt modelId="{A91F32DD-E812-EC4E-A2EC-AC9C3BFC3D99}" type="pres">
      <dgm:prSet presAssocID="{B4A711D7-E117-44D3-ADD2-77FCF6F9F643}" presName="parentText" presStyleLbl="node1" presStyleIdx="2" presStyleCnt="5">
        <dgm:presLayoutVars>
          <dgm:chMax val="0"/>
          <dgm:bulletEnabled val="1"/>
        </dgm:presLayoutVars>
      </dgm:prSet>
      <dgm:spPr/>
    </dgm:pt>
    <dgm:pt modelId="{AA039C3B-DBFC-6649-B40F-D1756BD8F450}" type="pres">
      <dgm:prSet presAssocID="{2B53FC8B-D98D-4856-9C38-BFDC117238B0}" presName="spacer" presStyleCnt="0"/>
      <dgm:spPr/>
    </dgm:pt>
    <dgm:pt modelId="{AF777F69-EC94-014B-A86B-4A3BAED5C54C}" type="pres">
      <dgm:prSet presAssocID="{4923DEEB-10A4-48AB-95D0-A6289095FFD9}" presName="parentText" presStyleLbl="node1" presStyleIdx="3" presStyleCnt="5">
        <dgm:presLayoutVars>
          <dgm:chMax val="0"/>
          <dgm:bulletEnabled val="1"/>
        </dgm:presLayoutVars>
      </dgm:prSet>
      <dgm:spPr/>
    </dgm:pt>
    <dgm:pt modelId="{5315AAB0-9470-9F4B-9919-2ED7D3E50D6A}" type="pres">
      <dgm:prSet presAssocID="{9071FBBA-A75A-4193-BB46-CA8267427969}" presName="spacer" presStyleCnt="0"/>
      <dgm:spPr/>
    </dgm:pt>
    <dgm:pt modelId="{0E36395D-8CAF-FB43-AA9E-C9C8CB4EAEE2}" type="pres">
      <dgm:prSet presAssocID="{1BADA343-B72A-42CB-92A8-095933B70ECD}" presName="parentText" presStyleLbl="node1" presStyleIdx="4" presStyleCnt="5">
        <dgm:presLayoutVars>
          <dgm:chMax val="0"/>
          <dgm:bulletEnabled val="1"/>
        </dgm:presLayoutVars>
      </dgm:prSet>
      <dgm:spPr/>
    </dgm:pt>
  </dgm:ptLst>
  <dgm:cxnLst>
    <dgm:cxn modelId="{50085910-4A20-8747-BA32-7A0D99A00EEF}" type="presOf" srcId="{794B4CF5-46E7-4E2C-A4D4-5C45645B82A3}" destId="{53B0A686-50CD-0A47-B9C5-068CF962CB96}" srcOrd="0" destOrd="0" presId="urn:microsoft.com/office/officeart/2005/8/layout/vList2"/>
    <dgm:cxn modelId="{0C6B2020-4CF1-A340-9B34-D3D3E4130C80}" type="presOf" srcId="{11DA878F-1582-4501-B59C-D5BF25EF35A3}" destId="{3527FA5E-63E8-5A42-A98D-7B15A8F6994F}" srcOrd="0" destOrd="0" presId="urn:microsoft.com/office/officeart/2005/8/layout/vList2"/>
    <dgm:cxn modelId="{F2CDD73F-4ACB-F54D-9E53-829FEFCEDB8F}" type="presOf" srcId="{B4A711D7-E117-44D3-ADD2-77FCF6F9F643}" destId="{A91F32DD-E812-EC4E-A2EC-AC9C3BFC3D99}" srcOrd="0" destOrd="0" presId="urn:microsoft.com/office/officeart/2005/8/layout/vList2"/>
    <dgm:cxn modelId="{0A350950-474A-3541-98F6-0057FD64DCA9}" type="presOf" srcId="{962E336A-C1EC-46E5-B852-1C61A29B5D41}" destId="{7D980DD8-D259-DC4E-A613-4B8520295B9C}" srcOrd="0" destOrd="0" presId="urn:microsoft.com/office/officeart/2005/8/layout/vList2"/>
    <dgm:cxn modelId="{45EB2369-6007-3C4D-83BD-F7A08791A9D2}" type="presOf" srcId="{4923DEEB-10A4-48AB-95D0-A6289095FFD9}" destId="{AF777F69-EC94-014B-A86B-4A3BAED5C54C}" srcOrd="0" destOrd="0" presId="urn:microsoft.com/office/officeart/2005/8/layout/vList2"/>
    <dgm:cxn modelId="{47576185-6357-4B69-BA21-BF64022B2DC2}" srcId="{794B4CF5-46E7-4E2C-A4D4-5C45645B82A3}" destId="{11DA878F-1582-4501-B59C-D5BF25EF35A3}" srcOrd="0" destOrd="0" parTransId="{6FF8A9E0-71F7-4262-962E-8D3F0AB1FEE5}" sibTransId="{11AD83F0-AB02-4D20-A961-37A95DBBDF16}"/>
    <dgm:cxn modelId="{081BDA90-F080-954E-BA00-17D04989B4E4}" type="presOf" srcId="{1BADA343-B72A-42CB-92A8-095933B70ECD}" destId="{0E36395D-8CAF-FB43-AA9E-C9C8CB4EAEE2}" srcOrd="0" destOrd="0" presId="urn:microsoft.com/office/officeart/2005/8/layout/vList2"/>
    <dgm:cxn modelId="{5363EB97-189D-4D50-A2C1-CF1BA6A5721E}" srcId="{794B4CF5-46E7-4E2C-A4D4-5C45645B82A3}" destId="{B4A711D7-E117-44D3-ADD2-77FCF6F9F643}" srcOrd="2" destOrd="0" parTransId="{DBF167CE-A79E-47B5-8955-7A35DD07BF75}" sibTransId="{2B53FC8B-D98D-4856-9C38-BFDC117238B0}"/>
    <dgm:cxn modelId="{25E0159F-9B8A-4A63-9B00-02C3D9FCAD7F}" srcId="{794B4CF5-46E7-4E2C-A4D4-5C45645B82A3}" destId="{1BADA343-B72A-42CB-92A8-095933B70ECD}" srcOrd="4" destOrd="0" parTransId="{2D69F740-15AA-4213-A15E-0B56A3A72B79}" sibTransId="{66DE545D-77FD-4E3A-80FB-FED3EB21E1E4}"/>
    <dgm:cxn modelId="{CAAC05DC-D3C6-4DFB-A62E-B5CACB1025E3}" srcId="{794B4CF5-46E7-4E2C-A4D4-5C45645B82A3}" destId="{4923DEEB-10A4-48AB-95D0-A6289095FFD9}" srcOrd="3" destOrd="0" parTransId="{7EF7BAD4-022B-4934-998E-7B01DFC12DE5}" sibTransId="{9071FBBA-A75A-4193-BB46-CA8267427969}"/>
    <dgm:cxn modelId="{E5B9ADE5-599D-435E-90FC-9BCAA73C1F01}" srcId="{794B4CF5-46E7-4E2C-A4D4-5C45645B82A3}" destId="{962E336A-C1EC-46E5-B852-1C61A29B5D41}" srcOrd="1" destOrd="0" parTransId="{5A8A3AC8-D40C-4A14-AEED-59E24EC6D571}" sibTransId="{E5AF3435-B8E5-4928-BA38-30B8CA90F32E}"/>
    <dgm:cxn modelId="{0E2948BB-E70B-1942-9411-80B5DC64DBC8}" type="presParOf" srcId="{53B0A686-50CD-0A47-B9C5-068CF962CB96}" destId="{3527FA5E-63E8-5A42-A98D-7B15A8F6994F}" srcOrd="0" destOrd="0" presId="urn:microsoft.com/office/officeart/2005/8/layout/vList2"/>
    <dgm:cxn modelId="{BF13B916-E903-804C-B822-1779F7E79797}" type="presParOf" srcId="{53B0A686-50CD-0A47-B9C5-068CF962CB96}" destId="{23C746BF-4A5E-9A43-B549-2DB8BFFB6025}" srcOrd="1" destOrd="0" presId="urn:microsoft.com/office/officeart/2005/8/layout/vList2"/>
    <dgm:cxn modelId="{285505F6-F94B-714D-AB35-1544D8E0B921}" type="presParOf" srcId="{53B0A686-50CD-0A47-B9C5-068CF962CB96}" destId="{7D980DD8-D259-DC4E-A613-4B8520295B9C}" srcOrd="2" destOrd="0" presId="urn:microsoft.com/office/officeart/2005/8/layout/vList2"/>
    <dgm:cxn modelId="{FC699DA3-AD50-FA41-8F23-07FB72D8686C}" type="presParOf" srcId="{53B0A686-50CD-0A47-B9C5-068CF962CB96}" destId="{3437B22B-00B8-6540-8F75-17CD71EBB2B4}" srcOrd="3" destOrd="0" presId="urn:microsoft.com/office/officeart/2005/8/layout/vList2"/>
    <dgm:cxn modelId="{1F035C50-1100-D647-A3A9-3EF867E0658C}" type="presParOf" srcId="{53B0A686-50CD-0A47-B9C5-068CF962CB96}" destId="{A91F32DD-E812-EC4E-A2EC-AC9C3BFC3D99}" srcOrd="4" destOrd="0" presId="urn:microsoft.com/office/officeart/2005/8/layout/vList2"/>
    <dgm:cxn modelId="{37190374-F435-5C44-AC30-E6420575229F}" type="presParOf" srcId="{53B0A686-50CD-0A47-B9C5-068CF962CB96}" destId="{AA039C3B-DBFC-6649-B40F-D1756BD8F450}" srcOrd="5" destOrd="0" presId="urn:microsoft.com/office/officeart/2005/8/layout/vList2"/>
    <dgm:cxn modelId="{61277424-6E8B-EC46-9545-7063A0C4C56A}" type="presParOf" srcId="{53B0A686-50CD-0A47-B9C5-068CF962CB96}" destId="{AF777F69-EC94-014B-A86B-4A3BAED5C54C}" srcOrd="6" destOrd="0" presId="urn:microsoft.com/office/officeart/2005/8/layout/vList2"/>
    <dgm:cxn modelId="{1A46C5E1-B53F-2740-AEE4-DF53473828AA}" type="presParOf" srcId="{53B0A686-50CD-0A47-B9C5-068CF962CB96}" destId="{5315AAB0-9470-9F4B-9919-2ED7D3E50D6A}" srcOrd="7" destOrd="0" presId="urn:microsoft.com/office/officeart/2005/8/layout/vList2"/>
    <dgm:cxn modelId="{F4347CB4-D256-FE46-BEAE-18C9EA0FCC95}" type="presParOf" srcId="{53B0A686-50CD-0A47-B9C5-068CF962CB96}" destId="{0E36395D-8CAF-FB43-AA9E-C9C8CB4EAEE2}" srcOrd="8"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00272BF-3284-499C-8AED-98EB2024664A}" type="doc">
      <dgm:prSet loTypeId="urn:microsoft.com/office/officeart/2018/2/layout/IconVerticalSolidList" loCatId="icon" qsTypeId="urn:microsoft.com/office/officeart/2005/8/quickstyle/simple1#3" qsCatId="simple" csTypeId="urn:microsoft.com/office/officeart/2005/8/colors/accent1_2#1" csCatId="accent1" phldr="1"/>
      <dgm:spPr/>
      <dgm:t>
        <a:bodyPr/>
        <a:lstStyle/>
        <a:p>
          <a:endParaRPr lang="en-US"/>
        </a:p>
      </dgm:t>
    </dgm:pt>
    <dgm:pt modelId="{B08C02C5-27B6-40FE-8E32-571FC00FF9C7}">
      <dgm:prSet/>
      <dgm:spPr/>
      <dgm:t>
        <a:bodyPr/>
        <a:lstStyle/>
        <a:p>
          <a:pPr>
            <a:lnSpc>
              <a:spcPct val="100000"/>
            </a:lnSpc>
          </a:pPr>
          <a:r>
            <a:rPr lang="en-US" b="1" baseline="0" dirty="0"/>
            <a:t>Induced Pluripotent Stem Cells (iPSCs):</a:t>
          </a:r>
          <a:r>
            <a:rPr lang="en-US" baseline="0" dirty="0"/>
            <a:t> Somatic cells (like skin or blood) reprogrammed into stem cells. </a:t>
          </a:r>
          <a:endParaRPr lang="en-US" dirty="0"/>
        </a:p>
      </dgm:t>
    </dgm:pt>
    <dgm:pt modelId="{CEE4CE26-A495-4F76-8370-21D267E93B83}" type="parTrans" cxnId="{D9D902BE-C9F3-4D4D-82D4-4F1966E2D8B9}">
      <dgm:prSet/>
      <dgm:spPr/>
      <dgm:t>
        <a:bodyPr/>
        <a:lstStyle/>
        <a:p>
          <a:endParaRPr lang="en-US"/>
        </a:p>
      </dgm:t>
    </dgm:pt>
    <dgm:pt modelId="{48DD23C3-8CDB-47E2-B505-4E5FE0073E7F}" type="sibTrans" cxnId="{D9D902BE-C9F3-4D4D-82D4-4F1966E2D8B9}">
      <dgm:prSet/>
      <dgm:spPr/>
      <dgm:t>
        <a:bodyPr/>
        <a:lstStyle/>
        <a:p>
          <a:endParaRPr lang="en-US"/>
        </a:p>
      </dgm:t>
    </dgm:pt>
    <dgm:pt modelId="{A0E7D7B6-11E5-4FC6-8C6C-52F55CCB0D43}">
      <dgm:prSet/>
      <dgm:spPr/>
      <dgm:t>
        <a:bodyPr/>
        <a:lstStyle/>
        <a:p>
          <a:pPr>
            <a:lnSpc>
              <a:spcPct val="100000"/>
            </a:lnSpc>
          </a:pPr>
          <a:r>
            <a:rPr lang="en-US" b="1" baseline="0"/>
            <a:t>Organoids (3D Cultures):</a:t>
          </a:r>
          <a:r>
            <a:rPr lang="en-US" baseline="0"/>
            <a:t> iPSCs or primary cells are grown into complex, three-dimensional structures that mimic the architecture and function of actual organs (e.g., "mini-brains" or "mini-livers").</a:t>
          </a:r>
          <a:endParaRPr lang="en-US"/>
        </a:p>
      </dgm:t>
    </dgm:pt>
    <dgm:pt modelId="{9FEEDCDF-1BBF-4C0F-B33F-ABF40CA4930A}" type="parTrans" cxnId="{798FE517-0F32-4EF1-A259-42186644516D}">
      <dgm:prSet/>
      <dgm:spPr/>
      <dgm:t>
        <a:bodyPr/>
        <a:lstStyle/>
        <a:p>
          <a:endParaRPr lang="en-US"/>
        </a:p>
      </dgm:t>
    </dgm:pt>
    <dgm:pt modelId="{75073580-7CB6-4D46-9060-C2125EA13359}" type="sibTrans" cxnId="{798FE517-0F32-4EF1-A259-42186644516D}">
      <dgm:prSet/>
      <dgm:spPr/>
      <dgm:t>
        <a:bodyPr/>
        <a:lstStyle/>
        <a:p>
          <a:endParaRPr lang="en-US"/>
        </a:p>
      </dgm:t>
    </dgm:pt>
    <dgm:pt modelId="{74C544DF-0086-4CD2-891A-B137B172BD4C}">
      <dgm:prSet/>
      <dgm:spPr/>
      <dgm:t>
        <a:bodyPr/>
        <a:lstStyle/>
        <a:p>
          <a:pPr>
            <a:lnSpc>
              <a:spcPct val="100000"/>
            </a:lnSpc>
          </a:pPr>
          <a:r>
            <a:rPr lang="en-US" b="1" baseline="0"/>
            <a:t>Organ-on-a-Chip:</a:t>
          </a:r>
          <a:r>
            <a:rPr lang="en-US" baseline="0"/>
            <a:t> These microfluidic platforms integrate cellular models with mechanical forces (like blood flow or breathing) to simulate the physiological environment.</a:t>
          </a:r>
          <a:endParaRPr lang="en-US"/>
        </a:p>
      </dgm:t>
    </dgm:pt>
    <dgm:pt modelId="{B94CFEDA-181F-4E2D-A395-7103B67FF83C}" type="parTrans" cxnId="{3DC3E4B4-706D-47A5-9528-4906CA3F88BC}">
      <dgm:prSet/>
      <dgm:spPr/>
      <dgm:t>
        <a:bodyPr/>
        <a:lstStyle/>
        <a:p>
          <a:endParaRPr lang="en-US"/>
        </a:p>
      </dgm:t>
    </dgm:pt>
    <dgm:pt modelId="{5D556D0F-89B5-43CA-B052-092BB398B5F4}" type="sibTrans" cxnId="{3DC3E4B4-706D-47A5-9528-4906CA3F88BC}">
      <dgm:prSet/>
      <dgm:spPr/>
      <dgm:t>
        <a:bodyPr/>
        <a:lstStyle/>
        <a:p>
          <a:endParaRPr lang="en-US"/>
        </a:p>
      </dgm:t>
    </dgm:pt>
    <dgm:pt modelId="{7D9C5569-4D1C-4AE6-8D2D-A77DCE57E046}">
      <dgm:prSet/>
      <dgm:spPr/>
      <dgm:t>
        <a:bodyPr/>
        <a:lstStyle/>
        <a:p>
          <a:pPr>
            <a:lnSpc>
              <a:spcPct val="100000"/>
            </a:lnSpc>
          </a:pPr>
          <a:r>
            <a:rPr lang="en-US" b="1" baseline="0" dirty="0"/>
            <a:t>"Cell Villages":</a:t>
          </a:r>
          <a:r>
            <a:rPr lang="en-US" baseline="0" dirty="0"/>
            <a:t> Emerging techniques use pooled cell lines from diverse individuals to conduct large-scale "clinical” trials to study different genetic backgrounds. </a:t>
          </a:r>
          <a:endParaRPr lang="en-US" dirty="0"/>
        </a:p>
      </dgm:t>
    </dgm:pt>
    <dgm:pt modelId="{1C807F10-E37D-4FEC-AFFD-3D89E37E807B}" type="parTrans" cxnId="{3A0336B5-E4A3-477C-BF09-0E1482CEEE7B}">
      <dgm:prSet/>
      <dgm:spPr/>
      <dgm:t>
        <a:bodyPr/>
        <a:lstStyle/>
        <a:p>
          <a:endParaRPr lang="en-US"/>
        </a:p>
      </dgm:t>
    </dgm:pt>
    <dgm:pt modelId="{886D2231-D58E-4370-98E9-07ED71EB027C}" type="sibTrans" cxnId="{3A0336B5-E4A3-477C-BF09-0E1482CEEE7B}">
      <dgm:prSet/>
      <dgm:spPr/>
      <dgm:t>
        <a:bodyPr/>
        <a:lstStyle/>
        <a:p>
          <a:endParaRPr lang="en-US"/>
        </a:p>
      </dgm:t>
    </dgm:pt>
    <dgm:pt modelId="{EF33289A-3AFA-4ABA-899E-B14B3A730877}">
      <dgm:prSet/>
      <dgm:spPr/>
      <dgm:t>
        <a:bodyPr/>
        <a:lstStyle/>
        <a:p>
          <a:pPr>
            <a:lnSpc>
              <a:spcPct val="100000"/>
            </a:lnSpc>
          </a:pPr>
          <a:r>
            <a:rPr lang="en-US" b="1" baseline="0" dirty="0"/>
            <a:t>Precision-cut organ slices:</a:t>
          </a:r>
          <a:r>
            <a:rPr lang="en-US" baseline="0" dirty="0"/>
            <a:t> This technique retains more of the complexities of real-world tissues and may guide the transition from cellular systems to full-scale animal models. </a:t>
          </a:r>
          <a:endParaRPr lang="en-US" dirty="0"/>
        </a:p>
      </dgm:t>
    </dgm:pt>
    <dgm:pt modelId="{9B79A87C-B93E-457D-9C28-4DE6622A9B61}" type="parTrans" cxnId="{980BD841-C5A0-4715-9629-311EC8568422}">
      <dgm:prSet/>
      <dgm:spPr/>
      <dgm:t>
        <a:bodyPr/>
        <a:lstStyle/>
        <a:p>
          <a:endParaRPr lang="en-US"/>
        </a:p>
      </dgm:t>
    </dgm:pt>
    <dgm:pt modelId="{5E72362F-B834-44B9-A6F6-3D296E670267}" type="sibTrans" cxnId="{980BD841-C5A0-4715-9629-311EC8568422}">
      <dgm:prSet/>
      <dgm:spPr/>
      <dgm:t>
        <a:bodyPr/>
        <a:lstStyle/>
        <a:p>
          <a:endParaRPr lang="en-US"/>
        </a:p>
      </dgm:t>
    </dgm:pt>
    <dgm:pt modelId="{F25C33E7-B861-4C26-9F0E-504E56CB8C52}" type="pres">
      <dgm:prSet presAssocID="{800272BF-3284-499C-8AED-98EB2024664A}" presName="root" presStyleCnt="0">
        <dgm:presLayoutVars>
          <dgm:dir/>
          <dgm:resizeHandles val="exact"/>
        </dgm:presLayoutVars>
      </dgm:prSet>
      <dgm:spPr/>
    </dgm:pt>
    <dgm:pt modelId="{402528A0-8A22-4A96-8A12-055D5E0CC1EB}" type="pres">
      <dgm:prSet presAssocID="{B08C02C5-27B6-40FE-8E32-571FC00FF9C7}" presName="compNode" presStyleCnt="0"/>
      <dgm:spPr/>
    </dgm:pt>
    <dgm:pt modelId="{58AF8C76-6C98-4B7E-8D36-D01B13FF5300}" type="pres">
      <dgm:prSet presAssocID="{B08C02C5-27B6-40FE-8E32-571FC00FF9C7}" presName="bgRect" presStyleLbl="bgShp" presStyleIdx="0" presStyleCnt="5"/>
      <dgm:spPr/>
    </dgm:pt>
    <dgm:pt modelId="{E8ED9139-58AB-414F-AF38-8940F26B6ECD}" type="pres">
      <dgm:prSet presAssocID="{B08C02C5-27B6-40FE-8E32-571FC00FF9C7}"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DNA"/>
        </a:ext>
      </dgm:extLst>
    </dgm:pt>
    <dgm:pt modelId="{2C42A073-2B7E-4AA4-860B-D24D5F2E34D7}" type="pres">
      <dgm:prSet presAssocID="{B08C02C5-27B6-40FE-8E32-571FC00FF9C7}" presName="spaceRect" presStyleCnt="0"/>
      <dgm:spPr/>
    </dgm:pt>
    <dgm:pt modelId="{A85AF76F-83A5-4D24-9697-6C8852B8F555}" type="pres">
      <dgm:prSet presAssocID="{B08C02C5-27B6-40FE-8E32-571FC00FF9C7}" presName="parTx" presStyleLbl="revTx" presStyleIdx="0" presStyleCnt="5">
        <dgm:presLayoutVars>
          <dgm:chMax val="0"/>
          <dgm:chPref val="0"/>
        </dgm:presLayoutVars>
      </dgm:prSet>
      <dgm:spPr/>
    </dgm:pt>
    <dgm:pt modelId="{EA11BEF2-3689-451A-9FF5-EFE31A4E8BED}" type="pres">
      <dgm:prSet presAssocID="{48DD23C3-8CDB-47E2-B505-4E5FE0073E7F}" presName="sibTrans" presStyleCnt="0"/>
      <dgm:spPr/>
    </dgm:pt>
    <dgm:pt modelId="{EBE5B8BC-E462-4139-8382-51D5405C2211}" type="pres">
      <dgm:prSet presAssocID="{A0E7D7B6-11E5-4FC6-8C6C-52F55CCB0D43}" presName="compNode" presStyleCnt="0"/>
      <dgm:spPr/>
    </dgm:pt>
    <dgm:pt modelId="{5E787179-9BFF-4B74-9B05-405B466F3CD8}" type="pres">
      <dgm:prSet presAssocID="{A0E7D7B6-11E5-4FC6-8C6C-52F55CCB0D43}" presName="bgRect" presStyleLbl="bgShp" presStyleIdx="1" presStyleCnt="5"/>
      <dgm:spPr/>
    </dgm:pt>
    <dgm:pt modelId="{E39BBB4D-AB61-4491-8E67-30910AFE5AF2}" type="pres">
      <dgm:prSet presAssocID="{A0E7D7B6-11E5-4FC6-8C6C-52F55CCB0D43}"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lowchart"/>
        </a:ext>
      </dgm:extLst>
    </dgm:pt>
    <dgm:pt modelId="{C8FC358A-4D07-4347-8A35-6C4662CD3CC8}" type="pres">
      <dgm:prSet presAssocID="{A0E7D7B6-11E5-4FC6-8C6C-52F55CCB0D43}" presName="spaceRect" presStyleCnt="0"/>
      <dgm:spPr/>
    </dgm:pt>
    <dgm:pt modelId="{D8080360-820B-4DFD-A59A-0C29A958A03B}" type="pres">
      <dgm:prSet presAssocID="{A0E7D7B6-11E5-4FC6-8C6C-52F55CCB0D43}" presName="parTx" presStyleLbl="revTx" presStyleIdx="1" presStyleCnt="5">
        <dgm:presLayoutVars>
          <dgm:chMax val="0"/>
          <dgm:chPref val="0"/>
        </dgm:presLayoutVars>
      </dgm:prSet>
      <dgm:spPr/>
    </dgm:pt>
    <dgm:pt modelId="{9851A712-38DF-4324-94E3-AE2A39936376}" type="pres">
      <dgm:prSet presAssocID="{75073580-7CB6-4D46-9060-C2125EA13359}" presName="sibTrans" presStyleCnt="0"/>
      <dgm:spPr/>
    </dgm:pt>
    <dgm:pt modelId="{02A52EF1-19E1-4CDA-8B45-6B491AFAD98E}" type="pres">
      <dgm:prSet presAssocID="{74C544DF-0086-4CD2-891A-B137B172BD4C}" presName="compNode" presStyleCnt="0"/>
      <dgm:spPr/>
    </dgm:pt>
    <dgm:pt modelId="{E0392940-1E4C-48D6-B4A3-37A5C263F7F9}" type="pres">
      <dgm:prSet presAssocID="{74C544DF-0086-4CD2-891A-B137B172BD4C}" presName="bgRect" presStyleLbl="bgShp" presStyleIdx="2" presStyleCnt="5"/>
      <dgm:spPr/>
    </dgm:pt>
    <dgm:pt modelId="{6499C505-30B7-40E3-9850-90EBB1C31F07}" type="pres">
      <dgm:prSet presAssocID="{74C544DF-0086-4CD2-891A-B137B172BD4C}"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Processor"/>
        </a:ext>
      </dgm:extLst>
    </dgm:pt>
    <dgm:pt modelId="{3A370CB0-0FD8-4D54-BDB5-1777EAB944F9}" type="pres">
      <dgm:prSet presAssocID="{74C544DF-0086-4CD2-891A-B137B172BD4C}" presName="spaceRect" presStyleCnt="0"/>
      <dgm:spPr/>
    </dgm:pt>
    <dgm:pt modelId="{60ADA7E5-1920-47C0-AAD3-35E2706A3EAE}" type="pres">
      <dgm:prSet presAssocID="{74C544DF-0086-4CD2-891A-B137B172BD4C}" presName="parTx" presStyleLbl="revTx" presStyleIdx="2" presStyleCnt="5">
        <dgm:presLayoutVars>
          <dgm:chMax val="0"/>
          <dgm:chPref val="0"/>
        </dgm:presLayoutVars>
      </dgm:prSet>
      <dgm:spPr/>
    </dgm:pt>
    <dgm:pt modelId="{C1FC2D87-DBB3-4436-895A-A63172AA3540}" type="pres">
      <dgm:prSet presAssocID="{5D556D0F-89B5-43CA-B052-092BB398B5F4}" presName="sibTrans" presStyleCnt="0"/>
      <dgm:spPr/>
    </dgm:pt>
    <dgm:pt modelId="{6F5FA272-1FC6-4BA3-B6DB-1C79FDE15A15}" type="pres">
      <dgm:prSet presAssocID="{7D9C5569-4D1C-4AE6-8D2D-A77DCE57E046}" presName="compNode" presStyleCnt="0"/>
      <dgm:spPr/>
    </dgm:pt>
    <dgm:pt modelId="{2714F06D-1C61-4D16-AC17-E7321C8997B5}" type="pres">
      <dgm:prSet presAssocID="{7D9C5569-4D1C-4AE6-8D2D-A77DCE57E046}" presName="bgRect" presStyleLbl="bgShp" presStyleIdx="3" presStyleCnt="5"/>
      <dgm:spPr/>
    </dgm:pt>
    <dgm:pt modelId="{6F68175C-5A96-4F46-98AF-3E6ED31F0CE5}" type="pres">
      <dgm:prSet presAssocID="{7D9C5569-4D1C-4AE6-8D2D-A77DCE57E046}"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ranching Diagram"/>
        </a:ext>
      </dgm:extLst>
    </dgm:pt>
    <dgm:pt modelId="{479B7761-2F11-4C68-A307-D874B329EB7B}" type="pres">
      <dgm:prSet presAssocID="{7D9C5569-4D1C-4AE6-8D2D-A77DCE57E046}" presName="spaceRect" presStyleCnt="0"/>
      <dgm:spPr/>
    </dgm:pt>
    <dgm:pt modelId="{18AC3C82-2F6D-44FB-A6B6-5C78FE438BB3}" type="pres">
      <dgm:prSet presAssocID="{7D9C5569-4D1C-4AE6-8D2D-A77DCE57E046}" presName="parTx" presStyleLbl="revTx" presStyleIdx="3" presStyleCnt="5">
        <dgm:presLayoutVars>
          <dgm:chMax val="0"/>
          <dgm:chPref val="0"/>
        </dgm:presLayoutVars>
      </dgm:prSet>
      <dgm:spPr/>
    </dgm:pt>
    <dgm:pt modelId="{23CBD5BC-85AB-4529-B3E8-ABD050EC1236}" type="pres">
      <dgm:prSet presAssocID="{886D2231-D58E-4370-98E9-07ED71EB027C}" presName="sibTrans" presStyleCnt="0"/>
      <dgm:spPr/>
    </dgm:pt>
    <dgm:pt modelId="{E85692F5-AB32-46FD-A285-10119F911E08}" type="pres">
      <dgm:prSet presAssocID="{EF33289A-3AFA-4ABA-899E-B14B3A730877}" presName="compNode" presStyleCnt="0"/>
      <dgm:spPr/>
    </dgm:pt>
    <dgm:pt modelId="{556C46C1-5BA3-4DFB-B486-BE94DB38FA8E}" type="pres">
      <dgm:prSet presAssocID="{EF33289A-3AFA-4ABA-899E-B14B3A730877}" presName="bgRect" presStyleLbl="bgShp" presStyleIdx="4" presStyleCnt="5"/>
      <dgm:spPr/>
    </dgm:pt>
    <dgm:pt modelId="{96433DCA-5499-4EBA-ACF7-46FD3292C56E}" type="pres">
      <dgm:prSet presAssocID="{EF33289A-3AFA-4ABA-899E-B14B3A730877}"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Stomach"/>
        </a:ext>
      </dgm:extLst>
    </dgm:pt>
    <dgm:pt modelId="{9706840F-8528-4644-B925-6504D70780D9}" type="pres">
      <dgm:prSet presAssocID="{EF33289A-3AFA-4ABA-899E-B14B3A730877}" presName="spaceRect" presStyleCnt="0"/>
      <dgm:spPr/>
    </dgm:pt>
    <dgm:pt modelId="{B72CA843-9FDD-4D5B-A694-2917EE21C114}" type="pres">
      <dgm:prSet presAssocID="{EF33289A-3AFA-4ABA-899E-B14B3A730877}" presName="parTx" presStyleLbl="revTx" presStyleIdx="4" presStyleCnt="5">
        <dgm:presLayoutVars>
          <dgm:chMax val="0"/>
          <dgm:chPref val="0"/>
        </dgm:presLayoutVars>
      </dgm:prSet>
      <dgm:spPr/>
    </dgm:pt>
  </dgm:ptLst>
  <dgm:cxnLst>
    <dgm:cxn modelId="{8DD93E17-9928-42B0-99BC-ACA4E74D3283}" type="presOf" srcId="{A0E7D7B6-11E5-4FC6-8C6C-52F55CCB0D43}" destId="{D8080360-820B-4DFD-A59A-0C29A958A03B}" srcOrd="0" destOrd="0" presId="urn:microsoft.com/office/officeart/2018/2/layout/IconVerticalSolidList"/>
    <dgm:cxn modelId="{798FE517-0F32-4EF1-A259-42186644516D}" srcId="{800272BF-3284-499C-8AED-98EB2024664A}" destId="{A0E7D7B6-11E5-4FC6-8C6C-52F55CCB0D43}" srcOrd="1" destOrd="0" parTransId="{9FEEDCDF-1BBF-4C0F-B33F-ABF40CA4930A}" sibTransId="{75073580-7CB6-4D46-9060-C2125EA13359}"/>
    <dgm:cxn modelId="{980BD841-C5A0-4715-9629-311EC8568422}" srcId="{800272BF-3284-499C-8AED-98EB2024664A}" destId="{EF33289A-3AFA-4ABA-899E-B14B3A730877}" srcOrd="4" destOrd="0" parTransId="{9B79A87C-B93E-457D-9C28-4DE6622A9B61}" sibTransId="{5E72362F-B834-44B9-A6F6-3D296E670267}"/>
    <dgm:cxn modelId="{20005559-0EF5-4AC2-A091-5FF903D66D41}" type="presOf" srcId="{800272BF-3284-499C-8AED-98EB2024664A}" destId="{F25C33E7-B861-4C26-9F0E-504E56CB8C52}" srcOrd="0" destOrd="0" presId="urn:microsoft.com/office/officeart/2018/2/layout/IconVerticalSolidList"/>
    <dgm:cxn modelId="{38CEF896-BB06-4415-BF5E-9C77020E44AE}" type="presOf" srcId="{7D9C5569-4D1C-4AE6-8D2D-A77DCE57E046}" destId="{18AC3C82-2F6D-44FB-A6B6-5C78FE438BB3}" srcOrd="0" destOrd="0" presId="urn:microsoft.com/office/officeart/2018/2/layout/IconVerticalSolidList"/>
    <dgm:cxn modelId="{2CF3CF98-5976-40CE-B4EF-F21165C4C7FA}" type="presOf" srcId="{EF33289A-3AFA-4ABA-899E-B14B3A730877}" destId="{B72CA843-9FDD-4D5B-A694-2917EE21C114}" srcOrd="0" destOrd="0" presId="urn:microsoft.com/office/officeart/2018/2/layout/IconVerticalSolidList"/>
    <dgm:cxn modelId="{3DC3E4B4-706D-47A5-9528-4906CA3F88BC}" srcId="{800272BF-3284-499C-8AED-98EB2024664A}" destId="{74C544DF-0086-4CD2-891A-B137B172BD4C}" srcOrd="2" destOrd="0" parTransId="{B94CFEDA-181F-4E2D-A395-7103B67FF83C}" sibTransId="{5D556D0F-89B5-43CA-B052-092BB398B5F4}"/>
    <dgm:cxn modelId="{3A0336B5-E4A3-477C-BF09-0E1482CEEE7B}" srcId="{800272BF-3284-499C-8AED-98EB2024664A}" destId="{7D9C5569-4D1C-4AE6-8D2D-A77DCE57E046}" srcOrd="3" destOrd="0" parTransId="{1C807F10-E37D-4FEC-AFFD-3D89E37E807B}" sibTransId="{886D2231-D58E-4370-98E9-07ED71EB027C}"/>
    <dgm:cxn modelId="{D9D902BE-C9F3-4D4D-82D4-4F1966E2D8B9}" srcId="{800272BF-3284-499C-8AED-98EB2024664A}" destId="{B08C02C5-27B6-40FE-8E32-571FC00FF9C7}" srcOrd="0" destOrd="0" parTransId="{CEE4CE26-A495-4F76-8370-21D267E93B83}" sibTransId="{48DD23C3-8CDB-47E2-B505-4E5FE0073E7F}"/>
    <dgm:cxn modelId="{52F318D3-B83A-4D3A-B08B-B57CC26CED4C}" type="presOf" srcId="{B08C02C5-27B6-40FE-8E32-571FC00FF9C7}" destId="{A85AF76F-83A5-4D24-9697-6C8852B8F555}" srcOrd="0" destOrd="0" presId="urn:microsoft.com/office/officeart/2018/2/layout/IconVerticalSolidList"/>
    <dgm:cxn modelId="{8CB94FEB-68CA-4447-9D29-ABA6D457C58B}" type="presOf" srcId="{74C544DF-0086-4CD2-891A-B137B172BD4C}" destId="{60ADA7E5-1920-47C0-AAD3-35E2706A3EAE}" srcOrd="0" destOrd="0" presId="urn:microsoft.com/office/officeart/2018/2/layout/IconVerticalSolidList"/>
    <dgm:cxn modelId="{41CA315C-9381-40C8-B946-2E73C55923AD}" type="presParOf" srcId="{F25C33E7-B861-4C26-9F0E-504E56CB8C52}" destId="{402528A0-8A22-4A96-8A12-055D5E0CC1EB}" srcOrd="0" destOrd="0" presId="urn:microsoft.com/office/officeart/2018/2/layout/IconVerticalSolidList"/>
    <dgm:cxn modelId="{1A18A941-6636-44D6-844C-3B07E6F0BE11}" type="presParOf" srcId="{402528A0-8A22-4A96-8A12-055D5E0CC1EB}" destId="{58AF8C76-6C98-4B7E-8D36-D01B13FF5300}" srcOrd="0" destOrd="0" presId="urn:microsoft.com/office/officeart/2018/2/layout/IconVerticalSolidList"/>
    <dgm:cxn modelId="{84A4270E-FCBE-4216-ADCA-023847FBB980}" type="presParOf" srcId="{402528A0-8A22-4A96-8A12-055D5E0CC1EB}" destId="{E8ED9139-58AB-414F-AF38-8940F26B6ECD}" srcOrd="1" destOrd="0" presId="urn:microsoft.com/office/officeart/2018/2/layout/IconVerticalSolidList"/>
    <dgm:cxn modelId="{F665904B-CC13-43E8-ADA7-0C9E3139CD17}" type="presParOf" srcId="{402528A0-8A22-4A96-8A12-055D5E0CC1EB}" destId="{2C42A073-2B7E-4AA4-860B-D24D5F2E34D7}" srcOrd="2" destOrd="0" presId="urn:microsoft.com/office/officeart/2018/2/layout/IconVerticalSolidList"/>
    <dgm:cxn modelId="{5613BF39-524C-4B0C-B782-0B3D78B59485}" type="presParOf" srcId="{402528A0-8A22-4A96-8A12-055D5E0CC1EB}" destId="{A85AF76F-83A5-4D24-9697-6C8852B8F555}" srcOrd="3" destOrd="0" presId="urn:microsoft.com/office/officeart/2018/2/layout/IconVerticalSolidList"/>
    <dgm:cxn modelId="{DC752391-892D-4816-A7D6-2D73E6E3908A}" type="presParOf" srcId="{F25C33E7-B861-4C26-9F0E-504E56CB8C52}" destId="{EA11BEF2-3689-451A-9FF5-EFE31A4E8BED}" srcOrd="1" destOrd="0" presId="urn:microsoft.com/office/officeart/2018/2/layout/IconVerticalSolidList"/>
    <dgm:cxn modelId="{393D8168-68D3-465C-A909-6CD07B6DC79A}" type="presParOf" srcId="{F25C33E7-B861-4C26-9F0E-504E56CB8C52}" destId="{EBE5B8BC-E462-4139-8382-51D5405C2211}" srcOrd="2" destOrd="0" presId="urn:microsoft.com/office/officeart/2018/2/layout/IconVerticalSolidList"/>
    <dgm:cxn modelId="{BA1B2606-9153-44E4-8873-AC9C4E3A6A6B}" type="presParOf" srcId="{EBE5B8BC-E462-4139-8382-51D5405C2211}" destId="{5E787179-9BFF-4B74-9B05-405B466F3CD8}" srcOrd="0" destOrd="0" presId="urn:microsoft.com/office/officeart/2018/2/layout/IconVerticalSolidList"/>
    <dgm:cxn modelId="{45F75F41-7BB8-4FFB-BB7C-76A62C34B421}" type="presParOf" srcId="{EBE5B8BC-E462-4139-8382-51D5405C2211}" destId="{E39BBB4D-AB61-4491-8E67-30910AFE5AF2}" srcOrd="1" destOrd="0" presId="urn:microsoft.com/office/officeart/2018/2/layout/IconVerticalSolidList"/>
    <dgm:cxn modelId="{1452AAC1-414A-4843-B189-00E195C7F0AB}" type="presParOf" srcId="{EBE5B8BC-E462-4139-8382-51D5405C2211}" destId="{C8FC358A-4D07-4347-8A35-6C4662CD3CC8}" srcOrd="2" destOrd="0" presId="urn:microsoft.com/office/officeart/2018/2/layout/IconVerticalSolidList"/>
    <dgm:cxn modelId="{9D02534A-59CF-4983-95F7-6E860B7A4028}" type="presParOf" srcId="{EBE5B8BC-E462-4139-8382-51D5405C2211}" destId="{D8080360-820B-4DFD-A59A-0C29A958A03B}" srcOrd="3" destOrd="0" presId="urn:microsoft.com/office/officeart/2018/2/layout/IconVerticalSolidList"/>
    <dgm:cxn modelId="{D2AB4966-68DC-4D58-A3DE-114F2166AC04}" type="presParOf" srcId="{F25C33E7-B861-4C26-9F0E-504E56CB8C52}" destId="{9851A712-38DF-4324-94E3-AE2A39936376}" srcOrd="3" destOrd="0" presId="urn:microsoft.com/office/officeart/2018/2/layout/IconVerticalSolidList"/>
    <dgm:cxn modelId="{94A7F118-1B44-4FEC-AE12-411FB79A5DF9}" type="presParOf" srcId="{F25C33E7-B861-4C26-9F0E-504E56CB8C52}" destId="{02A52EF1-19E1-4CDA-8B45-6B491AFAD98E}" srcOrd="4" destOrd="0" presId="urn:microsoft.com/office/officeart/2018/2/layout/IconVerticalSolidList"/>
    <dgm:cxn modelId="{E1270DEF-2DEA-46F6-B45E-295D106A9E22}" type="presParOf" srcId="{02A52EF1-19E1-4CDA-8B45-6B491AFAD98E}" destId="{E0392940-1E4C-48D6-B4A3-37A5C263F7F9}" srcOrd="0" destOrd="0" presId="urn:microsoft.com/office/officeart/2018/2/layout/IconVerticalSolidList"/>
    <dgm:cxn modelId="{30AC341B-1686-416C-8E7B-A3AAD1B5DC40}" type="presParOf" srcId="{02A52EF1-19E1-4CDA-8B45-6B491AFAD98E}" destId="{6499C505-30B7-40E3-9850-90EBB1C31F07}" srcOrd="1" destOrd="0" presId="urn:microsoft.com/office/officeart/2018/2/layout/IconVerticalSolidList"/>
    <dgm:cxn modelId="{DD5C23C6-4203-4AF0-916E-396E5EA9D938}" type="presParOf" srcId="{02A52EF1-19E1-4CDA-8B45-6B491AFAD98E}" destId="{3A370CB0-0FD8-4D54-BDB5-1777EAB944F9}" srcOrd="2" destOrd="0" presId="urn:microsoft.com/office/officeart/2018/2/layout/IconVerticalSolidList"/>
    <dgm:cxn modelId="{B336781D-66C4-4282-A072-D25302BD2C00}" type="presParOf" srcId="{02A52EF1-19E1-4CDA-8B45-6B491AFAD98E}" destId="{60ADA7E5-1920-47C0-AAD3-35E2706A3EAE}" srcOrd="3" destOrd="0" presId="urn:microsoft.com/office/officeart/2018/2/layout/IconVerticalSolidList"/>
    <dgm:cxn modelId="{016AA3F8-DBB8-4A65-B370-8CE060C35666}" type="presParOf" srcId="{F25C33E7-B861-4C26-9F0E-504E56CB8C52}" destId="{C1FC2D87-DBB3-4436-895A-A63172AA3540}" srcOrd="5" destOrd="0" presId="urn:microsoft.com/office/officeart/2018/2/layout/IconVerticalSolidList"/>
    <dgm:cxn modelId="{A7EB43EF-8F46-4A26-8240-18EAA22A3C21}" type="presParOf" srcId="{F25C33E7-B861-4C26-9F0E-504E56CB8C52}" destId="{6F5FA272-1FC6-4BA3-B6DB-1C79FDE15A15}" srcOrd="6" destOrd="0" presId="urn:microsoft.com/office/officeart/2018/2/layout/IconVerticalSolidList"/>
    <dgm:cxn modelId="{5E38E73A-7E2F-44BD-B071-FF099DB06655}" type="presParOf" srcId="{6F5FA272-1FC6-4BA3-B6DB-1C79FDE15A15}" destId="{2714F06D-1C61-4D16-AC17-E7321C8997B5}" srcOrd="0" destOrd="0" presId="urn:microsoft.com/office/officeart/2018/2/layout/IconVerticalSolidList"/>
    <dgm:cxn modelId="{03498C24-1430-4C67-A406-A657C6958F51}" type="presParOf" srcId="{6F5FA272-1FC6-4BA3-B6DB-1C79FDE15A15}" destId="{6F68175C-5A96-4F46-98AF-3E6ED31F0CE5}" srcOrd="1" destOrd="0" presId="urn:microsoft.com/office/officeart/2018/2/layout/IconVerticalSolidList"/>
    <dgm:cxn modelId="{29ED5293-1590-4002-B37F-9F0CC6E1C51B}" type="presParOf" srcId="{6F5FA272-1FC6-4BA3-B6DB-1C79FDE15A15}" destId="{479B7761-2F11-4C68-A307-D874B329EB7B}" srcOrd="2" destOrd="0" presId="urn:microsoft.com/office/officeart/2018/2/layout/IconVerticalSolidList"/>
    <dgm:cxn modelId="{D41A27DE-DBB4-4488-ACF1-C320E0C75D5B}" type="presParOf" srcId="{6F5FA272-1FC6-4BA3-B6DB-1C79FDE15A15}" destId="{18AC3C82-2F6D-44FB-A6B6-5C78FE438BB3}" srcOrd="3" destOrd="0" presId="urn:microsoft.com/office/officeart/2018/2/layout/IconVerticalSolidList"/>
    <dgm:cxn modelId="{FAD99D1F-14B5-410E-B6AC-A80534AC049C}" type="presParOf" srcId="{F25C33E7-B861-4C26-9F0E-504E56CB8C52}" destId="{23CBD5BC-85AB-4529-B3E8-ABD050EC1236}" srcOrd="7" destOrd="0" presId="urn:microsoft.com/office/officeart/2018/2/layout/IconVerticalSolidList"/>
    <dgm:cxn modelId="{9D9F9D35-0A86-4A4F-9190-C9039F787C72}" type="presParOf" srcId="{F25C33E7-B861-4C26-9F0E-504E56CB8C52}" destId="{E85692F5-AB32-46FD-A285-10119F911E08}" srcOrd="8" destOrd="0" presId="urn:microsoft.com/office/officeart/2018/2/layout/IconVerticalSolidList"/>
    <dgm:cxn modelId="{9658C6DD-58C5-495B-BA85-8C3CF5CB0B33}" type="presParOf" srcId="{E85692F5-AB32-46FD-A285-10119F911E08}" destId="{556C46C1-5BA3-4DFB-B486-BE94DB38FA8E}" srcOrd="0" destOrd="0" presId="urn:microsoft.com/office/officeart/2018/2/layout/IconVerticalSolidList"/>
    <dgm:cxn modelId="{C6453ABD-E601-4CD2-A0D4-7160C7C7F4B1}" type="presParOf" srcId="{E85692F5-AB32-46FD-A285-10119F911E08}" destId="{96433DCA-5499-4EBA-ACF7-46FD3292C56E}" srcOrd="1" destOrd="0" presId="urn:microsoft.com/office/officeart/2018/2/layout/IconVerticalSolidList"/>
    <dgm:cxn modelId="{4C3E8F50-616E-4A78-9C36-A39FBCD721E7}" type="presParOf" srcId="{E85692F5-AB32-46FD-A285-10119F911E08}" destId="{9706840F-8528-4644-B925-6504D70780D9}" srcOrd="2" destOrd="0" presId="urn:microsoft.com/office/officeart/2018/2/layout/IconVerticalSolidList"/>
    <dgm:cxn modelId="{78F9E958-3C75-4282-997E-C2F45F79F254}" type="presParOf" srcId="{E85692F5-AB32-46FD-A285-10119F911E08}" destId="{B72CA843-9FDD-4D5B-A694-2917EE21C11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EDDA6ED-FA8D-48A9-9878-C4624B82F3D3}" type="doc">
      <dgm:prSet loTypeId="urn:microsoft.com/office/officeart/2005/8/layout/default" loCatId="list" qsTypeId="urn:microsoft.com/office/officeart/2005/8/quickstyle/simple1#17" qsCatId="simple" csTypeId="urn:microsoft.com/office/officeart/2005/8/colors/accent1_2#15" csCatId="accent1"/>
      <dgm:spPr/>
      <dgm:t>
        <a:bodyPr/>
        <a:lstStyle/>
        <a:p>
          <a:endParaRPr lang="en-US"/>
        </a:p>
      </dgm:t>
    </dgm:pt>
    <dgm:pt modelId="{7D07C0DC-4E90-4497-A58D-8CD882012A58}">
      <dgm:prSet/>
      <dgm:spPr/>
      <dgm:t>
        <a:bodyPr/>
        <a:lstStyle/>
        <a:p>
          <a:r>
            <a:rPr lang="en-US" b="1"/>
            <a:t>Novel TB Biomarkers: </a:t>
          </a:r>
          <a:r>
            <a:rPr lang="en-US"/>
            <a:t>new signatures for progression, treatment response or failure, pediatric TB</a:t>
          </a:r>
        </a:p>
      </dgm:t>
    </dgm:pt>
    <dgm:pt modelId="{CFCB0F3F-8036-4893-956E-7C04BCB661B0}" type="parTrans" cxnId="{FCC7E27D-69DB-4182-A106-45304BB376B5}">
      <dgm:prSet/>
      <dgm:spPr/>
      <dgm:t>
        <a:bodyPr/>
        <a:lstStyle/>
        <a:p>
          <a:endParaRPr lang="en-US"/>
        </a:p>
      </dgm:t>
    </dgm:pt>
    <dgm:pt modelId="{2BCD62BE-B207-443C-87D4-01F8D7253F74}" type="sibTrans" cxnId="{FCC7E27D-69DB-4182-A106-45304BB376B5}">
      <dgm:prSet/>
      <dgm:spPr/>
      <dgm:t>
        <a:bodyPr/>
        <a:lstStyle/>
        <a:p>
          <a:endParaRPr lang="en-US"/>
        </a:p>
      </dgm:t>
    </dgm:pt>
    <dgm:pt modelId="{5D812CD0-96AF-41A4-ACED-29E8488931D2}">
      <dgm:prSet/>
      <dgm:spPr/>
      <dgm:t>
        <a:bodyPr/>
        <a:lstStyle/>
        <a:p>
          <a:r>
            <a:rPr lang="en-US" b="1"/>
            <a:t>TB SignatureProfiler &amp; curatedTBData:</a:t>
          </a:r>
          <a:r>
            <a:rPr lang="en-US"/>
            <a:t>  resources with more than &gt;100 TB signatures; 50+ harmonized transcriptomic experiments; 5,000+ samples</a:t>
          </a:r>
        </a:p>
      </dgm:t>
    </dgm:pt>
    <dgm:pt modelId="{E4649864-CDFE-4827-8EAB-97672075940B}" type="parTrans" cxnId="{3C2FD988-B57B-4474-8176-73159EA16882}">
      <dgm:prSet/>
      <dgm:spPr/>
      <dgm:t>
        <a:bodyPr/>
        <a:lstStyle/>
        <a:p>
          <a:endParaRPr lang="en-US"/>
        </a:p>
      </dgm:t>
    </dgm:pt>
    <dgm:pt modelId="{93FE3EEA-3D43-428F-B09C-3794A7CD4E98}" type="sibTrans" cxnId="{3C2FD988-B57B-4474-8176-73159EA16882}">
      <dgm:prSet/>
      <dgm:spPr/>
      <dgm:t>
        <a:bodyPr/>
        <a:lstStyle/>
        <a:p>
          <a:endParaRPr lang="en-US"/>
        </a:p>
      </dgm:t>
    </dgm:pt>
    <dgm:pt modelId="{C6B024AB-4731-457C-ACEF-B953EBDA66CC}">
      <dgm:prSet/>
      <dgm:spPr/>
      <dgm:t>
        <a:bodyPr/>
        <a:lstStyle/>
        <a:p>
          <a:r>
            <a:rPr lang="en-US" b="1"/>
            <a:t>Federated platform for RePORT:</a:t>
          </a:r>
          <a:r>
            <a:rPr lang="en-US"/>
            <a:t>  containerized FL clients across India, Brazil, South Africa, Philippines</a:t>
          </a:r>
        </a:p>
      </dgm:t>
    </dgm:pt>
    <dgm:pt modelId="{028659E8-1730-4FEB-8372-23D846A97657}" type="parTrans" cxnId="{7DCE17DB-94D8-46EA-816B-5E4F89DF768A}">
      <dgm:prSet/>
      <dgm:spPr/>
      <dgm:t>
        <a:bodyPr/>
        <a:lstStyle/>
        <a:p>
          <a:endParaRPr lang="en-US"/>
        </a:p>
      </dgm:t>
    </dgm:pt>
    <dgm:pt modelId="{E4D6915D-7362-4E1A-84D4-A068E9F31795}" type="sibTrans" cxnId="{7DCE17DB-94D8-46EA-816B-5E4F89DF768A}">
      <dgm:prSet/>
      <dgm:spPr/>
      <dgm:t>
        <a:bodyPr/>
        <a:lstStyle/>
        <a:p>
          <a:endParaRPr lang="en-US"/>
        </a:p>
      </dgm:t>
    </dgm:pt>
    <dgm:pt modelId="{7CB4DE90-C311-446B-9A30-56A0A60577EA}">
      <dgm:prSet/>
      <dgm:spPr/>
      <dgm:t>
        <a:bodyPr/>
        <a:lstStyle/>
        <a:p>
          <a:r>
            <a:rPr lang="en-US" b="1"/>
            <a:t>Federated GLMs (HyFed + FedFitGLM):</a:t>
          </a:r>
          <a:r>
            <a:rPr lang="en-US"/>
            <a:t>  privacy-preserving regression across sites</a:t>
          </a:r>
        </a:p>
      </dgm:t>
    </dgm:pt>
    <dgm:pt modelId="{58CA8409-CAC3-4DB4-83B7-B759BB5E1EC6}" type="parTrans" cxnId="{6169E5ED-77FB-4185-B625-183312086EE4}">
      <dgm:prSet/>
      <dgm:spPr/>
      <dgm:t>
        <a:bodyPr/>
        <a:lstStyle/>
        <a:p>
          <a:endParaRPr lang="en-US"/>
        </a:p>
      </dgm:t>
    </dgm:pt>
    <dgm:pt modelId="{265A6328-D108-4AE1-B18E-A774E4C8F0A1}" type="sibTrans" cxnId="{6169E5ED-77FB-4185-B625-183312086EE4}">
      <dgm:prSet/>
      <dgm:spPr/>
      <dgm:t>
        <a:bodyPr/>
        <a:lstStyle/>
        <a:p>
          <a:endParaRPr lang="en-US"/>
        </a:p>
      </dgm:t>
    </dgm:pt>
    <dgm:pt modelId="{FCB7315D-19E3-4ECF-BA5C-0BD41466C3A4}">
      <dgm:prSet/>
      <dgm:spPr/>
      <dgm:t>
        <a:bodyPr/>
        <a:lstStyle/>
        <a:p>
          <a:r>
            <a:rPr lang="en-US" b="1"/>
            <a:t>Cross-site harmonization:</a:t>
          </a:r>
          <a:r>
            <a:rPr lang="en-US"/>
            <a:t>  Federated ComBat-Seq and EdgeR for multi-cohort -omics</a:t>
          </a:r>
        </a:p>
      </dgm:t>
    </dgm:pt>
    <dgm:pt modelId="{F07E6678-20B7-4A51-8E11-9F3A281B77F9}" type="parTrans" cxnId="{FCD7833D-C02C-4BD6-BED7-29627CD21EBD}">
      <dgm:prSet/>
      <dgm:spPr/>
      <dgm:t>
        <a:bodyPr/>
        <a:lstStyle/>
        <a:p>
          <a:endParaRPr lang="en-US"/>
        </a:p>
      </dgm:t>
    </dgm:pt>
    <dgm:pt modelId="{0880B566-62F2-489A-A062-8CC95D782866}" type="sibTrans" cxnId="{FCD7833D-C02C-4BD6-BED7-29627CD21EBD}">
      <dgm:prSet/>
      <dgm:spPr/>
      <dgm:t>
        <a:bodyPr/>
        <a:lstStyle/>
        <a:p>
          <a:endParaRPr lang="en-US"/>
        </a:p>
      </dgm:t>
    </dgm:pt>
    <dgm:pt modelId="{F4522FC3-9314-454C-A551-05CDAC746922}">
      <dgm:prSet/>
      <dgm:spPr/>
      <dgm:t>
        <a:bodyPr/>
        <a:lstStyle/>
        <a:p>
          <a:r>
            <a:rPr lang="en-US" b="1"/>
            <a:t>Agentic AI:</a:t>
          </a:r>
          <a:r>
            <a:rPr lang="en-US"/>
            <a:t>  LLM-driven code generation with safe execution for distributed TB analytics</a:t>
          </a:r>
        </a:p>
      </dgm:t>
    </dgm:pt>
    <dgm:pt modelId="{20BDE196-13AA-45CC-9816-6999902BA914}" type="parTrans" cxnId="{A1E4CFB5-1FB8-4BBB-A40D-7E58400CB798}">
      <dgm:prSet/>
      <dgm:spPr/>
      <dgm:t>
        <a:bodyPr/>
        <a:lstStyle/>
        <a:p>
          <a:endParaRPr lang="en-US"/>
        </a:p>
      </dgm:t>
    </dgm:pt>
    <dgm:pt modelId="{763ADAFF-FD21-498C-BF0E-345D13497D1A}" type="sibTrans" cxnId="{A1E4CFB5-1FB8-4BBB-A40D-7E58400CB798}">
      <dgm:prSet/>
      <dgm:spPr/>
      <dgm:t>
        <a:bodyPr/>
        <a:lstStyle/>
        <a:p>
          <a:endParaRPr lang="en-US"/>
        </a:p>
      </dgm:t>
    </dgm:pt>
    <dgm:pt modelId="{531E5CA3-FC45-DA43-9AF5-4C8338797E4A}" type="pres">
      <dgm:prSet presAssocID="{2EDDA6ED-FA8D-48A9-9878-C4624B82F3D3}" presName="diagram" presStyleCnt="0">
        <dgm:presLayoutVars>
          <dgm:dir/>
          <dgm:resizeHandles val="exact"/>
        </dgm:presLayoutVars>
      </dgm:prSet>
      <dgm:spPr/>
    </dgm:pt>
    <dgm:pt modelId="{9F1400F5-14A8-6444-A550-836323AE1159}" type="pres">
      <dgm:prSet presAssocID="{7D07C0DC-4E90-4497-A58D-8CD882012A58}" presName="node" presStyleLbl="node1" presStyleIdx="0" presStyleCnt="6">
        <dgm:presLayoutVars>
          <dgm:bulletEnabled val="1"/>
        </dgm:presLayoutVars>
      </dgm:prSet>
      <dgm:spPr/>
    </dgm:pt>
    <dgm:pt modelId="{87AA8851-EB60-1D4A-94F5-1A3BDE5B2740}" type="pres">
      <dgm:prSet presAssocID="{2BCD62BE-B207-443C-87D4-01F8D7253F74}" presName="sibTrans" presStyleCnt="0"/>
      <dgm:spPr/>
    </dgm:pt>
    <dgm:pt modelId="{A8F45CF5-42CB-7145-A7CE-EC5A5ACB4BBC}" type="pres">
      <dgm:prSet presAssocID="{5D812CD0-96AF-41A4-ACED-29E8488931D2}" presName="node" presStyleLbl="node1" presStyleIdx="1" presStyleCnt="6">
        <dgm:presLayoutVars>
          <dgm:bulletEnabled val="1"/>
        </dgm:presLayoutVars>
      </dgm:prSet>
      <dgm:spPr/>
    </dgm:pt>
    <dgm:pt modelId="{D9C9B5F6-7388-8346-BAEC-7A509231806B}" type="pres">
      <dgm:prSet presAssocID="{93FE3EEA-3D43-428F-B09C-3794A7CD4E98}" presName="sibTrans" presStyleCnt="0"/>
      <dgm:spPr/>
    </dgm:pt>
    <dgm:pt modelId="{9DE14003-A32B-3B43-B681-F57E3C58F206}" type="pres">
      <dgm:prSet presAssocID="{C6B024AB-4731-457C-ACEF-B953EBDA66CC}" presName="node" presStyleLbl="node1" presStyleIdx="2" presStyleCnt="6">
        <dgm:presLayoutVars>
          <dgm:bulletEnabled val="1"/>
        </dgm:presLayoutVars>
      </dgm:prSet>
      <dgm:spPr/>
    </dgm:pt>
    <dgm:pt modelId="{45126542-581A-FD4C-BF52-CD95D203851F}" type="pres">
      <dgm:prSet presAssocID="{E4D6915D-7362-4E1A-84D4-A068E9F31795}" presName="sibTrans" presStyleCnt="0"/>
      <dgm:spPr/>
    </dgm:pt>
    <dgm:pt modelId="{6285C85A-9B32-D440-BD8D-B751A12B70C1}" type="pres">
      <dgm:prSet presAssocID="{7CB4DE90-C311-446B-9A30-56A0A60577EA}" presName="node" presStyleLbl="node1" presStyleIdx="3" presStyleCnt="6">
        <dgm:presLayoutVars>
          <dgm:bulletEnabled val="1"/>
        </dgm:presLayoutVars>
      </dgm:prSet>
      <dgm:spPr/>
    </dgm:pt>
    <dgm:pt modelId="{C0137B2F-7A14-224E-A91B-4BFDE76DE19F}" type="pres">
      <dgm:prSet presAssocID="{265A6328-D108-4AE1-B18E-A774E4C8F0A1}" presName="sibTrans" presStyleCnt="0"/>
      <dgm:spPr/>
    </dgm:pt>
    <dgm:pt modelId="{BBBFCAE9-3F84-B34C-A39F-D7077CECA539}" type="pres">
      <dgm:prSet presAssocID="{FCB7315D-19E3-4ECF-BA5C-0BD41466C3A4}" presName="node" presStyleLbl="node1" presStyleIdx="4" presStyleCnt="6">
        <dgm:presLayoutVars>
          <dgm:bulletEnabled val="1"/>
        </dgm:presLayoutVars>
      </dgm:prSet>
      <dgm:spPr/>
    </dgm:pt>
    <dgm:pt modelId="{C378A94C-BF7A-404D-8C60-7A4C7445A526}" type="pres">
      <dgm:prSet presAssocID="{0880B566-62F2-489A-A062-8CC95D782866}" presName="sibTrans" presStyleCnt="0"/>
      <dgm:spPr/>
    </dgm:pt>
    <dgm:pt modelId="{2DC10F2C-AAA7-344F-8333-B2B50B7F03FF}" type="pres">
      <dgm:prSet presAssocID="{F4522FC3-9314-454C-A551-05CDAC746922}" presName="node" presStyleLbl="node1" presStyleIdx="5" presStyleCnt="6">
        <dgm:presLayoutVars>
          <dgm:bulletEnabled val="1"/>
        </dgm:presLayoutVars>
      </dgm:prSet>
      <dgm:spPr/>
    </dgm:pt>
  </dgm:ptLst>
  <dgm:cxnLst>
    <dgm:cxn modelId="{9205A813-0544-F74A-958D-686EDFA729DD}" type="presOf" srcId="{C6B024AB-4731-457C-ACEF-B953EBDA66CC}" destId="{9DE14003-A32B-3B43-B681-F57E3C58F206}" srcOrd="0" destOrd="0" presId="urn:microsoft.com/office/officeart/2005/8/layout/default"/>
    <dgm:cxn modelId="{FCD7833D-C02C-4BD6-BED7-29627CD21EBD}" srcId="{2EDDA6ED-FA8D-48A9-9878-C4624B82F3D3}" destId="{FCB7315D-19E3-4ECF-BA5C-0BD41466C3A4}" srcOrd="4" destOrd="0" parTransId="{F07E6678-20B7-4A51-8E11-9F3A281B77F9}" sibTransId="{0880B566-62F2-489A-A062-8CC95D782866}"/>
    <dgm:cxn modelId="{4D1B5454-51FF-D840-940F-5605002EB41C}" type="presOf" srcId="{7CB4DE90-C311-446B-9A30-56A0A60577EA}" destId="{6285C85A-9B32-D440-BD8D-B751A12B70C1}" srcOrd="0" destOrd="0" presId="urn:microsoft.com/office/officeart/2005/8/layout/default"/>
    <dgm:cxn modelId="{FC14765F-2CF9-1A46-86B5-EB705689F288}" type="presOf" srcId="{2EDDA6ED-FA8D-48A9-9878-C4624B82F3D3}" destId="{531E5CA3-FC45-DA43-9AF5-4C8338797E4A}" srcOrd="0" destOrd="0" presId="urn:microsoft.com/office/officeart/2005/8/layout/default"/>
    <dgm:cxn modelId="{3F134A62-BD9C-AE49-95EE-35EA2839E999}" type="presOf" srcId="{F4522FC3-9314-454C-A551-05CDAC746922}" destId="{2DC10F2C-AAA7-344F-8333-B2B50B7F03FF}" srcOrd="0" destOrd="0" presId="urn:microsoft.com/office/officeart/2005/8/layout/default"/>
    <dgm:cxn modelId="{EDAB927B-B8E2-8B40-8EE4-DDB897789E6F}" type="presOf" srcId="{FCB7315D-19E3-4ECF-BA5C-0BD41466C3A4}" destId="{BBBFCAE9-3F84-B34C-A39F-D7077CECA539}" srcOrd="0" destOrd="0" presId="urn:microsoft.com/office/officeart/2005/8/layout/default"/>
    <dgm:cxn modelId="{FCC7E27D-69DB-4182-A106-45304BB376B5}" srcId="{2EDDA6ED-FA8D-48A9-9878-C4624B82F3D3}" destId="{7D07C0DC-4E90-4497-A58D-8CD882012A58}" srcOrd="0" destOrd="0" parTransId="{CFCB0F3F-8036-4893-956E-7C04BCB661B0}" sibTransId="{2BCD62BE-B207-443C-87D4-01F8D7253F74}"/>
    <dgm:cxn modelId="{3C2FD988-B57B-4474-8176-73159EA16882}" srcId="{2EDDA6ED-FA8D-48A9-9878-C4624B82F3D3}" destId="{5D812CD0-96AF-41A4-ACED-29E8488931D2}" srcOrd="1" destOrd="0" parTransId="{E4649864-CDFE-4827-8EAB-97672075940B}" sibTransId="{93FE3EEA-3D43-428F-B09C-3794A7CD4E98}"/>
    <dgm:cxn modelId="{AB7B1A89-4FE3-8F46-A17B-6A6B7D4264F1}" type="presOf" srcId="{7D07C0DC-4E90-4497-A58D-8CD882012A58}" destId="{9F1400F5-14A8-6444-A550-836323AE1159}" srcOrd="0" destOrd="0" presId="urn:microsoft.com/office/officeart/2005/8/layout/default"/>
    <dgm:cxn modelId="{5077A29D-1969-E84A-B60B-453DCFF518F1}" type="presOf" srcId="{5D812CD0-96AF-41A4-ACED-29E8488931D2}" destId="{A8F45CF5-42CB-7145-A7CE-EC5A5ACB4BBC}" srcOrd="0" destOrd="0" presId="urn:microsoft.com/office/officeart/2005/8/layout/default"/>
    <dgm:cxn modelId="{A1E4CFB5-1FB8-4BBB-A40D-7E58400CB798}" srcId="{2EDDA6ED-FA8D-48A9-9878-C4624B82F3D3}" destId="{F4522FC3-9314-454C-A551-05CDAC746922}" srcOrd="5" destOrd="0" parTransId="{20BDE196-13AA-45CC-9816-6999902BA914}" sibTransId="{763ADAFF-FD21-498C-BF0E-345D13497D1A}"/>
    <dgm:cxn modelId="{7DCE17DB-94D8-46EA-816B-5E4F89DF768A}" srcId="{2EDDA6ED-FA8D-48A9-9878-C4624B82F3D3}" destId="{C6B024AB-4731-457C-ACEF-B953EBDA66CC}" srcOrd="2" destOrd="0" parTransId="{028659E8-1730-4FEB-8372-23D846A97657}" sibTransId="{E4D6915D-7362-4E1A-84D4-A068E9F31795}"/>
    <dgm:cxn modelId="{6169E5ED-77FB-4185-B625-183312086EE4}" srcId="{2EDDA6ED-FA8D-48A9-9878-C4624B82F3D3}" destId="{7CB4DE90-C311-446B-9A30-56A0A60577EA}" srcOrd="3" destOrd="0" parTransId="{58CA8409-CAC3-4DB4-83B7-B759BB5E1EC6}" sibTransId="{265A6328-D108-4AE1-B18E-A774E4C8F0A1}"/>
    <dgm:cxn modelId="{63DCE5D2-AB70-3640-BF8D-80E4CF702E2D}" type="presParOf" srcId="{531E5CA3-FC45-DA43-9AF5-4C8338797E4A}" destId="{9F1400F5-14A8-6444-A550-836323AE1159}" srcOrd="0" destOrd="0" presId="urn:microsoft.com/office/officeart/2005/8/layout/default"/>
    <dgm:cxn modelId="{0927EB48-0B2F-694B-96DE-EC9D2CE499A6}" type="presParOf" srcId="{531E5CA3-FC45-DA43-9AF5-4C8338797E4A}" destId="{87AA8851-EB60-1D4A-94F5-1A3BDE5B2740}" srcOrd="1" destOrd="0" presId="urn:microsoft.com/office/officeart/2005/8/layout/default"/>
    <dgm:cxn modelId="{3A99363B-BF97-B24E-AFC6-499A5F9B7715}" type="presParOf" srcId="{531E5CA3-FC45-DA43-9AF5-4C8338797E4A}" destId="{A8F45CF5-42CB-7145-A7CE-EC5A5ACB4BBC}" srcOrd="2" destOrd="0" presId="urn:microsoft.com/office/officeart/2005/8/layout/default"/>
    <dgm:cxn modelId="{3EB7E33C-E252-2142-99E4-FC5ECBE4C5B6}" type="presParOf" srcId="{531E5CA3-FC45-DA43-9AF5-4C8338797E4A}" destId="{D9C9B5F6-7388-8346-BAEC-7A509231806B}" srcOrd="3" destOrd="0" presId="urn:microsoft.com/office/officeart/2005/8/layout/default"/>
    <dgm:cxn modelId="{28634D36-9917-B245-8722-2F891C1B7723}" type="presParOf" srcId="{531E5CA3-FC45-DA43-9AF5-4C8338797E4A}" destId="{9DE14003-A32B-3B43-B681-F57E3C58F206}" srcOrd="4" destOrd="0" presId="urn:microsoft.com/office/officeart/2005/8/layout/default"/>
    <dgm:cxn modelId="{E38D4919-66A4-1344-A38D-15A4866EC77D}" type="presParOf" srcId="{531E5CA3-FC45-DA43-9AF5-4C8338797E4A}" destId="{45126542-581A-FD4C-BF52-CD95D203851F}" srcOrd="5" destOrd="0" presId="urn:microsoft.com/office/officeart/2005/8/layout/default"/>
    <dgm:cxn modelId="{6B349166-CC9B-7541-AD9F-63F04CDA773D}" type="presParOf" srcId="{531E5CA3-FC45-DA43-9AF5-4C8338797E4A}" destId="{6285C85A-9B32-D440-BD8D-B751A12B70C1}" srcOrd="6" destOrd="0" presId="urn:microsoft.com/office/officeart/2005/8/layout/default"/>
    <dgm:cxn modelId="{998FCFD1-1437-4548-8735-6BA104F4E263}" type="presParOf" srcId="{531E5CA3-FC45-DA43-9AF5-4C8338797E4A}" destId="{C0137B2F-7A14-224E-A91B-4BFDE76DE19F}" srcOrd="7" destOrd="0" presId="urn:microsoft.com/office/officeart/2005/8/layout/default"/>
    <dgm:cxn modelId="{A7A65BF0-08A7-0A4B-A884-98D621D685B2}" type="presParOf" srcId="{531E5CA3-FC45-DA43-9AF5-4C8338797E4A}" destId="{BBBFCAE9-3F84-B34C-A39F-D7077CECA539}" srcOrd="8" destOrd="0" presId="urn:microsoft.com/office/officeart/2005/8/layout/default"/>
    <dgm:cxn modelId="{EF5ACFD4-73D8-E94B-BE7B-94F6354EE175}" type="presParOf" srcId="{531E5CA3-FC45-DA43-9AF5-4C8338797E4A}" destId="{C378A94C-BF7A-404D-8C60-7A4C7445A526}" srcOrd="9" destOrd="0" presId="urn:microsoft.com/office/officeart/2005/8/layout/default"/>
    <dgm:cxn modelId="{E662919E-0217-D041-A72E-4DCCD0E6677E}" type="presParOf" srcId="{531E5CA3-FC45-DA43-9AF5-4C8338797E4A}" destId="{2DC10F2C-AAA7-344F-8333-B2B50B7F03FF}" srcOrd="10"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2168DCA-A8A0-4847-8EEE-E43AA954D947}" type="doc">
      <dgm:prSet loTypeId="urn:microsoft.com/office/officeart/2005/8/layout/process4" loCatId="process" qsTypeId="urn:microsoft.com/office/officeart/2005/8/quickstyle/simple1#11" qsCatId="simple" csTypeId="urn:microsoft.com/office/officeart/2005/8/colors/accent1_2#9" csCatId="accent1"/>
      <dgm:spPr/>
      <dgm:t>
        <a:bodyPr/>
        <a:lstStyle/>
        <a:p>
          <a:endParaRPr lang="en-US"/>
        </a:p>
      </dgm:t>
    </dgm:pt>
    <dgm:pt modelId="{2CE858A2-C772-433D-8308-133C82182EEC}">
      <dgm:prSet/>
      <dgm:spPr/>
      <dgm:t>
        <a:bodyPr/>
        <a:lstStyle/>
        <a:p>
          <a:r>
            <a:rPr lang="en-US" dirty="0"/>
            <a:t>TB is the top killer due to infectious disease</a:t>
          </a:r>
        </a:p>
      </dgm:t>
    </dgm:pt>
    <dgm:pt modelId="{780F9A01-7E55-4046-9A07-26723ACC5B35}" type="parTrans" cxnId="{2C57F25C-78C3-4AB8-92BC-49B7E31EF602}">
      <dgm:prSet/>
      <dgm:spPr/>
      <dgm:t>
        <a:bodyPr/>
        <a:lstStyle/>
        <a:p>
          <a:endParaRPr lang="en-US"/>
        </a:p>
      </dgm:t>
    </dgm:pt>
    <dgm:pt modelId="{271BDAC8-F6F0-4CFE-9FC3-CB3AD1F9B18D}" type="sibTrans" cxnId="{2C57F25C-78C3-4AB8-92BC-49B7E31EF602}">
      <dgm:prSet/>
      <dgm:spPr/>
      <dgm:t>
        <a:bodyPr/>
        <a:lstStyle/>
        <a:p>
          <a:endParaRPr lang="en-US"/>
        </a:p>
      </dgm:t>
    </dgm:pt>
    <dgm:pt modelId="{0B45F7CB-3977-4E56-A470-2972A442F0CE}">
      <dgm:prSet/>
      <dgm:spPr/>
      <dgm:t>
        <a:bodyPr/>
        <a:lstStyle/>
        <a:p>
          <a:r>
            <a:rPr lang="en-US"/>
            <a:t>Link data across clinics</a:t>
          </a:r>
        </a:p>
      </dgm:t>
    </dgm:pt>
    <dgm:pt modelId="{5994D2FC-0A47-4E6E-8C5A-010B82BA4BE5}" type="parTrans" cxnId="{4B434FFD-BB48-45D0-9DCD-592C5349B915}">
      <dgm:prSet/>
      <dgm:spPr/>
      <dgm:t>
        <a:bodyPr/>
        <a:lstStyle/>
        <a:p>
          <a:endParaRPr lang="en-US"/>
        </a:p>
      </dgm:t>
    </dgm:pt>
    <dgm:pt modelId="{FBF66347-02BE-4491-B244-218C6C036843}" type="sibTrans" cxnId="{4B434FFD-BB48-45D0-9DCD-592C5349B915}">
      <dgm:prSet/>
      <dgm:spPr/>
      <dgm:t>
        <a:bodyPr/>
        <a:lstStyle/>
        <a:p>
          <a:endParaRPr lang="en-US"/>
        </a:p>
      </dgm:t>
    </dgm:pt>
    <dgm:pt modelId="{AFE23336-4F68-4E50-AE7E-D4AE97DA8CDB}">
      <dgm:prSet/>
      <dgm:spPr/>
      <dgm:t>
        <a:bodyPr/>
        <a:lstStyle/>
        <a:p>
          <a:r>
            <a:rPr lang="en-US"/>
            <a:t>Federated Data Sharing</a:t>
          </a:r>
        </a:p>
      </dgm:t>
    </dgm:pt>
    <dgm:pt modelId="{12FA9777-531B-40DE-9B43-C0B5E2331763}" type="parTrans" cxnId="{BBEA9C3B-FA92-44F5-9A26-A2947480F101}">
      <dgm:prSet/>
      <dgm:spPr/>
      <dgm:t>
        <a:bodyPr/>
        <a:lstStyle/>
        <a:p>
          <a:endParaRPr lang="en-US"/>
        </a:p>
      </dgm:t>
    </dgm:pt>
    <dgm:pt modelId="{9B8A123E-4167-46B4-B023-0F45B60C2932}" type="sibTrans" cxnId="{BBEA9C3B-FA92-44F5-9A26-A2947480F101}">
      <dgm:prSet/>
      <dgm:spPr/>
      <dgm:t>
        <a:bodyPr/>
        <a:lstStyle/>
        <a:p>
          <a:endParaRPr lang="en-US"/>
        </a:p>
      </dgm:t>
    </dgm:pt>
    <dgm:pt modelId="{B07C5ABA-923C-43C0-BA3B-A45F2AB44669}">
      <dgm:prSet/>
      <dgm:spPr/>
      <dgm:t>
        <a:bodyPr/>
        <a:lstStyle/>
        <a:p>
          <a:r>
            <a:rPr lang="en-US"/>
            <a:t>Advanced statistical methodology</a:t>
          </a:r>
        </a:p>
      </dgm:t>
    </dgm:pt>
    <dgm:pt modelId="{56A900F4-5714-4C94-B45C-85439E6267E7}" type="parTrans" cxnId="{66310719-D2BF-4789-BC7D-DBE2220CF478}">
      <dgm:prSet/>
      <dgm:spPr/>
      <dgm:t>
        <a:bodyPr/>
        <a:lstStyle/>
        <a:p>
          <a:endParaRPr lang="en-US"/>
        </a:p>
      </dgm:t>
    </dgm:pt>
    <dgm:pt modelId="{72087F92-3C65-4B59-89B6-924ED3A660C1}" type="sibTrans" cxnId="{66310719-D2BF-4789-BC7D-DBE2220CF478}">
      <dgm:prSet/>
      <dgm:spPr/>
      <dgm:t>
        <a:bodyPr/>
        <a:lstStyle/>
        <a:p>
          <a:endParaRPr lang="en-US"/>
        </a:p>
      </dgm:t>
    </dgm:pt>
    <dgm:pt modelId="{16CF2F22-E14C-4AE0-9637-1F353CC76F52}">
      <dgm:prSet/>
      <dgm:spPr/>
      <dgm:t>
        <a:bodyPr/>
        <a:lstStyle/>
        <a:p>
          <a:r>
            <a:rPr lang="en-US"/>
            <a:t>AI-driven code generation and analysis 	</a:t>
          </a:r>
        </a:p>
      </dgm:t>
    </dgm:pt>
    <dgm:pt modelId="{1561C457-86AA-45BB-A33E-9B1427463BB7}" type="parTrans" cxnId="{2B283897-79F3-4018-9196-F7664C18C810}">
      <dgm:prSet/>
      <dgm:spPr/>
      <dgm:t>
        <a:bodyPr/>
        <a:lstStyle/>
        <a:p>
          <a:endParaRPr lang="en-US"/>
        </a:p>
      </dgm:t>
    </dgm:pt>
    <dgm:pt modelId="{B73FF3EE-2F68-4753-ACB2-DA2EC6FAB3B6}" type="sibTrans" cxnId="{2B283897-79F3-4018-9196-F7664C18C810}">
      <dgm:prSet/>
      <dgm:spPr/>
      <dgm:t>
        <a:bodyPr/>
        <a:lstStyle/>
        <a:p>
          <a:endParaRPr lang="en-US"/>
        </a:p>
      </dgm:t>
    </dgm:pt>
    <dgm:pt modelId="{3BD586FD-C40E-D547-8F84-1E96414C6180}" type="pres">
      <dgm:prSet presAssocID="{02168DCA-A8A0-4847-8EEE-E43AA954D947}" presName="Name0" presStyleCnt="0">
        <dgm:presLayoutVars>
          <dgm:dir/>
          <dgm:animLvl val="lvl"/>
          <dgm:resizeHandles val="exact"/>
        </dgm:presLayoutVars>
      </dgm:prSet>
      <dgm:spPr/>
    </dgm:pt>
    <dgm:pt modelId="{095425C8-D4E6-3B4D-8E4A-90A238CFC83C}" type="pres">
      <dgm:prSet presAssocID="{0B45F7CB-3977-4E56-A470-2972A442F0CE}" presName="boxAndChildren" presStyleCnt="0"/>
      <dgm:spPr/>
    </dgm:pt>
    <dgm:pt modelId="{01C6B6C8-6856-B349-B7A2-31799157456E}" type="pres">
      <dgm:prSet presAssocID="{0B45F7CB-3977-4E56-A470-2972A442F0CE}" presName="parentTextBox" presStyleLbl="node1" presStyleIdx="0" presStyleCnt="2"/>
      <dgm:spPr/>
    </dgm:pt>
    <dgm:pt modelId="{5F557B24-6375-4945-8810-22074B8A40E1}" type="pres">
      <dgm:prSet presAssocID="{0B45F7CB-3977-4E56-A470-2972A442F0CE}" presName="entireBox" presStyleLbl="node1" presStyleIdx="0" presStyleCnt="2"/>
      <dgm:spPr/>
    </dgm:pt>
    <dgm:pt modelId="{9B0654C6-1991-F541-9A2E-192FBCA5FC57}" type="pres">
      <dgm:prSet presAssocID="{0B45F7CB-3977-4E56-A470-2972A442F0CE}" presName="descendantBox" presStyleCnt="0"/>
      <dgm:spPr/>
    </dgm:pt>
    <dgm:pt modelId="{4D19268B-F175-5E4E-A311-B4F5A276012C}" type="pres">
      <dgm:prSet presAssocID="{AFE23336-4F68-4E50-AE7E-D4AE97DA8CDB}" presName="childTextBox" presStyleLbl="fgAccFollowNode1" presStyleIdx="0" presStyleCnt="3">
        <dgm:presLayoutVars>
          <dgm:bulletEnabled val="1"/>
        </dgm:presLayoutVars>
      </dgm:prSet>
      <dgm:spPr/>
    </dgm:pt>
    <dgm:pt modelId="{E092037F-0348-E542-85D6-496D63C4162D}" type="pres">
      <dgm:prSet presAssocID="{B07C5ABA-923C-43C0-BA3B-A45F2AB44669}" presName="childTextBox" presStyleLbl="fgAccFollowNode1" presStyleIdx="1" presStyleCnt="3">
        <dgm:presLayoutVars>
          <dgm:bulletEnabled val="1"/>
        </dgm:presLayoutVars>
      </dgm:prSet>
      <dgm:spPr/>
    </dgm:pt>
    <dgm:pt modelId="{8A0560BB-6752-224B-8FF4-39EB87559DBF}" type="pres">
      <dgm:prSet presAssocID="{16CF2F22-E14C-4AE0-9637-1F353CC76F52}" presName="childTextBox" presStyleLbl="fgAccFollowNode1" presStyleIdx="2" presStyleCnt="3">
        <dgm:presLayoutVars>
          <dgm:bulletEnabled val="1"/>
        </dgm:presLayoutVars>
      </dgm:prSet>
      <dgm:spPr/>
    </dgm:pt>
    <dgm:pt modelId="{73D25A39-4C15-EF42-B9E7-808344D4152E}" type="pres">
      <dgm:prSet presAssocID="{271BDAC8-F6F0-4CFE-9FC3-CB3AD1F9B18D}" presName="sp" presStyleCnt="0"/>
      <dgm:spPr/>
    </dgm:pt>
    <dgm:pt modelId="{73CCC33A-4A33-CA42-BFEA-169581A825B0}" type="pres">
      <dgm:prSet presAssocID="{2CE858A2-C772-433D-8308-133C82182EEC}" presName="arrowAndChildren" presStyleCnt="0"/>
      <dgm:spPr/>
    </dgm:pt>
    <dgm:pt modelId="{5625CBD1-E703-4B44-B847-5D3CDED320AC}" type="pres">
      <dgm:prSet presAssocID="{2CE858A2-C772-433D-8308-133C82182EEC}" presName="parentTextArrow" presStyleLbl="node1" presStyleIdx="1" presStyleCnt="2"/>
      <dgm:spPr/>
    </dgm:pt>
  </dgm:ptLst>
  <dgm:cxnLst>
    <dgm:cxn modelId="{A009AD0D-EDC0-9341-8DA0-718123EC8B6B}" type="presOf" srcId="{0B45F7CB-3977-4E56-A470-2972A442F0CE}" destId="{5F557B24-6375-4945-8810-22074B8A40E1}" srcOrd="1" destOrd="0" presId="urn:microsoft.com/office/officeart/2005/8/layout/process4"/>
    <dgm:cxn modelId="{66310719-D2BF-4789-BC7D-DBE2220CF478}" srcId="{0B45F7CB-3977-4E56-A470-2972A442F0CE}" destId="{B07C5ABA-923C-43C0-BA3B-A45F2AB44669}" srcOrd="1" destOrd="0" parTransId="{56A900F4-5714-4C94-B45C-85439E6267E7}" sibTransId="{72087F92-3C65-4B59-89B6-924ED3A660C1}"/>
    <dgm:cxn modelId="{FAF5AA20-D515-904B-851B-DFC5EB2397B0}" type="presOf" srcId="{02168DCA-A8A0-4847-8EEE-E43AA954D947}" destId="{3BD586FD-C40E-D547-8F84-1E96414C6180}" srcOrd="0" destOrd="0" presId="urn:microsoft.com/office/officeart/2005/8/layout/process4"/>
    <dgm:cxn modelId="{BBEA9C3B-FA92-44F5-9A26-A2947480F101}" srcId="{0B45F7CB-3977-4E56-A470-2972A442F0CE}" destId="{AFE23336-4F68-4E50-AE7E-D4AE97DA8CDB}" srcOrd="0" destOrd="0" parTransId="{12FA9777-531B-40DE-9B43-C0B5E2331763}" sibTransId="{9B8A123E-4167-46B4-B023-0F45B60C2932}"/>
    <dgm:cxn modelId="{4BD42447-272A-1A4E-AAA7-E838B75BB40B}" type="presOf" srcId="{16CF2F22-E14C-4AE0-9637-1F353CC76F52}" destId="{8A0560BB-6752-224B-8FF4-39EB87559DBF}" srcOrd="0" destOrd="0" presId="urn:microsoft.com/office/officeart/2005/8/layout/process4"/>
    <dgm:cxn modelId="{2C57F25C-78C3-4AB8-92BC-49B7E31EF602}" srcId="{02168DCA-A8A0-4847-8EEE-E43AA954D947}" destId="{2CE858A2-C772-433D-8308-133C82182EEC}" srcOrd="0" destOrd="0" parTransId="{780F9A01-7E55-4046-9A07-26723ACC5B35}" sibTransId="{271BDAC8-F6F0-4CFE-9FC3-CB3AD1F9B18D}"/>
    <dgm:cxn modelId="{BA2BFE6B-09D3-A642-9C03-813E352CCCC2}" type="presOf" srcId="{0B45F7CB-3977-4E56-A470-2972A442F0CE}" destId="{01C6B6C8-6856-B349-B7A2-31799157456E}" srcOrd="0" destOrd="0" presId="urn:microsoft.com/office/officeart/2005/8/layout/process4"/>
    <dgm:cxn modelId="{2B283897-79F3-4018-9196-F7664C18C810}" srcId="{0B45F7CB-3977-4E56-A470-2972A442F0CE}" destId="{16CF2F22-E14C-4AE0-9637-1F353CC76F52}" srcOrd="2" destOrd="0" parTransId="{1561C457-86AA-45BB-A33E-9B1427463BB7}" sibTransId="{B73FF3EE-2F68-4753-ACB2-DA2EC6FAB3B6}"/>
    <dgm:cxn modelId="{1EEA90AD-E479-664B-9B21-9641C8102E90}" type="presOf" srcId="{AFE23336-4F68-4E50-AE7E-D4AE97DA8CDB}" destId="{4D19268B-F175-5E4E-A311-B4F5A276012C}" srcOrd="0" destOrd="0" presId="urn:microsoft.com/office/officeart/2005/8/layout/process4"/>
    <dgm:cxn modelId="{C85FCAD6-71A7-484F-BFC4-98CB85107D9A}" type="presOf" srcId="{2CE858A2-C772-433D-8308-133C82182EEC}" destId="{5625CBD1-E703-4B44-B847-5D3CDED320AC}" srcOrd="0" destOrd="0" presId="urn:microsoft.com/office/officeart/2005/8/layout/process4"/>
    <dgm:cxn modelId="{3BEE7EFC-D005-A845-B493-4D576CFD8643}" type="presOf" srcId="{B07C5ABA-923C-43C0-BA3B-A45F2AB44669}" destId="{E092037F-0348-E542-85D6-496D63C4162D}" srcOrd="0" destOrd="0" presId="urn:microsoft.com/office/officeart/2005/8/layout/process4"/>
    <dgm:cxn modelId="{4B434FFD-BB48-45D0-9DCD-592C5349B915}" srcId="{02168DCA-A8A0-4847-8EEE-E43AA954D947}" destId="{0B45F7CB-3977-4E56-A470-2972A442F0CE}" srcOrd="1" destOrd="0" parTransId="{5994D2FC-0A47-4E6E-8C5A-010B82BA4BE5}" sibTransId="{FBF66347-02BE-4491-B244-218C6C036843}"/>
    <dgm:cxn modelId="{C4E614A1-68E6-8B48-827E-04CCEBADDABD}" type="presParOf" srcId="{3BD586FD-C40E-D547-8F84-1E96414C6180}" destId="{095425C8-D4E6-3B4D-8E4A-90A238CFC83C}" srcOrd="0" destOrd="0" presId="urn:microsoft.com/office/officeart/2005/8/layout/process4"/>
    <dgm:cxn modelId="{6D24D66D-0C79-3A4D-B45C-84CEE6B20B9B}" type="presParOf" srcId="{095425C8-D4E6-3B4D-8E4A-90A238CFC83C}" destId="{01C6B6C8-6856-B349-B7A2-31799157456E}" srcOrd="0" destOrd="0" presId="urn:microsoft.com/office/officeart/2005/8/layout/process4"/>
    <dgm:cxn modelId="{78C64EFB-5066-6146-B4B3-861AF3B3A695}" type="presParOf" srcId="{095425C8-D4E6-3B4D-8E4A-90A238CFC83C}" destId="{5F557B24-6375-4945-8810-22074B8A40E1}" srcOrd="1" destOrd="0" presId="urn:microsoft.com/office/officeart/2005/8/layout/process4"/>
    <dgm:cxn modelId="{93791B94-1368-1343-B6EE-F7A2E0AB874D}" type="presParOf" srcId="{095425C8-D4E6-3B4D-8E4A-90A238CFC83C}" destId="{9B0654C6-1991-F541-9A2E-192FBCA5FC57}" srcOrd="2" destOrd="0" presId="urn:microsoft.com/office/officeart/2005/8/layout/process4"/>
    <dgm:cxn modelId="{2C93FE01-7FAD-D44D-BF9E-598AF4E24ECF}" type="presParOf" srcId="{9B0654C6-1991-F541-9A2E-192FBCA5FC57}" destId="{4D19268B-F175-5E4E-A311-B4F5A276012C}" srcOrd="0" destOrd="0" presId="urn:microsoft.com/office/officeart/2005/8/layout/process4"/>
    <dgm:cxn modelId="{1BB77EE1-D77D-6740-8675-48CFA38E2BE8}" type="presParOf" srcId="{9B0654C6-1991-F541-9A2E-192FBCA5FC57}" destId="{E092037F-0348-E542-85D6-496D63C4162D}" srcOrd="1" destOrd="0" presId="urn:microsoft.com/office/officeart/2005/8/layout/process4"/>
    <dgm:cxn modelId="{E726E5EA-6561-D54C-A484-CBBDD9BBC562}" type="presParOf" srcId="{9B0654C6-1991-F541-9A2E-192FBCA5FC57}" destId="{8A0560BB-6752-224B-8FF4-39EB87559DBF}" srcOrd="2" destOrd="0" presId="urn:microsoft.com/office/officeart/2005/8/layout/process4"/>
    <dgm:cxn modelId="{AB36A946-629A-B448-B5EC-68980255B8E7}" type="presParOf" srcId="{3BD586FD-C40E-D547-8F84-1E96414C6180}" destId="{73D25A39-4C15-EF42-B9E7-808344D4152E}" srcOrd="1" destOrd="0" presId="urn:microsoft.com/office/officeart/2005/8/layout/process4"/>
    <dgm:cxn modelId="{262FC919-65BE-7C48-A967-FEBB77833FAB}" type="presParOf" srcId="{3BD586FD-C40E-D547-8F84-1E96414C6180}" destId="{73CCC33A-4A33-CA42-BFEA-169581A825B0}" srcOrd="2" destOrd="0" presId="urn:microsoft.com/office/officeart/2005/8/layout/process4"/>
    <dgm:cxn modelId="{952B0028-4585-B148-BABF-BBD8BFC98CED}" type="presParOf" srcId="{73CCC33A-4A33-CA42-BFEA-169581A825B0}" destId="{5625CBD1-E703-4B44-B847-5D3CDED320AC}"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27FA5E-63E8-5A42-A98D-7B15A8F6994F}">
      <dsp:nvSpPr>
        <dsp:cNvPr id="0" name=""/>
        <dsp:cNvSpPr/>
      </dsp:nvSpPr>
      <dsp:spPr>
        <a:xfrm>
          <a:off x="0" y="25748"/>
          <a:ext cx="10515600" cy="78624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The Distinction in AI Program helps MD students to:</a:t>
          </a:r>
        </a:p>
      </dsp:txBody>
      <dsp:txXfrm>
        <a:off x="38381" y="64129"/>
        <a:ext cx="10438838" cy="709478"/>
      </dsp:txXfrm>
    </dsp:sp>
    <dsp:sp modelId="{7D980DD8-D259-DC4E-A613-4B8520295B9C}">
      <dsp:nvSpPr>
        <dsp:cNvPr id="0" name=""/>
        <dsp:cNvSpPr/>
      </dsp:nvSpPr>
      <dsp:spPr>
        <a:xfrm>
          <a:off x="0" y="904148"/>
          <a:ext cx="10515600" cy="78624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Train in Machine Learning and Artificial Intelligence (ML/AI)</a:t>
          </a:r>
        </a:p>
      </dsp:txBody>
      <dsp:txXfrm>
        <a:off x="38381" y="942529"/>
        <a:ext cx="10438838" cy="709478"/>
      </dsp:txXfrm>
    </dsp:sp>
    <dsp:sp modelId="{A91F32DD-E812-EC4E-A2EC-AC9C3BFC3D99}">
      <dsp:nvSpPr>
        <dsp:cNvPr id="0" name=""/>
        <dsp:cNvSpPr/>
      </dsp:nvSpPr>
      <dsp:spPr>
        <a:xfrm>
          <a:off x="0" y="1782549"/>
          <a:ext cx="10515600" cy="78624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Learn ML/AI applications in healthcare</a:t>
          </a:r>
        </a:p>
      </dsp:txBody>
      <dsp:txXfrm>
        <a:off x="38381" y="1820930"/>
        <a:ext cx="10438838" cy="709478"/>
      </dsp:txXfrm>
    </dsp:sp>
    <dsp:sp modelId="{AF777F69-EC94-014B-A86B-4A3BAED5C54C}">
      <dsp:nvSpPr>
        <dsp:cNvPr id="0" name=""/>
        <dsp:cNvSpPr/>
      </dsp:nvSpPr>
      <dsp:spPr>
        <a:xfrm>
          <a:off x="0" y="2660949"/>
          <a:ext cx="10515600" cy="78624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Engage with AI faculty</a:t>
          </a:r>
        </a:p>
      </dsp:txBody>
      <dsp:txXfrm>
        <a:off x="38381" y="2699330"/>
        <a:ext cx="10438838" cy="709478"/>
      </dsp:txXfrm>
    </dsp:sp>
    <dsp:sp modelId="{0E36395D-8CAF-FB43-AA9E-C9C8CB4EAEE2}">
      <dsp:nvSpPr>
        <dsp:cNvPr id="0" name=""/>
        <dsp:cNvSpPr/>
      </dsp:nvSpPr>
      <dsp:spPr>
        <a:xfrm>
          <a:off x="0" y="3539349"/>
          <a:ext cx="10515600" cy="78624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Demonstrate AI research skills</a:t>
          </a:r>
        </a:p>
      </dsp:txBody>
      <dsp:txXfrm>
        <a:off x="38381" y="3577730"/>
        <a:ext cx="10438838" cy="7094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AF8C76-6C98-4B7E-8D36-D01B13FF5300}">
      <dsp:nvSpPr>
        <dsp:cNvPr id="0" name=""/>
        <dsp:cNvSpPr/>
      </dsp:nvSpPr>
      <dsp:spPr>
        <a:xfrm>
          <a:off x="0" y="4076"/>
          <a:ext cx="5486400" cy="76189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ED9139-58AB-414F-AF38-8940F26B6ECD}">
      <dsp:nvSpPr>
        <dsp:cNvPr id="0" name=""/>
        <dsp:cNvSpPr/>
      </dsp:nvSpPr>
      <dsp:spPr>
        <a:xfrm>
          <a:off x="230473" y="175502"/>
          <a:ext cx="419452" cy="41904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5AF76F-83A5-4D24-9697-6C8852B8F555}">
      <dsp:nvSpPr>
        <dsp:cNvPr id="0" name=""/>
        <dsp:cNvSpPr/>
      </dsp:nvSpPr>
      <dsp:spPr>
        <a:xfrm>
          <a:off x="880399" y="4076"/>
          <a:ext cx="4248487" cy="762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13" tIns="80713" rIns="80713" bIns="80713" numCol="1" spcCol="1270" anchor="ctr" anchorCtr="0">
          <a:noAutofit/>
        </a:bodyPr>
        <a:lstStyle/>
        <a:p>
          <a:pPr marL="0" lvl="0" indent="0" algn="l" defTabSz="622300">
            <a:lnSpc>
              <a:spcPct val="100000"/>
            </a:lnSpc>
            <a:spcBef>
              <a:spcPct val="0"/>
            </a:spcBef>
            <a:spcAft>
              <a:spcPct val="35000"/>
            </a:spcAft>
            <a:buNone/>
          </a:pPr>
          <a:r>
            <a:rPr lang="en-US" sz="1400" b="1" kern="1200" baseline="0" dirty="0"/>
            <a:t>Induced Pluripotent Stem Cells (iPSCs):</a:t>
          </a:r>
          <a:r>
            <a:rPr lang="en-US" sz="1400" kern="1200" baseline="0" dirty="0"/>
            <a:t> Somatic cells (like skin or blood) reprogrammed into stem cells. </a:t>
          </a:r>
          <a:endParaRPr lang="en-US" sz="1400" kern="1200" dirty="0"/>
        </a:p>
      </dsp:txBody>
      <dsp:txXfrm>
        <a:off x="880399" y="4076"/>
        <a:ext cx="4248487" cy="762640"/>
      </dsp:txXfrm>
    </dsp:sp>
    <dsp:sp modelId="{5E787179-9BFF-4B74-9B05-405B466F3CD8}">
      <dsp:nvSpPr>
        <dsp:cNvPr id="0" name=""/>
        <dsp:cNvSpPr/>
      </dsp:nvSpPr>
      <dsp:spPr>
        <a:xfrm>
          <a:off x="0" y="951599"/>
          <a:ext cx="5486400" cy="76189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9BBB4D-AB61-4491-8E67-30910AFE5AF2}">
      <dsp:nvSpPr>
        <dsp:cNvPr id="0" name=""/>
        <dsp:cNvSpPr/>
      </dsp:nvSpPr>
      <dsp:spPr>
        <a:xfrm>
          <a:off x="230473" y="1123026"/>
          <a:ext cx="419452" cy="41904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8080360-820B-4DFD-A59A-0C29A958A03B}">
      <dsp:nvSpPr>
        <dsp:cNvPr id="0" name=""/>
        <dsp:cNvSpPr/>
      </dsp:nvSpPr>
      <dsp:spPr>
        <a:xfrm>
          <a:off x="880399" y="951599"/>
          <a:ext cx="4248487" cy="762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13" tIns="80713" rIns="80713" bIns="80713" numCol="1" spcCol="1270" anchor="ctr" anchorCtr="0">
          <a:noAutofit/>
        </a:bodyPr>
        <a:lstStyle/>
        <a:p>
          <a:pPr marL="0" lvl="0" indent="0" algn="l" defTabSz="622300">
            <a:lnSpc>
              <a:spcPct val="100000"/>
            </a:lnSpc>
            <a:spcBef>
              <a:spcPct val="0"/>
            </a:spcBef>
            <a:spcAft>
              <a:spcPct val="35000"/>
            </a:spcAft>
            <a:buNone/>
          </a:pPr>
          <a:r>
            <a:rPr lang="en-US" sz="1400" b="1" kern="1200" baseline="0"/>
            <a:t>Organoids (3D Cultures):</a:t>
          </a:r>
          <a:r>
            <a:rPr lang="en-US" sz="1400" kern="1200" baseline="0"/>
            <a:t> iPSCs or primary cells are grown into complex, three-dimensional structures that mimic the architecture and function of actual organs (e.g., "mini-brains" or "mini-livers").</a:t>
          </a:r>
          <a:endParaRPr lang="en-US" sz="1400" kern="1200"/>
        </a:p>
      </dsp:txBody>
      <dsp:txXfrm>
        <a:off x="880399" y="951599"/>
        <a:ext cx="4248487" cy="762640"/>
      </dsp:txXfrm>
    </dsp:sp>
    <dsp:sp modelId="{E0392940-1E4C-48D6-B4A3-37A5C263F7F9}">
      <dsp:nvSpPr>
        <dsp:cNvPr id="0" name=""/>
        <dsp:cNvSpPr/>
      </dsp:nvSpPr>
      <dsp:spPr>
        <a:xfrm>
          <a:off x="0" y="1899123"/>
          <a:ext cx="5486400" cy="76189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99C505-30B7-40E3-9850-90EBB1C31F07}">
      <dsp:nvSpPr>
        <dsp:cNvPr id="0" name=""/>
        <dsp:cNvSpPr/>
      </dsp:nvSpPr>
      <dsp:spPr>
        <a:xfrm>
          <a:off x="230473" y="2070549"/>
          <a:ext cx="419452" cy="41904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ADA7E5-1920-47C0-AAD3-35E2706A3EAE}">
      <dsp:nvSpPr>
        <dsp:cNvPr id="0" name=""/>
        <dsp:cNvSpPr/>
      </dsp:nvSpPr>
      <dsp:spPr>
        <a:xfrm>
          <a:off x="880399" y="1899123"/>
          <a:ext cx="4248487" cy="762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13" tIns="80713" rIns="80713" bIns="80713" numCol="1" spcCol="1270" anchor="ctr" anchorCtr="0">
          <a:noAutofit/>
        </a:bodyPr>
        <a:lstStyle/>
        <a:p>
          <a:pPr marL="0" lvl="0" indent="0" algn="l" defTabSz="622300">
            <a:lnSpc>
              <a:spcPct val="100000"/>
            </a:lnSpc>
            <a:spcBef>
              <a:spcPct val="0"/>
            </a:spcBef>
            <a:spcAft>
              <a:spcPct val="35000"/>
            </a:spcAft>
            <a:buNone/>
          </a:pPr>
          <a:r>
            <a:rPr lang="en-US" sz="1400" b="1" kern="1200" baseline="0"/>
            <a:t>Organ-on-a-Chip:</a:t>
          </a:r>
          <a:r>
            <a:rPr lang="en-US" sz="1400" kern="1200" baseline="0"/>
            <a:t> These microfluidic platforms integrate cellular models with mechanical forces (like blood flow or breathing) to simulate the physiological environment.</a:t>
          </a:r>
          <a:endParaRPr lang="en-US" sz="1400" kern="1200"/>
        </a:p>
      </dsp:txBody>
      <dsp:txXfrm>
        <a:off x="880399" y="1899123"/>
        <a:ext cx="4248487" cy="762640"/>
      </dsp:txXfrm>
    </dsp:sp>
    <dsp:sp modelId="{2714F06D-1C61-4D16-AC17-E7321C8997B5}">
      <dsp:nvSpPr>
        <dsp:cNvPr id="0" name=""/>
        <dsp:cNvSpPr/>
      </dsp:nvSpPr>
      <dsp:spPr>
        <a:xfrm>
          <a:off x="0" y="2846646"/>
          <a:ext cx="5486400" cy="76189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68175C-5A96-4F46-98AF-3E6ED31F0CE5}">
      <dsp:nvSpPr>
        <dsp:cNvPr id="0" name=""/>
        <dsp:cNvSpPr/>
      </dsp:nvSpPr>
      <dsp:spPr>
        <a:xfrm>
          <a:off x="230473" y="3018073"/>
          <a:ext cx="419452" cy="41904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AC3C82-2F6D-44FB-A6B6-5C78FE438BB3}">
      <dsp:nvSpPr>
        <dsp:cNvPr id="0" name=""/>
        <dsp:cNvSpPr/>
      </dsp:nvSpPr>
      <dsp:spPr>
        <a:xfrm>
          <a:off x="880399" y="2846646"/>
          <a:ext cx="4248487" cy="762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13" tIns="80713" rIns="80713" bIns="80713" numCol="1" spcCol="1270" anchor="ctr" anchorCtr="0">
          <a:noAutofit/>
        </a:bodyPr>
        <a:lstStyle/>
        <a:p>
          <a:pPr marL="0" lvl="0" indent="0" algn="l" defTabSz="622300">
            <a:lnSpc>
              <a:spcPct val="100000"/>
            </a:lnSpc>
            <a:spcBef>
              <a:spcPct val="0"/>
            </a:spcBef>
            <a:spcAft>
              <a:spcPct val="35000"/>
            </a:spcAft>
            <a:buNone/>
          </a:pPr>
          <a:r>
            <a:rPr lang="en-US" sz="1400" b="1" kern="1200" baseline="0" dirty="0"/>
            <a:t>"Cell Villages":</a:t>
          </a:r>
          <a:r>
            <a:rPr lang="en-US" sz="1400" kern="1200" baseline="0" dirty="0"/>
            <a:t> Emerging techniques use pooled cell lines from diverse individuals to conduct large-scale "clinical” trials to study different genetic backgrounds. </a:t>
          </a:r>
          <a:endParaRPr lang="en-US" sz="1400" kern="1200" dirty="0"/>
        </a:p>
      </dsp:txBody>
      <dsp:txXfrm>
        <a:off x="880399" y="2846646"/>
        <a:ext cx="4248487" cy="762640"/>
      </dsp:txXfrm>
    </dsp:sp>
    <dsp:sp modelId="{556C46C1-5BA3-4DFB-B486-BE94DB38FA8E}">
      <dsp:nvSpPr>
        <dsp:cNvPr id="0" name=""/>
        <dsp:cNvSpPr/>
      </dsp:nvSpPr>
      <dsp:spPr>
        <a:xfrm>
          <a:off x="0" y="3794169"/>
          <a:ext cx="5486400" cy="76189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433DCA-5499-4EBA-ACF7-46FD3292C56E}">
      <dsp:nvSpPr>
        <dsp:cNvPr id="0" name=""/>
        <dsp:cNvSpPr/>
      </dsp:nvSpPr>
      <dsp:spPr>
        <a:xfrm>
          <a:off x="230473" y="3965596"/>
          <a:ext cx="419452" cy="41904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2CA843-9FDD-4D5B-A694-2917EE21C114}">
      <dsp:nvSpPr>
        <dsp:cNvPr id="0" name=""/>
        <dsp:cNvSpPr/>
      </dsp:nvSpPr>
      <dsp:spPr>
        <a:xfrm>
          <a:off x="880399" y="3794169"/>
          <a:ext cx="4248487" cy="762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13" tIns="80713" rIns="80713" bIns="80713" numCol="1" spcCol="1270" anchor="ctr" anchorCtr="0">
          <a:noAutofit/>
        </a:bodyPr>
        <a:lstStyle/>
        <a:p>
          <a:pPr marL="0" lvl="0" indent="0" algn="l" defTabSz="622300">
            <a:lnSpc>
              <a:spcPct val="100000"/>
            </a:lnSpc>
            <a:spcBef>
              <a:spcPct val="0"/>
            </a:spcBef>
            <a:spcAft>
              <a:spcPct val="35000"/>
            </a:spcAft>
            <a:buNone/>
          </a:pPr>
          <a:r>
            <a:rPr lang="en-US" sz="1400" b="1" kern="1200" baseline="0" dirty="0"/>
            <a:t>Precision-cut organ slices:</a:t>
          </a:r>
          <a:r>
            <a:rPr lang="en-US" sz="1400" kern="1200" baseline="0" dirty="0"/>
            <a:t> This technique retains more of the complexities of real-world tissues and may guide the transition from cellular systems to full-scale animal models. </a:t>
          </a:r>
          <a:endParaRPr lang="en-US" sz="1400" kern="1200" dirty="0"/>
        </a:p>
      </dsp:txBody>
      <dsp:txXfrm>
        <a:off x="880399" y="3794169"/>
        <a:ext cx="4248487" cy="7626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1400F5-14A8-6444-A550-836323AE1159}">
      <dsp:nvSpPr>
        <dsp:cNvPr id="0" name=""/>
        <dsp:cNvSpPr/>
      </dsp:nvSpPr>
      <dsp:spPr>
        <a:xfrm>
          <a:off x="470211" y="1674"/>
          <a:ext cx="2478588" cy="148715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a:t>Novel TB Biomarkers: </a:t>
          </a:r>
          <a:r>
            <a:rPr lang="en-US" sz="1500" kern="1200"/>
            <a:t>new signatures for progression, treatment response or failure, pediatric TB</a:t>
          </a:r>
        </a:p>
      </dsp:txBody>
      <dsp:txXfrm>
        <a:off x="470211" y="1674"/>
        <a:ext cx="2478588" cy="1487152"/>
      </dsp:txXfrm>
    </dsp:sp>
    <dsp:sp modelId="{A8F45CF5-42CB-7145-A7CE-EC5A5ACB4BBC}">
      <dsp:nvSpPr>
        <dsp:cNvPr id="0" name=""/>
        <dsp:cNvSpPr/>
      </dsp:nvSpPr>
      <dsp:spPr>
        <a:xfrm>
          <a:off x="3196658" y="1674"/>
          <a:ext cx="2478588" cy="148715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a:t>TB SignatureProfiler &amp; curatedTBData:</a:t>
          </a:r>
          <a:r>
            <a:rPr lang="en-US" sz="1500" kern="1200"/>
            <a:t>  resources with more than &gt;100 TB signatures; 50+ harmonized transcriptomic experiments; 5,000+ samples</a:t>
          </a:r>
        </a:p>
      </dsp:txBody>
      <dsp:txXfrm>
        <a:off x="3196658" y="1674"/>
        <a:ext cx="2478588" cy="1487152"/>
      </dsp:txXfrm>
    </dsp:sp>
    <dsp:sp modelId="{9DE14003-A32B-3B43-B681-F57E3C58F206}">
      <dsp:nvSpPr>
        <dsp:cNvPr id="0" name=""/>
        <dsp:cNvSpPr/>
      </dsp:nvSpPr>
      <dsp:spPr>
        <a:xfrm>
          <a:off x="470211" y="1736686"/>
          <a:ext cx="2478588" cy="148715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a:t>Federated platform for RePORT:</a:t>
          </a:r>
          <a:r>
            <a:rPr lang="en-US" sz="1500" kern="1200"/>
            <a:t>  containerized FL clients across India, Brazil, South Africa, Philippines</a:t>
          </a:r>
        </a:p>
      </dsp:txBody>
      <dsp:txXfrm>
        <a:off x="470211" y="1736686"/>
        <a:ext cx="2478588" cy="1487152"/>
      </dsp:txXfrm>
    </dsp:sp>
    <dsp:sp modelId="{6285C85A-9B32-D440-BD8D-B751A12B70C1}">
      <dsp:nvSpPr>
        <dsp:cNvPr id="0" name=""/>
        <dsp:cNvSpPr/>
      </dsp:nvSpPr>
      <dsp:spPr>
        <a:xfrm>
          <a:off x="3196658" y="1736686"/>
          <a:ext cx="2478588" cy="148715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a:t>Federated GLMs (HyFed + FedFitGLM):</a:t>
          </a:r>
          <a:r>
            <a:rPr lang="en-US" sz="1500" kern="1200"/>
            <a:t>  privacy-preserving regression across sites</a:t>
          </a:r>
        </a:p>
      </dsp:txBody>
      <dsp:txXfrm>
        <a:off x="3196658" y="1736686"/>
        <a:ext cx="2478588" cy="1487152"/>
      </dsp:txXfrm>
    </dsp:sp>
    <dsp:sp modelId="{BBBFCAE9-3F84-B34C-A39F-D7077CECA539}">
      <dsp:nvSpPr>
        <dsp:cNvPr id="0" name=""/>
        <dsp:cNvSpPr/>
      </dsp:nvSpPr>
      <dsp:spPr>
        <a:xfrm>
          <a:off x="470211" y="3471698"/>
          <a:ext cx="2478588" cy="148715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a:t>Cross-site harmonization:</a:t>
          </a:r>
          <a:r>
            <a:rPr lang="en-US" sz="1500" kern="1200"/>
            <a:t>  Federated ComBat-Seq and EdgeR for multi-cohort -omics</a:t>
          </a:r>
        </a:p>
      </dsp:txBody>
      <dsp:txXfrm>
        <a:off x="470211" y="3471698"/>
        <a:ext cx="2478588" cy="1487152"/>
      </dsp:txXfrm>
    </dsp:sp>
    <dsp:sp modelId="{2DC10F2C-AAA7-344F-8333-B2B50B7F03FF}">
      <dsp:nvSpPr>
        <dsp:cNvPr id="0" name=""/>
        <dsp:cNvSpPr/>
      </dsp:nvSpPr>
      <dsp:spPr>
        <a:xfrm>
          <a:off x="3196658" y="3471698"/>
          <a:ext cx="2478588" cy="148715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a:t>Agentic AI:</a:t>
          </a:r>
          <a:r>
            <a:rPr lang="en-US" sz="1500" kern="1200"/>
            <a:t>  LLM-driven code generation with safe execution for distributed TB analytics</a:t>
          </a:r>
        </a:p>
      </dsp:txBody>
      <dsp:txXfrm>
        <a:off x="3196658" y="3471698"/>
        <a:ext cx="2478588" cy="148715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557B24-6375-4945-8810-22074B8A40E1}">
      <dsp:nvSpPr>
        <dsp:cNvPr id="0" name=""/>
        <dsp:cNvSpPr/>
      </dsp:nvSpPr>
      <dsp:spPr>
        <a:xfrm>
          <a:off x="0" y="2565599"/>
          <a:ext cx="4183774" cy="168331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US" sz="2900" kern="1200"/>
            <a:t>Link data across clinics</a:t>
          </a:r>
        </a:p>
      </dsp:txBody>
      <dsp:txXfrm>
        <a:off x="0" y="2565599"/>
        <a:ext cx="4183774" cy="908988"/>
      </dsp:txXfrm>
    </dsp:sp>
    <dsp:sp modelId="{4D19268B-F175-5E4E-A311-B4F5A276012C}">
      <dsp:nvSpPr>
        <dsp:cNvPr id="0" name=""/>
        <dsp:cNvSpPr/>
      </dsp:nvSpPr>
      <dsp:spPr>
        <a:xfrm>
          <a:off x="2042" y="3440921"/>
          <a:ext cx="1393229" cy="774323"/>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US" sz="1300" kern="1200"/>
            <a:t>Federated Data Sharing</a:t>
          </a:r>
        </a:p>
      </dsp:txBody>
      <dsp:txXfrm>
        <a:off x="2042" y="3440921"/>
        <a:ext cx="1393229" cy="774323"/>
      </dsp:txXfrm>
    </dsp:sp>
    <dsp:sp modelId="{E092037F-0348-E542-85D6-496D63C4162D}">
      <dsp:nvSpPr>
        <dsp:cNvPr id="0" name=""/>
        <dsp:cNvSpPr/>
      </dsp:nvSpPr>
      <dsp:spPr>
        <a:xfrm>
          <a:off x="1395272" y="3440921"/>
          <a:ext cx="1393229" cy="774323"/>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US" sz="1300" kern="1200"/>
            <a:t>Advanced statistical methodology</a:t>
          </a:r>
        </a:p>
      </dsp:txBody>
      <dsp:txXfrm>
        <a:off x="1395272" y="3440921"/>
        <a:ext cx="1393229" cy="774323"/>
      </dsp:txXfrm>
    </dsp:sp>
    <dsp:sp modelId="{8A0560BB-6752-224B-8FF4-39EB87559DBF}">
      <dsp:nvSpPr>
        <dsp:cNvPr id="0" name=""/>
        <dsp:cNvSpPr/>
      </dsp:nvSpPr>
      <dsp:spPr>
        <a:xfrm>
          <a:off x="2788501" y="3440921"/>
          <a:ext cx="1393229" cy="774323"/>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US" sz="1300" kern="1200"/>
            <a:t>AI-driven code generation and analysis 	</a:t>
          </a:r>
        </a:p>
      </dsp:txBody>
      <dsp:txXfrm>
        <a:off x="2788501" y="3440921"/>
        <a:ext cx="1393229" cy="774323"/>
      </dsp:txXfrm>
    </dsp:sp>
    <dsp:sp modelId="{5625CBD1-E703-4B44-B847-5D3CDED320AC}">
      <dsp:nvSpPr>
        <dsp:cNvPr id="0" name=""/>
        <dsp:cNvSpPr/>
      </dsp:nvSpPr>
      <dsp:spPr>
        <a:xfrm rot="10800000">
          <a:off x="0" y="1916"/>
          <a:ext cx="4183774" cy="2588932"/>
        </a:xfrm>
        <a:prstGeom prst="upArrowCallou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US" sz="2900" kern="1200" dirty="0"/>
            <a:t>TB is the top killer due to infectious disease</a:t>
          </a:r>
        </a:p>
      </dsp:txBody>
      <dsp:txXfrm rot="10800000">
        <a:off x="0" y="1916"/>
        <a:ext cx="4183774" cy="168221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6">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1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822B5F-F1F3-DD47-B6F7-A20E905FE8A8}" type="datetimeFigureOut">
              <a:rPr lang="en-US" smtClean="0"/>
              <a:t>9/14/26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C1D416-3438-2E4D-8979-F6AA66691EB3}" type="slidenum">
              <a:rPr lang="en-US" smtClean="0"/>
              <a:t>‹#›</a:t>
            </a:fld>
            <a:endParaRPr lang="en-US"/>
          </a:p>
        </p:txBody>
      </p:sp>
    </p:spTree>
    <p:extLst>
      <p:ext uri="{BB962C8B-B14F-4D97-AF65-F5344CB8AC3E}">
        <p14:creationId xmlns:p14="http://schemas.microsoft.com/office/powerpoint/2010/main" val="29408176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Distinction in AI in Medicine program trains MD students in machine learning and AI applied to healthcare. Students train in ML/AI methods, learn healthcare applications, engage with AI faculty, and demonstrate research skills through a mentored project. Our goal is to produce physician-scientists who can lead AI-driven clinical research.</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06DFB-9038-3D41-1C4B-76A508E914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CEB7D8-397B-43CF-B1FD-3C618911A1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F0FAA7-8BD5-BDAC-0CED-986B3C5697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15A383-C1CE-0A54-467D-4BD0736FFB4C}"/>
              </a:ext>
            </a:extLst>
          </p:cNvPr>
          <p:cNvSpPr>
            <a:spLocks noGrp="1"/>
          </p:cNvSpPr>
          <p:nvPr>
            <p:ph type="sldNum" sz="quarter" idx="5"/>
          </p:nvPr>
        </p:nvSpPr>
        <p:spPr/>
        <p:txBody>
          <a:bodyPr/>
          <a:lstStyle/>
          <a:p>
            <a:fld id="{98CB9FE8-FFF0-452C-A0B6-F2406F210BAE}" type="slidenum">
              <a:rPr lang="en-US" smtClean="0"/>
              <a:t>15</a:t>
            </a:fld>
            <a:endParaRPr lang="en-US"/>
          </a:p>
        </p:txBody>
      </p:sp>
    </p:spTree>
    <p:extLst>
      <p:ext uri="{BB962C8B-B14F-4D97-AF65-F5344CB8AC3E}">
        <p14:creationId xmlns:p14="http://schemas.microsoft.com/office/powerpoint/2010/main" val="14502782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846E7-E900-0246-0389-9C7312E7F0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76AE0A-8606-8187-0752-F2C2429080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0DDBE7-6632-660D-9173-E9672C5208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6E7FEB-CFBA-8386-128A-FF4A83742338}"/>
              </a:ext>
            </a:extLst>
          </p:cNvPr>
          <p:cNvSpPr>
            <a:spLocks noGrp="1"/>
          </p:cNvSpPr>
          <p:nvPr>
            <p:ph type="sldNum" sz="quarter" idx="5"/>
          </p:nvPr>
        </p:nvSpPr>
        <p:spPr/>
        <p:txBody>
          <a:bodyPr/>
          <a:lstStyle/>
          <a:p>
            <a:fld id="{98CB9FE8-FFF0-452C-A0B6-F2406F210BAE}" type="slidenum">
              <a:rPr lang="en-US" smtClean="0"/>
              <a:t>16</a:t>
            </a:fld>
            <a:endParaRPr lang="en-US"/>
          </a:p>
        </p:txBody>
      </p:sp>
    </p:spTree>
    <p:extLst>
      <p:ext uri="{BB962C8B-B14F-4D97-AF65-F5344CB8AC3E}">
        <p14:creationId xmlns:p14="http://schemas.microsoft.com/office/powerpoint/2010/main" val="33583474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18744-A458-33A0-00BB-EB4B47AB4C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1C7D71-009A-D4FF-071B-78D66F00AB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3A89CD-42D1-1DED-6384-E88739C938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158C45-8046-8C84-F62E-00FD516EB35F}"/>
              </a:ext>
            </a:extLst>
          </p:cNvPr>
          <p:cNvSpPr>
            <a:spLocks noGrp="1"/>
          </p:cNvSpPr>
          <p:nvPr>
            <p:ph type="sldNum" sz="quarter" idx="5"/>
          </p:nvPr>
        </p:nvSpPr>
        <p:spPr/>
        <p:txBody>
          <a:bodyPr/>
          <a:lstStyle/>
          <a:p>
            <a:fld id="{98CB9FE8-FFF0-452C-A0B6-F2406F210BAE}" type="slidenum">
              <a:rPr lang="en-US" smtClean="0"/>
              <a:t>18</a:t>
            </a:fld>
            <a:endParaRPr lang="en-US"/>
          </a:p>
        </p:txBody>
      </p:sp>
    </p:spTree>
    <p:extLst>
      <p:ext uri="{BB962C8B-B14F-4D97-AF65-F5344CB8AC3E}">
        <p14:creationId xmlns:p14="http://schemas.microsoft.com/office/powerpoint/2010/main" val="13216571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CB9FE8-FFF0-452C-A0B6-F2406F210BAE}" type="slidenum">
              <a:rPr lang="en-US" smtClean="0"/>
              <a:t>20</a:t>
            </a:fld>
            <a:endParaRPr lang="en-US"/>
          </a:p>
        </p:txBody>
      </p:sp>
    </p:spTree>
    <p:extLst>
      <p:ext uri="{BB962C8B-B14F-4D97-AF65-F5344CB8AC3E}">
        <p14:creationId xmlns:p14="http://schemas.microsoft.com/office/powerpoint/2010/main" val="31571809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CB9FE8-FFF0-452C-A0B6-F2406F210BAE}" type="slidenum">
              <a:rPr lang="en-US" smtClean="0"/>
              <a:t>22</a:t>
            </a:fld>
            <a:endParaRPr lang="en-US"/>
          </a:p>
        </p:txBody>
      </p:sp>
    </p:spTree>
    <p:extLst>
      <p:ext uri="{BB962C8B-B14F-4D97-AF65-F5344CB8AC3E}">
        <p14:creationId xmlns:p14="http://schemas.microsoft.com/office/powerpoint/2010/main" val="27912783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Robotic footprint against social vulnerability — RWJBarnabas Health. 44 da Vinci systems, 12 hospitals.
SHADING: CDC/ATSDR SVI 2022, RPL_THEMES, New Jersey census tracts (2,175 total; 2,165 with valid rankings and population). Tracts are ranked against other NJ tracts, not nationally. Quintile bands: 0-.2, .2-.4, .4-.6, .6-.8, .8-1.0.
PROXIMITY (tract representative points, tract population, straight-line): all NJ residents {"10":60.3,"15":72.2,"20":78.1,"25":81.7,"30":86.2}. High-vulnerability tracts (SVI &gt;= 0.75; 542 tracts, 2,189,276 residents): {"10":79.1,"15":82.3,"20":82.7,"25":83.3,"30":86.5}. Top decile (SVI &gt;= 0.90, 860,606 residents): 82.5% within 10 miles.
HEADLINE: 79.1% of high-vulnerability residents are within 10 miles, against 60.3% of NJ residents overall — the network sits closer to vulnerable communities than to the state at large.
HOSPITAL SITING (SVI of the tract each stands in): Newark Beth Israel 0.97 · RWJUH New Brunswick 0.89 · Trinitas 0.89 · Monmouth Medical 0.88 · RWJUH Rahway 0.78 · RWJUH Somerset 0.77 · Clara Maass 0.72 · Jersey City 0.64 · RWJUH Hamilton 0.60 · Cooperman 0.55 · Monmouth South 0.45 · Community Medical 0.44.
KNOWN GAP: ~16.7% of high-vulnerability residents are beyond 25 miles, concentrated in Camden (6.8% of the high-SVI population), Atlantic (4.3%), Cumberland (3.5%) and Salem (0.6%). Passaic (10.6%) and Bergen (5.5%) have no hospital but fall largely inside 25 miles.
ENVELOPE: union of 10-mile radii, clipped to NJ = 24.3% of state land area. Population inside it: 60.1% of all NJ residents, 79.1% of residents in high-vulnerability tracts (SVI &gt;= 0.75). Dots: 542 top-quartile tracts, area proportional to tract population; 420 of 542 dots and 79.1% of that population fall inside the envelope. Choropleth shading was rejected because tract AREA does not track POPULATION -- dense urban high-SVI tracts are geographically tiny and rural ones are large, which made the shaded version read as though the need were concentrated in the south.
QUOTE BLOCK AND LOGO ARE PLACEHOLDERS.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9943EA-69D9-7E49-97CD-A49926F617C9}" type="slidenum">
              <a:rPr lang="en-US" smtClean="0"/>
              <a:t>30</a:t>
            </a:fld>
            <a:endParaRPr lang="en-US" dirty="0"/>
          </a:p>
        </p:txBody>
      </p:sp>
    </p:spTree>
    <p:extLst>
      <p:ext uri="{BB962C8B-B14F-4D97-AF65-F5344CB8AC3E}">
        <p14:creationId xmlns:p14="http://schemas.microsoft.com/office/powerpoint/2010/main" val="11847417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Our TB research integrates federated data platforms with AI methods acros</a:t>
            </a:r>
            <a:r>
              <a:rPr lang="en-US" dirty="0"/>
              <a:t>s many i</a:t>
            </a:r>
            <a:r>
              <a:rPr dirty="0"/>
              <a:t>nternational sites — India, Brazil, South Africa, and the Philippines. </a:t>
            </a:r>
            <a:r>
              <a:rPr dirty="0" err="1"/>
              <a:t>curatedTBData</a:t>
            </a:r>
            <a:r>
              <a:rPr dirty="0"/>
              <a:t> harmonizes more than fifty TB transcriptomic studies with over five thousand samples, and we're building federated GLMs (</a:t>
            </a:r>
            <a:r>
              <a:rPr dirty="0" err="1"/>
              <a:t>HyFed</a:t>
            </a:r>
            <a:r>
              <a:rPr dirty="0"/>
              <a:t> + </a:t>
            </a:r>
            <a:r>
              <a:rPr dirty="0" err="1"/>
              <a:t>FedFitGLM</a:t>
            </a:r>
            <a:r>
              <a:rPr dirty="0"/>
              <a:t>) plus federated ComBat-Seq to enable joint analyses while respecting site data sovereignty. Most recently we've added agentic AI: LLM-driven code generation with a safe execution layer for distributed analyses across these sites.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TB Research AI Alliance unifies clinical, imaging, and research tuberculosis data across institutions in the U.S. Northeast. TB is the world's top infectious killer, and the alliance links data across clinics through federated data sharing, advanced statistical methods, and AI-driven code generation. Together we turn distributed clinical and research data into AI-ready evidence.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partners span clinical, technology, and AI infrastructure: Rutgers Global Tuberculosis Institute and Boston Medical Center lead the clinical and research side, while Google Health, NimbleMind.ai, and Databricks bring AI platforms and scalable data engineering. Each partner contributes a distinct capability to the federated TB ecosystem.</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EBBE64C-5353-4BF8-B528-72B8884461E6}" type="slidenum">
              <a:rPr lang="en-US" smtClean="0"/>
              <a:t>39</a:t>
            </a:fld>
            <a:endParaRPr lang="en-US"/>
          </a:p>
        </p:txBody>
      </p:sp>
    </p:spTree>
    <p:extLst>
      <p:ext uri="{BB962C8B-B14F-4D97-AF65-F5344CB8AC3E}">
        <p14:creationId xmlns:p14="http://schemas.microsoft.com/office/powerpoint/2010/main" val="29943118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MIHAI Logo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31254B6-9AC6-00DA-B61B-B91A9F4541A1}"/>
              </a:ext>
            </a:extLst>
          </p:cNvPr>
          <p:cNvSpPr>
            <a:spLocks noGrp="1"/>
          </p:cNvSpPr>
          <p:nvPr>
            <p:ph type="sldNum" sz="quarter" idx="12"/>
          </p:nvPr>
        </p:nvSpPr>
        <p:spPr>
          <a:xfrm>
            <a:off x="8610600" y="6356350"/>
            <a:ext cx="2743200" cy="365125"/>
          </a:xfrm>
          <a:prstGeom prst="rect">
            <a:avLst/>
          </a:prstGeom>
        </p:spPr>
        <p:txBody>
          <a:bodyPr/>
          <a:lstStyle/>
          <a:p>
            <a:fld id="{A6E713DA-AC5B-324A-9573-B54820BBD74D}" type="slidenum">
              <a:rPr lang="en-US" smtClean="0"/>
              <a:t>‹#›</a:t>
            </a:fld>
            <a:endParaRPr lang="en-US"/>
          </a:p>
        </p:txBody>
      </p:sp>
    </p:spTree>
    <p:extLst>
      <p:ext uri="{BB962C8B-B14F-4D97-AF65-F5344CB8AC3E}">
        <p14:creationId xmlns:p14="http://schemas.microsoft.com/office/powerpoint/2010/main" val="2315309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BE3228A4-E14D-97EE-7B1E-F675F3B71040}"/>
              </a:ext>
            </a:extLst>
          </p:cNvPr>
          <p:cNvSpPr>
            <a:spLocks noGrp="1"/>
          </p:cNvSpPr>
          <p:nvPr>
            <p:ph sz="quarter" idx="12"/>
          </p:nvPr>
        </p:nvSpPr>
        <p:spPr>
          <a:xfrm>
            <a:off x="927100" y="1544638"/>
            <a:ext cx="10428288" cy="4349750"/>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itle 12">
            <a:extLst>
              <a:ext uri="{FF2B5EF4-FFF2-40B4-BE49-F238E27FC236}">
                <a16:creationId xmlns:a16="http://schemas.microsoft.com/office/drawing/2014/main" id="{320DDACA-D679-AB88-D133-9E54D2E92EE8}"/>
              </a:ext>
            </a:extLst>
          </p:cNvPr>
          <p:cNvSpPr>
            <a:spLocks noGrp="1"/>
          </p:cNvSpPr>
          <p:nvPr>
            <p:ph type="title"/>
          </p:nvPr>
        </p:nvSpPr>
        <p:spPr>
          <a:xfrm>
            <a:off x="838200" y="365125"/>
            <a:ext cx="10515600" cy="1325563"/>
          </a:xfrm>
          <a:prstGeom prst="rect">
            <a:avLst/>
          </a:prstGeom>
        </p:spPr>
        <p:txBody>
          <a:bodyPr/>
          <a:lstStyle>
            <a:lvl1pPr>
              <a:defRPr>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3567697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MIHAI + Presenta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8DB0EFC-ED4C-71DE-1649-8529F108321D}"/>
              </a:ext>
            </a:extLst>
          </p:cNvPr>
          <p:cNvSpPr>
            <a:spLocks noGrp="1"/>
          </p:cNvSpPr>
          <p:nvPr>
            <p:ph type="sldNum" sz="quarter" idx="12"/>
          </p:nvPr>
        </p:nvSpPr>
        <p:spPr>
          <a:xfrm>
            <a:off x="8610600" y="6356350"/>
            <a:ext cx="2743200" cy="365125"/>
          </a:xfrm>
          <a:prstGeom prst="rect">
            <a:avLst/>
          </a:prstGeom>
        </p:spPr>
        <p:txBody>
          <a:bodyPr/>
          <a:lstStyle/>
          <a:p>
            <a:fld id="{A6E713DA-AC5B-324A-9573-B54820BBD74D}" type="slidenum">
              <a:rPr lang="en-US" smtClean="0"/>
              <a:t>‹#›</a:t>
            </a:fld>
            <a:endParaRPr lang="en-US"/>
          </a:p>
        </p:txBody>
      </p:sp>
      <p:sp>
        <p:nvSpPr>
          <p:cNvPr id="7" name="Title 6">
            <a:extLst>
              <a:ext uri="{FF2B5EF4-FFF2-40B4-BE49-F238E27FC236}">
                <a16:creationId xmlns:a16="http://schemas.microsoft.com/office/drawing/2014/main" id="{62348238-EF0C-A309-1407-027476789A3F}"/>
              </a:ext>
            </a:extLst>
          </p:cNvPr>
          <p:cNvSpPr>
            <a:spLocks noGrp="1"/>
          </p:cNvSpPr>
          <p:nvPr>
            <p:ph type="title"/>
          </p:nvPr>
        </p:nvSpPr>
        <p:spPr>
          <a:xfrm>
            <a:off x="2681416" y="2230996"/>
            <a:ext cx="6759146" cy="1325563"/>
          </a:xfrm>
          <a:prstGeom prst="rect">
            <a:avLst/>
          </a:prstGeom>
        </p:spPr>
        <p:txBody>
          <a:bodyPr/>
          <a:lstStyle>
            <a:lvl1pPr>
              <a:defRPr b="1">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3479225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B4ABC254-EE03-C1DF-1BE0-80128EB01C76}"/>
              </a:ext>
            </a:extLst>
          </p:cNvPr>
          <p:cNvSpPr>
            <a:spLocks noGrp="1"/>
          </p:cNvSpPr>
          <p:nvPr>
            <p:ph type="body" sz="quarter" idx="10"/>
          </p:nvPr>
        </p:nvSpPr>
        <p:spPr>
          <a:xfrm>
            <a:off x="4386263" y="1260388"/>
            <a:ext cx="7439025" cy="5362661"/>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itle 10">
            <a:extLst>
              <a:ext uri="{FF2B5EF4-FFF2-40B4-BE49-F238E27FC236}">
                <a16:creationId xmlns:a16="http://schemas.microsoft.com/office/drawing/2014/main" id="{2570C7CA-5595-2ECD-D4DA-EBF626FFDD30}"/>
              </a:ext>
            </a:extLst>
          </p:cNvPr>
          <p:cNvSpPr>
            <a:spLocks noGrp="1"/>
          </p:cNvSpPr>
          <p:nvPr>
            <p:ph type="title"/>
          </p:nvPr>
        </p:nvSpPr>
        <p:spPr>
          <a:xfrm>
            <a:off x="4386262" y="234952"/>
            <a:ext cx="7439026" cy="827730"/>
          </a:xfrm>
          <a:prstGeom prst="rect">
            <a:avLst/>
          </a:prstGeom>
        </p:spPr>
        <p:txBody>
          <a:bodyPr/>
          <a:lstStyle>
            <a:lvl1pPr>
              <a:defRPr>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1512381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162FA2-2F8D-3AC4-3437-E187F647CECC}"/>
              </a:ext>
            </a:extLst>
          </p:cNvPr>
          <p:cNvSpPr>
            <a:spLocks noGrp="1"/>
          </p:cNvSpPr>
          <p:nvPr>
            <p:ph sz="half" idx="1"/>
          </p:nvPr>
        </p:nvSpPr>
        <p:spPr>
          <a:xfrm>
            <a:off x="457200" y="1507524"/>
            <a:ext cx="7203988" cy="4985350"/>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282E8F13-E38A-0AA1-E8BC-4C0EEE856FED}"/>
              </a:ext>
            </a:extLst>
          </p:cNvPr>
          <p:cNvSpPr>
            <a:spLocks noGrp="1"/>
          </p:cNvSpPr>
          <p:nvPr>
            <p:ph type="title"/>
          </p:nvPr>
        </p:nvSpPr>
        <p:spPr>
          <a:xfrm>
            <a:off x="457200" y="181962"/>
            <a:ext cx="7203988" cy="1115498"/>
          </a:xfrm>
          <a:prstGeom prst="rect">
            <a:avLst/>
          </a:prstGeom>
        </p:spPr>
        <p:txBody>
          <a:bodyPr/>
          <a:lstStyle>
            <a:lvl1pPr>
              <a:defRPr>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13516198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Slide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E2ADF55-EFAF-239B-B1BC-BBC47E12BD13}"/>
              </a:ext>
            </a:extLst>
          </p:cNvPr>
          <p:cNvSpPr>
            <a:spLocks noGrp="1"/>
          </p:cNvSpPr>
          <p:nvPr>
            <p:ph sz="half" idx="2"/>
          </p:nvPr>
        </p:nvSpPr>
        <p:spPr>
          <a:xfrm>
            <a:off x="839788" y="1482811"/>
            <a:ext cx="10515600" cy="4175512"/>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9">
            <a:extLst>
              <a:ext uri="{FF2B5EF4-FFF2-40B4-BE49-F238E27FC236}">
                <a16:creationId xmlns:a16="http://schemas.microsoft.com/office/drawing/2014/main" id="{5BB636DE-CA1A-E18D-23DA-F507B62A847C}"/>
              </a:ext>
            </a:extLst>
          </p:cNvPr>
          <p:cNvSpPr>
            <a:spLocks noGrp="1"/>
          </p:cNvSpPr>
          <p:nvPr>
            <p:ph type="title"/>
          </p:nvPr>
        </p:nvSpPr>
        <p:spPr>
          <a:xfrm>
            <a:off x="1989438" y="328056"/>
            <a:ext cx="7920681" cy="1055902"/>
          </a:xfrm>
          <a:prstGeom prst="rect">
            <a:avLst/>
          </a:prstGeom>
        </p:spPr>
        <p:txBody>
          <a:bodyPr/>
          <a:lstStyle>
            <a:lvl1pPr>
              <a:defRPr>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1073737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Slide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DCC86DCA-57D0-E08C-2522-9FBE0A111E27}"/>
              </a:ext>
            </a:extLst>
          </p:cNvPr>
          <p:cNvSpPr>
            <a:spLocks noGrp="1"/>
          </p:cNvSpPr>
          <p:nvPr>
            <p:ph sz="quarter" idx="10"/>
          </p:nvPr>
        </p:nvSpPr>
        <p:spPr>
          <a:xfrm>
            <a:off x="333375" y="1408113"/>
            <a:ext cx="6919913" cy="4560887"/>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40A31AFC-374E-FD8D-83A3-7945B8604FDE}"/>
              </a:ext>
            </a:extLst>
          </p:cNvPr>
          <p:cNvSpPr>
            <a:spLocks noGrp="1"/>
          </p:cNvSpPr>
          <p:nvPr>
            <p:ph type="title"/>
          </p:nvPr>
        </p:nvSpPr>
        <p:spPr>
          <a:xfrm>
            <a:off x="333375" y="226219"/>
            <a:ext cx="6919913" cy="1009458"/>
          </a:xfrm>
          <a:prstGeom prst="rect">
            <a:avLst/>
          </a:prstGeom>
        </p:spPr>
        <p:txBody>
          <a:bodyPr/>
          <a:lstStyle>
            <a:lvl1pPr>
              <a:defRPr>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3899937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Slide 6">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Content Placeholder 6">
            <a:extLst>
              <a:ext uri="{FF2B5EF4-FFF2-40B4-BE49-F238E27FC236}">
                <a16:creationId xmlns:a16="http://schemas.microsoft.com/office/drawing/2014/main" id="{AB1D8F9F-7355-181E-A279-6CFCEAE58570}"/>
              </a:ext>
            </a:extLst>
          </p:cNvPr>
          <p:cNvSpPr>
            <a:spLocks noGrp="1"/>
          </p:cNvSpPr>
          <p:nvPr>
            <p:ph sz="quarter" idx="10"/>
          </p:nvPr>
        </p:nvSpPr>
        <p:spPr>
          <a:xfrm>
            <a:off x="4942445" y="1445184"/>
            <a:ext cx="6919913" cy="4560887"/>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6">
            <a:extLst>
              <a:ext uri="{FF2B5EF4-FFF2-40B4-BE49-F238E27FC236}">
                <a16:creationId xmlns:a16="http://schemas.microsoft.com/office/drawing/2014/main" id="{DFFF8B69-59DE-5FED-CE42-F4DC7298E5A7}"/>
              </a:ext>
            </a:extLst>
          </p:cNvPr>
          <p:cNvSpPr>
            <a:spLocks noGrp="1"/>
          </p:cNvSpPr>
          <p:nvPr>
            <p:ph type="title"/>
          </p:nvPr>
        </p:nvSpPr>
        <p:spPr>
          <a:xfrm>
            <a:off x="4942444" y="365125"/>
            <a:ext cx="6919913" cy="907621"/>
          </a:xfrm>
          <a:prstGeom prst="rect">
            <a:avLst/>
          </a:prstGeom>
        </p:spPr>
        <p:txBody>
          <a:bodyPr/>
          <a:lstStyle>
            <a:lvl1pPr>
              <a:defRPr>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15437052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Only Layout without Gradient Top">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31887370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E6BFD6-CEC5-4535-B980-B7D2E1435E4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975770-A8AC-4E5D-9EB1-0C3AB783827B}" type="slidenum">
              <a:rPr lang="en-US" smtClean="0"/>
              <a:t>‹#›</a:t>
            </a:fld>
            <a:endParaRPr lang="en-US"/>
          </a:p>
        </p:txBody>
      </p:sp>
    </p:spTree>
    <p:extLst>
      <p:ext uri="{BB962C8B-B14F-4D97-AF65-F5344CB8AC3E}">
        <p14:creationId xmlns:p14="http://schemas.microsoft.com/office/powerpoint/2010/main" val="2253784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36738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Subhead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D006730-65B2-8B29-9888-0D35751F7908}"/>
              </a:ext>
            </a:extLst>
          </p:cNvPr>
          <p:cNvSpPr>
            <a:spLocks noGrp="1"/>
          </p:cNvSpPr>
          <p:nvPr>
            <p:ph type="title" hasCustomPrompt="1"/>
          </p:nvPr>
        </p:nvSpPr>
        <p:spPr>
          <a:xfrm>
            <a:off x="731520" y="548639"/>
            <a:ext cx="9509760" cy="594360"/>
          </a:xfrm>
        </p:spPr>
        <p:txBody>
          <a:bodyPr lIns="0" tIns="0" rIns="0" bIns="0" anchor="t">
            <a:noAutofit/>
          </a:bodyPr>
          <a:lstStyle>
            <a:lvl1pPr>
              <a:lnSpc>
                <a:spcPct val="90000"/>
              </a:lnSpc>
              <a:defRPr>
                <a:latin typeface="+mj-lt"/>
                <a:ea typeface="Roboto" panose="02000000000000000000" pitchFamily="2" charset="0"/>
              </a:defRPr>
            </a:lvl1pPr>
          </a:lstStyle>
          <a:p>
            <a:r>
              <a:rPr lang="en-US" dirty="0"/>
              <a:t>Click to Edit Title</a:t>
            </a:r>
          </a:p>
        </p:txBody>
      </p:sp>
      <p:sp>
        <p:nvSpPr>
          <p:cNvPr id="6" name="Text Placeholder 3">
            <a:extLst>
              <a:ext uri="{FF2B5EF4-FFF2-40B4-BE49-F238E27FC236}">
                <a16:creationId xmlns:a16="http://schemas.microsoft.com/office/drawing/2014/main" id="{06AEC1E7-44ED-9529-4D5A-69326FF7D938}"/>
              </a:ext>
            </a:extLst>
          </p:cNvPr>
          <p:cNvSpPr>
            <a:spLocks noGrp="1"/>
          </p:cNvSpPr>
          <p:nvPr>
            <p:ph type="body" sz="half" idx="34" hasCustomPrompt="1"/>
          </p:nvPr>
        </p:nvSpPr>
        <p:spPr>
          <a:xfrm>
            <a:off x="731520" y="1143000"/>
            <a:ext cx="9509760" cy="415155"/>
          </a:xfrm>
        </p:spPr>
        <p:txBody>
          <a:bodyPr anchor="t" anchorCtr="0">
            <a:noAutofit/>
          </a:bodyPr>
          <a:lstStyle>
            <a:lvl1pPr marL="0" indent="0" algn="l">
              <a:buNone/>
              <a:defRPr sz="2000" cap="all" spc="200" baseline="0">
                <a:solidFill>
                  <a:schemeClr val="accent1"/>
                </a:solidFill>
              </a:defRPr>
            </a:lvl1pPr>
          </a:lstStyle>
          <a:p>
            <a:pPr lvl="0"/>
            <a:r>
              <a:rPr lang="en-US" dirty="0"/>
              <a:t>Click to edit RED Subhead</a:t>
            </a:r>
          </a:p>
        </p:txBody>
      </p:sp>
      <p:sp>
        <p:nvSpPr>
          <p:cNvPr id="7" name="Rectangle 6">
            <a:extLst>
              <a:ext uri="{FF2B5EF4-FFF2-40B4-BE49-F238E27FC236}">
                <a16:creationId xmlns:a16="http://schemas.microsoft.com/office/drawing/2014/main" id="{C884F262-F4CD-3919-22AA-E02F0B54FB70}"/>
              </a:ext>
              <a:ext uri="{C183D7F6-B498-43B3-948B-1728B52AA6E4}">
                <adec:decorative xmlns:adec="http://schemas.microsoft.com/office/drawing/2017/decorative" val="1"/>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0" name="Picture 9">
            <a:extLst>
              <a:ext uri="{FF2B5EF4-FFF2-40B4-BE49-F238E27FC236}">
                <a16:creationId xmlns:a16="http://schemas.microsoft.com/office/drawing/2014/main" id="{A850C448-85DC-45D9-D015-80916DE2BB53}"/>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1" name="Footer Placeholder 4">
            <a:extLst>
              <a:ext uri="{FF2B5EF4-FFF2-40B4-BE49-F238E27FC236}">
                <a16:creationId xmlns:a16="http://schemas.microsoft.com/office/drawing/2014/main" id="{D442265E-F3A9-62A5-F929-5EAC8E95FA2A}"/>
              </a:ext>
              <a:ext uri="{C183D7F6-B498-43B3-948B-1728B52AA6E4}">
                <adec:decorative xmlns:adec="http://schemas.microsoft.com/office/drawing/2017/decorative" val="1"/>
              </a:ext>
            </a:extLst>
          </p:cNvPr>
          <p:cNvSpPr>
            <a:spLocks noGrp="1"/>
          </p:cNvSpPr>
          <p:nvPr>
            <p:ph type="ftr" sz="quarter" idx="3"/>
          </p:nvPr>
        </p:nvSpPr>
        <p:spPr>
          <a:xfrm>
            <a:off x="3216441" y="6428232"/>
            <a:ext cx="8101263" cy="365125"/>
          </a:xfrm>
          <a:prstGeom prst="rect">
            <a:avLst/>
          </a:prstGeom>
        </p:spPr>
        <p:txBody>
          <a:bodyPr vert="horz" lIns="91440" tIns="45720" rIns="91440" bIns="45720" rtlCol="0" anchor="ctr"/>
          <a:lstStyle>
            <a:lvl1pPr algn="r">
              <a:defRPr sz="1000" b="0">
                <a:solidFill>
                  <a:schemeClr val="bg1"/>
                </a:solidFill>
              </a:defRPr>
            </a:lvl1pPr>
          </a:lstStyle>
          <a:p>
            <a:r>
              <a:rPr lang="en-US" dirty="0"/>
              <a:t>Center for Biomedical Informatics and Health Artificial Intelligence (BMIHAI)</a:t>
            </a:r>
          </a:p>
        </p:txBody>
      </p:sp>
      <p:sp>
        <p:nvSpPr>
          <p:cNvPr id="12" name="Oval 11">
            <a:extLst>
              <a:ext uri="{FF2B5EF4-FFF2-40B4-BE49-F238E27FC236}">
                <a16:creationId xmlns:a16="http://schemas.microsoft.com/office/drawing/2014/main" id="{72C13B94-4642-2166-3847-60BCD0C99B33}"/>
              </a:ext>
              <a:ext uri="{C183D7F6-B498-43B3-948B-1728B52AA6E4}">
                <adec:decorative xmlns:adec="http://schemas.microsoft.com/office/drawing/2017/decorative" val="1"/>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818010C-10A5-A102-6420-3E6430955C00}"/>
              </a:ext>
              <a:ext uri="{C183D7F6-B498-43B3-948B-1728B52AA6E4}">
                <adec:decorative xmlns:adec="http://schemas.microsoft.com/office/drawing/2017/decorative" val="1"/>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a:solidFill>
                <a:schemeClr val="bg1"/>
              </a:solidFill>
              <a:latin typeface="+mn-lt"/>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798572625"/>
      </p:ext>
    </p:extLst>
  </p:cSld>
  <p:clrMapOvr>
    <a:masterClrMapping/>
  </p:clrMapOvr>
  <p:extLst>
    <p:ext uri="{DCECCB84-F9BA-43D5-87BE-67443E8EF086}">
      <p15:sldGuideLst xmlns:p15="http://schemas.microsoft.com/office/powerpoint/2012/main">
        <p15:guide id="2" pos="456">
          <p15:clr>
            <a:srgbClr val="FBAE40"/>
          </p15:clr>
        </p15:guide>
        <p15:guide id="3" pos="7224">
          <p15:clr>
            <a:srgbClr val="FBAE40"/>
          </p15:clr>
        </p15:guide>
        <p15:guide id="4" orient="horz" pos="3840">
          <p15:clr>
            <a:srgbClr val="FBAE40"/>
          </p15:clr>
        </p15:guide>
        <p15:guide id="5" orient="horz" pos="33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E6BFD6-CEC5-4535-B980-B7D2E1435E44}" type="datetimeFigureOut">
              <a:rPr lang="en-US" smtClean="0"/>
              <a:t>9/14/26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4975770-A8AC-4E5D-9EB1-0C3AB783827B}" type="slidenum">
              <a:rPr lang="en-US" smtClean="0"/>
              <a:t>‹#›</a:t>
            </a:fld>
            <a:endParaRPr lang="en-US"/>
          </a:p>
        </p:txBody>
      </p:sp>
    </p:spTree>
    <p:extLst>
      <p:ext uri="{BB962C8B-B14F-4D97-AF65-F5344CB8AC3E}">
        <p14:creationId xmlns:p14="http://schemas.microsoft.com/office/powerpoint/2010/main" val="25630914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FE8BA13E-7DCD-4265-91EB-E82729D9ED48}"/>
              </a:ext>
            </a:extLst>
          </p:cNvPr>
          <p:cNvSpPr>
            <a:spLocks noGrp="1"/>
          </p:cNvSpPr>
          <p:nvPr>
            <p:ph type="dt" sz="half" idx="10"/>
          </p:nvPr>
        </p:nvSpPr>
        <p:spPr/>
        <p:txBody>
          <a:bodyPr/>
          <a:lstStyle>
            <a:lvl1pPr>
              <a:defRPr/>
            </a:lvl1pPr>
          </a:lstStyle>
          <a:p>
            <a:pPr>
              <a:defRPr/>
            </a:pPr>
            <a:fld id="{76E738CF-9262-4568-9034-B169EA2C5A2C}" type="datetime4">
              <a:rPr lang="en-US" smtClean="0"/>
              <a:pPr>
                <a:defRPr/>
              </a:pPr>
              <a:t>September 14, 2026</a:t>
            </a:fld>
            <a:endParaRPr lang="en-US" dirty="0">
              <a:latin typeface="Times" charset="0"/>
            </a:endParaRPr>
          </a:p>
        </p:txBody>
      </p:sp>
      <p:sp>
        <p:nvSpPr>
          <p:cNvPr id="4" name="Footer Placeholder 3">
            <a:extLst>
              <a:ext uri="{FF2B5EF4-FFF2-40B4-BE49-F238E27FC236}">
                <a16:creationId xmlns:a16="http://schemas.microsoft.com/office/drawing/2014/main" id="{A01AAFE2-62CC-4BBA-83B4-2630D65EF239}"/>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66B81E64-B289-4F98-9D97-BEAE6497E8AE}"/>
              </a:ext>
            </a:extLst>
          </p:cNvPr>
          <p:cNvSpPr>
            <a:spLocks noGrp="1"/>
          </p:cNvSpPr>
          <p:nvPr>
            <p:ph type="sldNum" sz="quarter" idx="12"/>
          </p:nvPr>
        </p:nvSpPr>
        <p:spPr/>
        <p:txBody>
          <a:bodyPr/>
          <a:lstStyle>
            <a:lvl1pPr>
              <a:defRPr/>
            </a:lvl1pPr>
          </a:lstStyle>
          <a:p>
            <a:pPr>
              <a:defRPr/>
            </a:pPr>
            <a:fld id="{B07D5A7F-225B-4E28-A069-AD86103922D2}" type="slidenum">
              <a:rPr lang="en-US" altLang="en-US"/>
              <a:pPr>
                <a:defRPr/>
              </a:pPr>
              <a:t>‹#›</a:t>
            </a:fld>
            <a:endParaRPr lang="en-US" altLang="en-US">
              <a:solidFill>
                <a:srgbClr val="002C77"/>
              </a:solidFill>
            </a:endParaRPr>
          </a:p>
        </p:txBody>
      </p:sp>
    </p:spTree>
    <p:extLst>
      <p:ext uri="{BB962C8B-B14F-4D97-AF65-F5344CB8AC3E}">
        <p14:creationId xmlns:p14="http://schemas.microsoft.com/office/powerpoint/2010/main" val="1734238720"/>
      </p:ext>
    </p:extLst>
  </p:cSld>
  <p:clrMapOvr>
    <a:masterClrMapping/>
  </p:clrMapOvr>
  <p:transition spd="slow" advClick="0" advTm="700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870649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9" r:id="rId4"/>
    <p:sldLayoutId id="2147483652" r:id="rId5"/>
    <p:sldLayoutId id="2147483653" r:id="rId6"/>
    <p:sldLayoutId id="2147483654" r:id="rId7"/>
    <p:sldLayoutId id="2147483655" r:id="rId8"/>
    <p:sldLayoutId id="2147483660" r:id="rId9"/>
    <p:sldLayoutId id="2147483661" r:id="rId10"/>
    <p:sldLayoutId id="2147483662" r:id="rId11"/>
    <p:sldLayoutId id="2147483663" r:id="rId12"/>
    <p:sldLayoutId id="2147483664" r:id="rId13"/>
    <p:sldLayoutId id="2147483665"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13" Type="http://schemas.microsoft.com/office/2007/relationships/hdphoto" Target="../media/hdphoto1.wdp"/><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image" Target="../media/image11.png"/><Relationship Id="rId16" Type="http://schemas.openxmlformats.org/officeDocument/2006/relationships/image" Target="../media/image24.png"/><Relationship Id="rId1" Type="http://schemas.openxmlformats.org/officeDocument/2006/relationships/slideLayout" Target="../slideLayouts/slideLayout10.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jpeg"/><Relationship Id="rId15" Type="http://schemas.openxmlformats.org/officeDocument/2006/relationships/image" Target="../media/image23.png"/><Relationship Id="rId10" Type="http://schemas.openxmlformats.org/officeDocument/2006/relationships/image" Target="../media/image19.jpeg"/><Relationship Id="rId4" Type="http://schemas.openxmlformats.org/officeDocument/2006/relationships/image" Target="../media/image13.png"/><Relationship Id="rId9" Type="http://schemas.openxmlformats.org/officeDocument/2006/relationships/image" Target="../media/image18.jpeg"/><Relationship Id="rId14" Type="http://schemas.openxmlformats.org/officeDocument/2006/relationships/image" Target="../media/image22.png"/></Relationships>
</file>

<file path=ppt/slides/_rels/slide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emf"/><Relationship Id="rId1" Type="http://schemas.openxmlformats.org/officeDocument/2006/relationships/slideLayout" Target="../slideLayouts/slideLayout2.xml"/><Relationship Id="rId4" Type="http://schemas.openxmlformats.org/officeDocument/2006/relationships/image" Target="../media/image27.jpe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8.jpeg"/><Relationship Id="rId1" Type="http://schemas.openxmlformats.org/officeDocument/2006/relationships/slideLayout" Target="../slideLayouts/slideLayout2.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30.jpeg"/><Relationship Id="rId7" Type="http://schemas.openxmlformats.org/officeDocument/2006/relationships/hyperlink" Target="https://ifh.rutgers.edu/center-for-biomedical-informatics" TargetMode="External"/><Relationship Id="rId2" Type="http://schemas.openxmlformats.org/officeDocument/2006/relationships/image" Target="../media/image29.jpeg"/><Relationship Id="rId1" Type="http://schemas.openxmlformats.org/officeDocument/2006/relationships/slideLayout" Target="../slideLayouts/slideLayout10.xml"/><Relationship Id="rId6" Type="http://schemas.openxmlformats.org/officeDocument/2006/relationships/image" Target="../media/image33.png"/><Relationship Id="rId5" Type="http://schemas.openxmlformats.org/officeDocument/2006/relationships/image" Target="../media/image32.jpeg"/><Relationship Id="rId4" Type="http://schemas.openxmlformats.org/officeDocument/2006/relationships/image" Target="../media/image31.jpeg"/></Relationships>
</file>

<file path=ppt/slides/_rels/slide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0.xml"/><Relationship Id="rId4" Type="http://schemas.openxmlformats.org/officeDocument/2006/relationships/image" Target="../media/image3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image" Target="../media/image39.jpg"/><Relationship Id="rId1" Type="http://schemas.openxmlformats.org/officeDocument/2006/relationships/slideLayout" Target="../slideLayouts/slideLayout10.xml"/><Relationship Id="rId4" Type="http://schemas.openxmlformats.org/officeDocument/2006/relationships/image" Target="../media/image41.jpg"/></Relationships>
</file>

<file path=ppt/slides/_rels/slide1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2.jpe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10.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5.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8" Type="http://schemas.openxmlformats.org/officeDocument/2006/relationships/image" Target="../media/image29.jpeg"/><Relationship Id="rId3" Type="http://schemas.openxmlformats.org/officeDocument/2006/relationships/image" Target="../media/image48.png"/><Relationship Id="rId7" Type="http://schemas.openxmlformats.org/officeDocument/2006/relationships/image" Target="../media/image51.png"/><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microsoft.com/office/2007/relationships/hdphoto" Target="../media/hdphoto2.wdp"/><Relationship Id="rId5" Type="http://schemas.openxmlformats.org/officeDocument/2006/relationships/image" Target="../media/image50.png"/><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53.png"/></Relationships>
</file>

<file path=ppt/slides/_rels/slide2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5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emf"/><Relationship Id="rId1" Type="http://schemas.openxmlformats.org/officeDocument/2006/relationships/slideLayout" Target="../slideLayouts/slideLayout2.xml"/><Relationship Id="rId4" Type="http://schemas.openxmlformats.org/officeDocument/2006/relationships/image" Target="../media/image27.jpeg"/></Relationships>
</file>

<file path=ppt/slides/_rels/slide2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8" Type="http://schemas.openxmlformats.org/officeDocument/2006/relationships/image" Target="../media/image63.svg"/><Relationship Id="rId3" Type="http://schemas.openxmlformats.org/officeDocument/2006/relationships/image" Target="../media/image58.svg"/><Relationship Id="rId7" Type="http://schemas.openxmlformats.org/officeDocument/2006/relationships/image" Target="../media/image62.sv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61.svg"/><Relationship Id="rId5" Type="http://schemas.openxmlformats.org/officeDocument/2006/relationships/image" Target="../media/image60.svg"/><Relationship Id="rId10" Type="http://schemas.openxmlformats.org/officeDocument/2006/relationships/image" Target="../media/image65.png"/><Relationship Id="rId4" Type="http://schemas.openxmlformats.org/officeDocument/2006/relationships/image" Target="../media/image59.svg"/><Relationship Id="rId9" Type="http://schemas.openxmlformats.org/officeDocument/2006/relationships/image" Target="../media/image64.svg"/></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12.xml"/><Relationship Id="rId4" Type="http://schemas.openxmlformats.org/officeDocument/2006/relationships/image" Target="../media/image73.png"/></Relationships>
</file>

<file path=ppt/slides/_rels/slide3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12.xml"/><Relationship Id="rId4" Type="http://schemas.openxmlformats.org/officeDocument/2006/relationships/image" Target="../media/image76.png"/></Relationships>
</file>

<file path=ppt/slides/_rels/slide3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9.xml"/><Relationship Id="rId4" Type="http://schemas.openxmlformats.org/officeDocument/2006/relationships/image" Target="../media/image79.png"/></Relationships>
</file>

<file path=ppt/slides/_rels/slide35.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80.png"/><Relationship Id="rId7" Type="http://schemas.openxmlformats.org/officeDocument/2006/relationships/diagramColors" Target="../diagrams/colors3.xml"/><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36.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2.xml"/><Relationship Id="rId1" Type="http://schemas.openxmlformats.org/officeDocument/2006/relationships/slideLayout" Target="../slideLayouts/slideLayout10.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7.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notesSlide" Target="../notesSlides/notesSlide13.xml"/><Relationship Id="rId1" Type="http://schemas.openxmlformats.org/officeDocument/2006/relationships/slideLayout" Target="../slideLayouts/slideLayout10.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8" Type="http://schemas.openxmlformats.org/officeDocument/2006/relationships/image" Target="../media/image93.jpeg"/><Relationship Id="rId13" Type="http://schemas.openxmlformats.org/officeDocument/2006/relationships/image" Target="../media/image98.jpeg"/><Relationship Id="rId18" Type="http://schemas.openxmlformats.org/officeDocument/2006/relationships/image" Target="../media/image103.png"/><Relationship Id="rId26" Type="http://schemas.openxmlformats.org/officeDocument/2006/relationships/image" Target="../media/image111.jpeg"/><Relationship Id="rId3" Type="http://schemas.openxmlformats.org/officeDocument/2006/relationships/image" Target="../media/image88.png"/><Relationship Id="rId21" Type="http://schemas.openxmlformats.org/officeDocument/2006/relationships/image" Target="../media/image106.jpeg"/><Relationship Id="rId7" Type="http://schemas.openxmlformats.org/officeDocument/2006/relationships/image" Target="../media/image92.jpeg"/><Relationship Id="rId12" Type="http://schemas.openxmlformats.org/officeDocument/2006/relationships/image" Target="../media/image97.jpeg"/><Relationship Id="rId17" Type="http://schemas.openxmlformats.org/officeDocument/2006/relationships/image" Target="../media/image102.jpeg"/><Relationship Id="rId25" Type="http://schemas.openxmlformats.org/officeDocument/2006/relationships/image" Target="../media/image110.jpeg"/><Relationship Id="rId2" Type="http://schemas.openxmlformats.org/officeDocument/2006/relationships/notesSlide" Target="../notesSlides/notesSlide14.xml"/><Relationship Id="rId16" Type="http://schemas.openxmlformats.org/officeDocument/2006/relationships/image" Target="../media/image101.jpeg"/><Relationship Id="rId20" Type="http://schemas.openxmlformats.org/officeDocument/2006/relationships/image" Target="../media/image105.png"/><Relationship Id="rId29" Type="http://schemas.openxmlformats.org/officeDocument/2006/relationships/image" Target="../media/image114.png"/><Relationship Id="rId1" Type="http://schemas.openxmlformats.org/officeDocument/2006/relationships/slideLayout" Target="../slideLayouts/slideLayout12.xml"/><Relationship Id="rId6" Type="http://schemas.openxmlformats.org/officeDocument/2006/relationships/image" Target="../media/image91.jpeg"/><Relationship Id="rId11" Type="http://schemas.openxmlformats.org/officeDocument/2006/relationships/image" Target="../media/image96.jpeg"/><Relationship Id="rId24" Type="http://schemas.openxmlformats.org/officeDocument/2006/relationships/image" Target="../media/image109.jpeg"/><Relationship Id="rId5" Type="http://schemas.openxmlformats.org/officeDocument/2006/relationships/image" Target="../media/image90.jpeg"/><Relationship Id="rId15" Type="http://schemas.openxmlformats.org/officeDocument/2006/relationships/image" Target="../media/image100.jpeg"/><Relationship Id="rId23" Type="http://schemas.openxmlformats.org/officeDocument/2006/relationships/image" Target="../media/image108.jpeg"/><Relationship Id="rId28" Type="http://schemas.openxmlformats.org/officeDocument/2006/relationships/image" Target="../media/image113.png"/><Relationship Id="rId10" Type="http://schemas.openxmlformats.org/officeDocument/2006/relationships/image" Target="../media/image95.jpeg"/><Relationship Id="rId19" Type="http://schemas.openxmlformats.org/officeDocument/2006/relationships/image" Target="../media/image104.jpeg"/><Relationship Id="rId31" Type="http://schemas.openxmlformats.org/officeDocument/2006/relationships/image" Target="../media/image116.jpeg"/><Relationship Id="rId4" Type="http://schemas.openxmlformats.org/officeDocument/2006/relationships/image" Target="../media/image89.jpeg"/><Relationship Id="rId9" Type="http://schemas.openxmlformats.org/officeDocument/2006/relationships/image" Target="../media/image94.jpeg"/><Relationship Id="rId14" Type="http://schemas.openxmlformats.org/officeDocument/2006/relationships/image" Target="../media/image99.jpeg"/><Relationship Id="rId22" Type="http://schemas.openxmlformats.org/officeDocument/2006/relationships/image" Target="../media/image107.jpeg"/><Relationship Id="rId27" Type="http://schemas.openxmlformats.org/officeDocument/2006/relationships/image" Target="../media/image112.jpeg"/><Relationship Id="rId30" Type="http://schemas.openxmlformats.org/officeDocument/2006/relationships/image" Target="../media/image115.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88451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CBBC79-5E76-3C53-898D-52E05829939B}"/>
              </a:ext>
            </a:extLst>
          </p:cNvPr>
          <p:cNvSpPr>
            <a:spLocks noGrp="1"/>
          </p:cNvSpPr>
          <p:nvPr>
            <p:ph sz="quarter" idx="12"/>
          </p:nvPr>
        </p:nvSpPr>
        <p:spPr>
          <a:xfrm>
            <a:off x="809765" y="1458458"/>
            <a:ext cx="10282183" cy="5080127"/>
          </a:xfrm>
        </p:spPr>
        <p:txBody>
          <a:bodyPr/>
          <a:lstStyle/>
          <a:p>
            <a:r>
              <a:rPr lang="en-US" dirty="0"/>
              <a:t>AI is perhaps the most revolutionary technology ever invented </a:t>
            </a:r>
            <a:br>
              <a:rPr lang="en-US" dirty="0"/>
            </a:br>
            <a:endParaRPr lang="en-US" dirty="0"/>
          </a:p>
          <a:p>
            <a:pPr lvl="1"/>
            <a:r>
              <a:rPr lang="en-US" dirty="0"/>
              <a:t>Changing the fundamentals of science and healthcare</a:t>
            </a:r>
            <a:br>
              <a:rPr lang="en-US" dirty="0"/>
            </a:br>
            <a:endParaRPr lang="en-US" dirty="0"/>
          </a:p>
          <a:p>
            <a:pPr lvl="1"/>
            <a:r>
              <a:rPr lang="en-US" dirty="0"/>
              <a:t>Superhuman performance is already here</a:t>
            </a:r>
            <a:br>
              <a:rPr lang="en-US" dirty="0"/>
            </a:br>
            <a:endParaRPr lang="en-US" dirty="0"/>
          </a:p>
          <a:p>
            <a:pPr lvl="1"/>
            <a:r>
              <a:rPr lang="en-US" dirty="0"/>
              <a:t>Lack of synergy: AI plus Human </a:t>
            </a:r>
            <a:r>
              <a:rPr lang="en-US" i="1" dirty="0"/>
              <a:t>is not </a:t>
            </a:r>
            <a:r>
              <a:rPr lang="en-US" dirty="0"/>
              <a:t>1+1 = 2</a:t>
            </a:r>
          </a:p>
          <a:p>
            <a:pPr lvl="1"/>
            <a:endParaRPr lang="en-US" sz="2800" dirty="0"/>
          </a:p>
          <a:p>
            <a:pPr lvl="1"/>
            <a:r>
              <a:rPr lang="en-US" dirty="0"/>
              <a:t>Casual use of AI can result in deskilling or never skilling</a:t>
            </a:r>
          </a:p>
          <a:p>
            <a:pPr lvl="1"/>
            <a:endParaRPr lang="en-US" dirty="0"/>
          </a:p>
          <a:p>
            <a:r>
              <a:rPr lang="en-US" dirty="0"/>
              <a:t>Opportunities to collaborate?</a:t>
            </a:r>
          </a:p>
          <a:p>
            <a:pPr lvl="1"/>
            <a:endParaRPr lang="en-US" dirty="0"/>
          </a:p>
        </p:txBody>
      </p:sp>
      <p:sp>
        <p:nvSpPr>
          <p:cNvPr id="3" name="Title 2">
            <a:extLst>
              <a:ext uri="{FF2B5EF4-FFF2-40B4-BE49-F238E27FC236}">
                <a16:creationId xmlns:a16="http://schemas.microsoft.com/office/drawing/2014/main" id="{1EAA126C-1098-27A8-E79B-13A66B212D63}"/>
              </a:ext>
            </a:extLst>
          </p:cNvPr>
          <p:cNvSpPr>
            <a:spLocks noGrp="1"/>
          </p:cNvSpPr>
          <p:nvPr>
            <p:ph type="title"/>
          </p:nvPr>
        </p:nvSpPr>
        <p:spPr>
          <a:xfrm>
            <a:off x="431800" y="132896"/>
            <a:ext cx="10515600" cy="1325563"/>
          </a:xfrm>
        </p:spPr>
        <p:txBody>
          <a:bodyPr/>
          <a:lstStyle/>
          <a:p>
            <a:r>
              <a:rPr lang="en-US" dirty="0"/>
              <a:t>Why do we need a Center for AI?</a:t>
            </a:r>
          </a:p>
        </p:txBody>
      </p:sp>
    </p:spTree>
    <p:extLst>
      <p:ext uri="{BB962C8B-B14F-4D97-AF65-F5344CB8AC3E}">
        <p14:creationId xmlns:p14="http://schemas.microsoft.com/office/powerpoint/2010/main" val="8090354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artoon of a person vacuuming a robot&#10;&#10;AI-generated content may be incorrect.">
            <a:extLst>
              <a:ext uri="{FF2B5EF4-FFF2-40B4-BE49-F238E27FC236}">
                <a16:creationId xmlns:a16="http://schemas.microsoft.com/office/drawing/2014/main" id="{14C9B8A7-2595-B18D-A1AF-0FF50BA4F0E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53393" y="507516"/>
            <a:ext cx="5527663" cy="6105555"/>
          </a:xfrm>
          <a:prstGeom prst="rect">
            <a:avLst/>
          </a:prstGeom>
        </p:spPr>
      </p:pic>
      <p:sp>
        <p:nvSpPr>
          <p:cNvPr id="2" name="Title 1">
            <a:extLst>
              <a:ext uri="{FF2B5EF4-FFF2-40B4-BE49-F238E27FC236}">
                <a16:creationId xmlns:a16="http://schemas.microsoft.com/office/drawing/2014/main" id="{8FE148D9-9E60-88B4-1359-D38E35F67E5F}"/>
              </a:ext>
            </a:extLst>
          </p:cNvPr>
          <p:cNvSpPr>
            <a:spLocks noGrp="1"/>
          </p:cNvSpPr>
          <p:nvPr>
            <p:ph type="title"/>
          </p:nvPr>
        </p:nvSpPr>
        <p:spPr>
          <a:xfrm>
            <a:off x="6884276" y="1952296"/>
            <a:ext cx="4428207" cy="1143000"/>
          </a:xfrm>
        </p:spPr>
        <p:txBody>
          <a:bodyPr>
            <a:normAutofit fontScale="90000"/>
          </a:bodyPr>
          <a:lstStyle/>
          <a:p>
            <a:r>
              <a:rPr lang="en-US" dirty="0"/>
              <a:t>We need a Center at Rutgers Health to create the future</a:t>
            </a:r>
            <a:br>
              <a:rPr lang="en-US" dirty="0"/>
            </a:br>
            <a:r>
              <a:rPr lang="en-US" dirty="0"/>
              <a:t>we want</a:t>
            </a:r>
          </a:p>
        </p:txBody>
      </p:sp>
    </p:spTree>
    <p:extLst>
      <p:ext uri="{BB962C8B-B14F-4D97-AF65-F5344CB8AC3E}">
        <p14:creationId xmlns:p14="http://schemas.microsoft.com/office/powerpoint/2010/main" val="3469000708"/>
      </p:ext>
    </p:extLst>
  </p:cSld>
  <p:clrMapOvr>
    <a:masterClrMapping/>
  </p:clrMapOvr>
  <p:transition spd="slow" advClick="0" advTm="700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Ernest Mario School of Pharmacy - Wikipedia">
            <a:extLst>
              <a:ext uri="{FF2B5EF4-FFF2-40B4-BE49-F238E27FC236}">
                <a16:creationId xmlns:a16="http://schemas.microsoft.com/office/drawing/2014/main" id="{3728ABBE-A0AF-B895-EFB5-9D23C7E763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76889" y="3744308"/>
            <a:ext cx="2221292" cy="102005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Rutgers Cancer Institute of New Jersey ...">
            <a:extLst>
              <a:ext uri="{FF2B5EF4-FFF2-40B4-BE49-F238E27FC236}">
                <a16:creationId xmlns:a16="http://schemas.microsoft.com/office/drawing/2014/main" id="{5B08DBE0-BB54-C89E-A381-EA819D79F6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423" y="4648230"/>
            <a:ext cx="1981559" cy="1022536"/>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Office of Research - Research">
            <a:extLst>
              <a:ext uri="{FF2B5EF4-FFF2-40B4-BE49-F238E27FC236}">
                <a16:creationId xmlns:a16="http://schemas.microsoft.com/office/drawing/2014/main" id="{3281F961-68C5-260F-7CAA-FB5BF157AA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08099" y="2517252"/>
            <a:ext cx="2935821" cy="796963"/>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Rutgers New Jersey Medical School">
            <a:extLst>
              <a:ext uri="{FF2B5EF4-FFF2-40B4-BE49-F238E27FC236}">
                <a16:creationId xmlns:a16="http://schemas.microsoft.com/office/drawing/2014/main" id="{03C002AF-A323-EC9E-3692-4384E23A695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04918" y="2304549"/>
            <a:ext cx="2589920" cy="753318"/>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Rutgers RWJMS Family Medicine Residency ...">
            <a:extLst>
              <a:ext uri="{FF2B5EF4-FFF2-40B4-BE49-F238E27FC236}">
                <a16:creationId xmlns:a16="http://schemas.microsoft.com/office/drawing/2014/main" id="{A5A6630C-0E5F-1E3E-B1FE-13F9AF175736}"/>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24178" b="25822"/>
          <a:stretch/>
        </p:blipFill>
        <p:spPr bwMode="auto">
          <a:xfrm>
            <a:off x="1485984" y="3274853"/>
            <a:ext cx="2651125" cy="1325563"/>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Rutgers University and RWJBarnabas Health Announce Clinical Alignment">
            <a:extLst>
              <a:ext uri="{FF2B5EF4-FFF2-40B4-BE49-F238E27FC236}">
                <a16:creationId xmlns:a16="http://schemas.microsoft.com/office/drawing/2014/main" id="{55EA93D6-8E03-F0EB-E2E7-EEF687AC2B77}"/>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54625" t="31411" b="35123"/>
          <a:stretch/>
        </p:blipFill>
        <p:spPr bwMode="auto">
          <a:xfrm>
            <a:off x="3744223" y="5078580"/>
            <a:ext cx="3875475" cy="1693841"/>
          </a:xfrm>
          <a:prstGeom prst="rect">
            <a:avLst/>
          </a:prstGeom>
          <a:noFill/>
          <a:extLst>
            <a:ext uri="{909E8E84-426E-40DD-AFC4-6F175D3DCCD1}">
              <a14:hiddenFill xmlns:a14="http://schemas.microsoft.com/office/drawing/2010/main">
                <a:solidFill>
                  <a:srgbClr val="FFFFFF"/>
                </a:solidFill>
              </a14:hiddenFill>
            </a:ext>
          </a:extLst>
        </p:spPr>
      </p:pic>
      <p:pic>
        <p:nvPicPr>
          <p:cNvPr id="3086" name="Picture 14" descr="Profile for Rutgers School of Nursing">
            <a:extLst>
              <a:ext uri="{FF2B5EF4-FFF2-40B4-BE49-F238E27FC236}">
                <a16:creationId xmlns:a16="http://schemas.microsoft.com/office/drawing/2014/main" id="{3DD8B05C-E3A8-7DB7-29EE-A9C09353E7C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368377" y="4602373"/>
            <a:ext cx="1071562" cy="1071562"/>
          </a:xfrm>
          <a:prstGeom prst="rect">
            <a:avLst/>
          </a:prstGeom>
          <a:noFill/>
          <a:extLst>
            <a:ext uri="{909E8E84-426E-40DD-AFC4-6F175D3DCCD1}">
              <a14:hiddenFill xmlns:a14="http://schemas.microsoft.com/office/drawing/2010/main">
                <a:solidFill>
                  <a:srgbClr val="FFFFFF"/>
                </a:solidFill>
              </a14:hiddenFill>
            </a:ext>
          </a:extLst>
        </p:spPr>
      </p:pic>
      <p:pic>
        <p:nvPicPr>
          <p:cNvPr id="3088" name="Picture 16" descr="Rutgers School of Dental Medicine">
            <a:extLst>
              <a:ext uri="{FF2B5EF4-FFF2-40B4-BE49-F238E27FC236}">
                <a16:creationId xmlns:a16="http://schemas.microsoft.com/office/drawing/2014/main" id="{923C334C-A8CD-C4D4-E565-AD19E94C432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148146" y="3423962"/>
            <a:ext cx="1521412" cy="1240349"/>
          </a:xfrm>
          <a:prstGeom prst="rect">
            <a:avLst/>
          </a:prstGeom>
          <a:noFill/>
          <a:extLst>
            <a:ext uri="{909E8E84-426E-40DD-AFC4-6F175D3DCCD1}">
              <a14:hiddenFill xmlns:a14="http://schemas.microsoft.com/office/drawing/2010/main">
                <a:solidFill>
                  <a:srgbClr val="FFFFFF"/>
                </a:solidFill>
              </a14:hiddenFill>
            </a:ext>
          </a:extLst>
        </p:spPr>
      </p:pic>
      <p:pic>
        <p:nvPicPr>
          <p:cNvPr id="3094" name="Picture 22" descr="Profile for Rutgers School of Public Health">
            <a:extLst>
              <a:ext uri="{FF2B5EF4-FFF2-40B4-BE49-F238E27FC236}">
                <a16:creationId xmlns:a16="http://schemas.microsoft.com/office/drawing/2014/main" id="{238C8BD7-F0E9-02CA-3E2A-EC48CD1CFD6D}"/>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t="21514" b="22510"/>
          <a:stretch/>
        </p:blipFill>
        <p:spPr bwMode="auto">
          <a:xfrm>
            <a:off x="8872845" y="4865257"/>
            <a:ext cx="1453910" cy="813849"/>
          </a:xfrm>
          <a:prstGeom prst="rect">
            <a:avLst/>
          </a:prstGeom>
          <a:noFill/>
          <a:extLst>
            <a:ext uri="{909E8E84-426E-40DD-AFC4-6F175D3DCCD1}">
              <a14:hiddenFill xmlns:a14="http://schemas.microsoft.com/office/drawing/2010/main">
                <a:solidFill>
                  <a:srgbClr val="FFFFFF"/>
                </a:solidFill>
              </a14:hiddenFill>
            </a:ext>
          </a:extLst>
        </p:spPr>
      </p:pic>
      <p:pic>
        <p:nvPicPr>
          <p:cNvPr id="3096" name="Picture 24" descr="Rutgers | School of Graduate Studies ...">
            <a:extLst>
              <a:ext uri="{FF2B5EF4-FFF2-40B4-BE49-F238E27FC236}">
                <a16:creationId xmlns:a16="http://schemas.microsoft.com/office/drawing/2014/main" id="{5BFED1C4-4349-B2C8-6B94-8F7D72B2C6F6}"/>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t="29877" b="31504"/>
          <a:stretch/>
        </p:blipFill>
        <p:spPr bwMode="auto">
          <a:xfrm>
            <a:off x="6436537" y="4895859"/>
            <a:ext cx="2143125" cy="827654"/>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6" descr="AI in Healthcare graphic">
            <a:extLst>
              <a:ext uri="{FF2B5EF4-FFF2-40B4-BE49-F238E27FC236}">
                <a16:creationId xmlns:a16="http://schemas.microsoft.com/office/drawing/2014/main" id="{C16ECE6E-34AD-1327-6968-719A1C7D221C}"/>
              </a:ext>
            </a:extLst>
          </p:cNvPr>
          <p:cNvPicPr>
            <a:picLocks noChangeAspect="1" noChangeArrowheads="1"/>
          </p:cNvPicPr>
          <p:nvPr/>
        </p:nvPicPr>
        <p:blipFill>
          <a:blip r:embed="rId12">
            <a:extLst>
              <a:ext uri="{BEBA8EAE-BF5A-486C-A8C5-ECC9F3942E4B}">
                <a14:imgProps xmlns:a14="http://schemas.microsoft.com/office/drawing/2010/main">
                  <a14:imgLayer r:embed="rId13">
                    <a14:imgEffect>
                      <a14:artisticPencilSketch/>
                    </a14:imgEffect>
                  </a14:imgLayer>
                </a14:imgProps>
              </a:ext>
              <a:ext uri="{28A0092B-C50C-407E-A947-70E740481C1C}">
                <a14:useLocalDpi xmlns:a14="http://schemas.microsoft.com/office/drawing/2010/main" val="0"/>
              </a:ext>
            </a:extLst>
          </a:blip>
          <a:srcRect/>
          <a:stretch>
            <a:fillRect/>
          </a:stretch>
        </p:blipFill>
        <p:spPr bwMode="auto">
          <a:xfrm>
            <a:off x="5052566" y="1760958"/>
            <a:ext cx="1786112" cy="178611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026" name="Picture 2" descr="IFH Accelerator">
            <a:extLst>
              <a:ext uri="{FF2B5EF4-FFF2-40B4-BE49-F238E27FC236}">
                <a16:creationId xmlns:a16="http://schemas.microsoft.com/office/drawing/2014/main" id="{0801E356-9F3E-3F25-B0F8-E5238577CBA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489365" y="3631743"/>
            <a:ext cx="2385193" cy="73982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utgers Brain Health Institute">
            <a:extLst>
              <a:ext uri="{FF2B5EF4-FFF2-40B4-BE49-F238E27FC236}">
                <a16:creationId xmlns:a16="http://schemas.microsoft.com/office/drawing/2014/main" id="{AA017E64-6F35-ADC3-44E2-78D83E307BA8}"/>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992078" y="4854583"/>
            <a:ext cx="2578274" cy="41289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Rutgers Institute for Translational ...">
            <a:extLst>
              <a:ext uri="{FF2B5EF4-FFF2-40B4-BE49-F238E27FC236}">
                <a16:creationId xmlns:a16="http://schemas.microsoft.com/office/drawing/2014/main" id="{03050FE9-6B4A-67AB-CB7E-1381EBA273D7}"/>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t="33022" b="36981"/>
          <a:stretch/>
        </p:blipFill>
        <p:spPr bwMode="auto">
          <a:xfrm>
            <a:off x="3700147" y="4553452"/>
            <a:ext cx="3138531" cy="35692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033C49C-C15B-7792-5B89-224AE21A5910}"/>
              </a:ext>
            </a:extLst>
          </p:cNvPr>
          <p:cNvSpPr>
            <a:spLocks noGrp="1"/>
          </p:cNvSpPr>
          <p:nvPr>
            <p:ph type="title"/>
          </p:nvPr>
        </p:nvSpPr>
        <p:spPr>
          <a:xfrm>
            <a:off x="424160" y="111970"/>
            <a:ext cx="10515600" cy="1325563"/>
          </a:xfrm>
        </p:spPr>
        <p:txBody>
          <a:bodyPr/>
          <a:lstStyle/>
          <a:p>
            <a:pPr algn="ctr"/>
            <a:r>
              <a:rPr lang="en-US" dirty="0"/>
              <a:t>We best create this future by building </a:t>
            </a:r>
            <a:br>
              <a:rPr lang="en-US" dirty="0"/>
            </a:br>
            <a:r>
              <a:rPr lang="en-US" dirty="0"/>
              <a:t> bridges across all of Rutgers Health</a:t>
            </a:r>
          </a:p>
        </p:txBody>
      </p:sp>
    </p:spTree>
    <p:extLst>
      <p:ext uri="{BB962C8B-B14F-4D97-AF65-F5344CB8AC3E}">
        <p14:creationId xmlns:p14="http://schemas.microsoft.com/office/powerpoint/2010/main" val="3923510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D2D86-76B4-E963-B245-F7ADDE938A41}"/>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BE5AA35B-DD54-5236-45E7-A31EBD82BB24}"/>
              </a:ext>
            </a:extLst>
          </p:cNvPr>
          <p:cNvGrpSpPr/>
          <p:nvPr/>
        </p:nvGrpSpPr>
        <p:grpSpPr>
          <a:xfrm>
            <a:off x="762503" y="1346723"/>
            <a:ext cx="4010900" cy="3828597"/>
            <a:chOff x="3971726" y="1433761"/>
            <a:chExt cx="3638946" cy="3446923"/>
          </a:xfrm>
        </p:grpSpPr>
        <p:sp>
          <p:nvSpPr>
            <p:cNvPr id="10" name="Oval 9">
              <a:extLst>
                <a:ext uri="{FF2B5EF4-FFF2-40B4-BE49-F238E27FC236}">
                  <a16:creationId xmlns:a16="http://schemas.microsoft.com/office/drawing/2014/main" id="{B17EE260-8DD2-4229-7A85-E5295E916B30}"/>
                </a:ext>
              </a:extLst>
            </p:cNvPr>
            <p:cNvSpPr/>
            <p:nvPr/>
          </p:nvSpPr>
          <p:spPr>
            <a:xfrm>
              <a:off x="3971726" y="1433761"/>
              <a:ext cx="3638946" cy="3446923"/>
            </a:xfrm>
            <a:prstGeom prst="ellipse">
              <a:avLst/>
            </a:prstGeom>
            <a:blipFill rotWithShape="0">
              <a:blip r:embed="rId2"/>
              <a:stretch>
                <a:fillRect/>
              </a:stretch>
            </a:blipFill>
          </p:spPr>
          <p:style>
            <a:lnRef idx="0">
              <a:schemeClr val="lt1">
                <a:hueOff val="0"/>
                <a:satOff val="0"/>
                <a:lumOff val="0"/>
                <a:alphaOff val="0"/>
              </a:schemeClr>
            </a:lnRef>
            <a:fillRef idx="3">
              <a:scrgbClr r="0" g="0" b="0"/>
            </a:fillRef>
            <a:effectRef idx="0">
              <a:schemeClr val="accent2">
                <a:alpha val="50000"/>
                <a:hueOff val="0"/>
                <a:satOff val="0"/>
                <a:lumOff val="0"/>
                <a:alphaOff val="0"/>
              </a:schemeClr>
            </a:effectRef>
            <a:fontRef idx="minor">
              <a:schemeClr val="tx1"/>
            </a:fontRef>
          </p:style>
          <p:txBody>
            <a:bodyPr/>
            <a:lstStyle/>
            <a:p>
              <a:endParaRPr lang="en-US"/>
            </a:p>
          </p:txBody>
        </p:sp>
        <p:sp>
          <p:nvSpPr>
            <p:cNvPr id="11" name="Oval 4">
              <a:extLst>
                <a:ext uri="{FF2B5EF4-FFF2-40B4-BE49-F238E27FC236}">
                  <a16:creationId xmlns:a16="http://schemas.microsoft.com/office/drawing/2014/main" id="{413695F8-D114-F54A-1744-72B1FF037DEE}"/>
                </a:ext>
              </a:extLst>
            </p:cNvPr>
            <p:cNvSpPr txBox="1"/>
            <p:nvPr/>
          </p:nvSpPr>
          <p:spPr>
            <a:xfrm>
              <a:off x="4504637" y="1938551"/>
              <a:ext cx="2573124" cy="2437343"/>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br>
                <a:rPr lang="en-US" sz="2900" kern="1200" dirty="0"/>
              </a:br>
              <a:endParaRPr lang="en-US" sz="2900" kern="1200" dirty="0"/>
            </a:p>
          </p:txBody>
        </p:sp>
      </p:grpSp>
      <p:sp>
        <p:nvSpPr>
          <p:cNvPr id="3" name="TextBox 2">
            <a:extLst>
              <a:ext uri="{FF2B5EF4-FFF2-40B4-BE49-F238E27FC236}">
                <a16:creationId xmlns:a16="http://schemas.microsoft.com/office/drawing/2014/main" id="{A66A2CB0-0191-8DED-5E7C-36FE56238CCC}"/>
              </a:ext>
            </a:extLst>
          </p:cNvPr>
          <p:cNvSpPr txBox="1"/>
          <p:nvPr/>
        </p:nvSpPr>
        <p:spPr>
          <a:xfrm>
            <a:off x="478168" y="5151672"/>
            <a:ext cx="4643835" cy="954107"/>
          </a:xfrm>
          <a:prstGeom prst="rect">
            <a:avLst/>
          </a:prstGeom>
          <a:noFill/>
        </p:spPr>
        <p:txBody>
          <a:bodyPr wrap="none" rtlCol="0">
            <a:spAutoFit/>
          </a:bodyPr>
          <a:lstStyle/>
          <a:p>
            <a:r>
              <a:rPr lang="en-US" sz="2800" dirty="0"/>
              <a:t>An AI-enabled Learning </a:t>
            </a:r>
            <a:br>
              <a:rPr lang="en-US" sz="2800" dirty="0"/>
            </a:br>
            <a:r>
              <a:rPr lang="en-US" sz="2800" dirty="0"/>
              <a:t>Health and Research System</a:t>
            </a:r>
          </a:p>
        </p:txBody>
      </p:sp>
      <p:pic>
        <p:nvPicPr>
          <p:cNvPr id="12" name="Picture 11" descr="A person standing in front of a computer screen&#10;&#10;AI-generated content may be incorrect.">
            <a:extLst>
              <a:ext uri="{FF2B5EF4-FFF2-40B4-BE49-F238E27FC236}">
                <a16:creationId xmlns:a16="http://schemas.microsoft.com/office/drawing/2014/main" id="{AF5D7FCD-3B7A-F296-F1BF-D64A0C9FA572}"/>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7194177" y="1605031"/>
            <a:ext cx="3647938" cy="3647938"/>
          </a:xfrm>
          <a:prstGeom prst="rect">
            <a:avLst/>
          </a:prstGeom>
        </p:spPr>
      </p:pic>
      <p:sp>
        <p:nvSpPr>
          <p:cNvPr id="13" name="TextBox 12">
            <a:extLst>
              <a:ext uri="{FF2B5EF4-FFF2-40B4-BE49-F238E27FC236}">
                <a16:creationId xmlns:a16="http://schemas.microsoft.com/office/drawing/2014/main" id="{4DEB642E-E944-5BC8-82D0-0AFE45B4F53C}"/>
              </a:ext>
            </a:extLst>
          </p:cNvPr>
          <p:cNvSpPr txBox="1"/>
          <p:nvPr/>
        </p:nvSpPr>
        <p:spPr>
          <a:xfrm>
            <a:off x="6632524" y="5197054"/>
            <a:ext cx="4957704" cy="954107"/>
          </a:xfrm>
          <a:prstGeom prst="rect">
            <a:avLst/>
          </a:prstGeom>
          <a:noFill/>
        </p:spPr>
        <p:txBody>
          <a:bodyPr wrap="none" rtlCol="0">
            <a:spAutoFit/>
          </a:bodyPr>
          <a:lstStyle/>
          <a:p>
            <a:r>
              <a:rPr lang="en-US" sz="2800" dirty="0"/>
              <a:t>An AI-enabled Medical</a:t>
            </a:r>
            <a:br>
              <a:rPr lang="en-US" sz="2800" dirty="0"/>
            </a:br>
            <a:r>
              <a:rPr lang="en-US" sz="2800" dirty="0"/>
              <a:t>and Science Education System</a:t>
            </a:r>
          </a:p>
        </p:txBody>
      </p:sp>
      <p:pic>
        <p:nvPicPr>
          <p:cNvPr id="17" name="Picture 16" descr="A logo of a bridge&#10;&#10;AI-generated content may be incorrect.">
            <a:extLst>
              <a:ext uri="{FF2B5EF4-FFF2-40B4-BE49-F238E27FC236}">
                <a16:creationId xmlns:a16="http://schemas.microsoft.com/office/drawing/2014/main" id="{EA728AFA-4BAD-B792-4B35-74A44D51DE0C}"/>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97822" y="2843973"/>
            <a:ext cx="1996356" cy="1074822"/>
          </a:xfrm>
          <a:prstGeom prst="rect">
            <a:avLst/>
          </a:prstGeom>
        </p:spPr>
      </p:pic>
      <p:sp>
        <p:nvSpPr>
          <p:cNvPr id="18" name="TextBox 17">
            <a:extLst>
              <a:ext uri="{FF2B5EF4-FFF2-40B4-BE49-F238E27FC236}">
                <a16:creationId xmlns:a16="http://schemas.microsoft.com/office/drawing/2014/main" id="{059F93E0-99F7-32B0-DFB9-52716CA1206F}"/>
              </a:ext>
            </a:extLst>
          </p:cNvPr>
          <p:cNvSpPr txBox="1"/>
          <p:nvPr/>
        </p:nvSpPr>
        <p:spPr>
          <a:xfrm>
            <a:off x="4860067" y="1928779"/>
            <a:ext cx="2048959" cy="830997"/>
          </a:xfrm>
          <a:prstGeom prst="rect">
            <a:avLst/>
          </a:prstGeom>
          <a:noFill/>
        </p:spPr>
        <p:txBody>
          <a:bodyPr wrap="none" rtlCol="0">
            <a:spAutoFit/>
          </a:bodyPr>
          <a:lstStyle/>
          <a:p>
            <a:pPr algn="ctr"/>
            <a:r>
              <a:rPr lang="en-US" sz="2400" b="1" dirty="0"/>
              <a:t>Living </a:t>
            </a:r>
            <a:br>
              <a:rPr lang="en-US" sz="2400" b="1" dirty="0"/>
            </a:br>
            <a:r>
              <a:rPr lang="en-US" sz="2400" b="1" dirty="0"/>
              <a:t>Laboratories</a:t>
            </a:r>
          </a:p>
        </p:txBody>
      </p:sp>
      <p:sp>
        <p:nvSpPr>
          <p:cNvPr id="19" name="TextBox 18">
            <a:extLst>
              <a:ext uri="{FF2B5EF4-FFF2-40B4-BE49-F238E27FC236}">
                <a16:creationId xmlns:a16="http://schemas.microsoft.com/office/drawing/2014/main" id="{73A61A5C-F25B-3EDE-706C-9DCD318D2B21}"/>
              </a:ext>
            </a:extLst>
          </p:cNvPr>
          <p:cNvSpPr txBox="1"/>
          <p:nvPr/>
        </p:nvSpPr>
        <p:spPr>
          <a:xfrm>
            <a:off x="5356477" y="4002993"/>
            <a:ext cx="1208985" cy="830997"/>
          </a:xfrm>
          <a:prstGeom prst="rect">
            <a:avLst/>
          </a:prstGeom>
          <a:noFill/>
        </p:spPr>
        <p:txBody>
          <a:bodyPr wrap="none" rtlCol="0">
            <a:spAutoFit/>
          </a:bodyPr>
          <a:lstStyle/>
          <a:p>
            <a:r>
              <a:rPr lang="en-US" sz="2400" b="1" dirty="0"/>
              <a:t>Digital </a:t>
            </a:r>
            <a:br>
              <a:rPr lang="en-US" sz="2400" b="1" dirty="0"/>
            </a:br>
            <a:r>
              <a:rPr lang="en-US" sz="2400" b="1" dirty="0"/>
              <a:t>Twins</a:t>
            </a:r>
          </a:p>
        </p:txBody>
      </p:sp>
      <p:sp>
        <p:nvSpPr>
          <p:cNvPr id="5" name="Title 4">
            <a:extLst>
              <a:ext uri="{FF2B5EF4-FFF2-40B4-BE49-F238E27FC236}">
                <a16:creationId xmlns:a16="http://schemas.microsoft.com/office/drawing/2014/main" id="{EDA24B0E-F669-402B-F061-972E27A9652F}"/>
              </a:ext>
            </a:extLst>
          </p:cNvPr>
          <p:cNvSpPr>
            <a:spLocks noGrp="1"/>
          </p:cNvSpPr>
          <p:nvPr>
            <p:ph type="title"/>
          </p:nvPr>
        </p:nvSpPr>
        <p:spPr>
          <a:xfrm>
            <a:off x="342283" y="93973"/>
            <a:ext cx="10515600" cy="1325563"/>
          </a:xfrm>
        </p:spPr>
        <p:txBody>
          <a:bodyPr/>
          <a:lstStyle/>
          <a:p>
            <a:r>
              <a:rPr lang="en-US" dirty="0"/>
              <a:t>“Ethical Plus” AI: Ethical, synergistic,  skills enhancing</a:t>
            </a:r>
          </a:p>
        </p:txBody>
      </p:sp>
    </p:spTree>
    <p:extLst>
      <p:ext uri="{BB962C8B-B14F-4D97-AF65-F5344CB8AC3E}">
        <p14:creationId xmlns:p14="http://schemas.microsoft.com/office/powerpoint/2010/main" val="2438964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9720A6E-EEAA-8B3B-E056-0ECA77EB83B4}"/>
              </a:ext>
            </a:extLst>
          </p:cNvPr>
          <p:cNvSpPr>
            <a:spLocks noGrp="1"/>
          </p:cNvSpPr>
          <p:nvPr>
            <p:ph type="title"/>
          </p:nvPr>
        </p:nvSpPr>
        <p:spPr>
          <a:xfrm>
            <a:off x="394138" y="343979"/>
            <a:ext cx="10959662" cy="1346709"/>
          </a:xfrm>
        </p:spPr>
        <p:txBody>
          <a:bodyPr/>
          <a:lstStyle/>
          <a:p>
            <a:r>
              <a:rPr lang="en-US" dirty="0"/>
              <a:t>The (Short) History of the BMIHAI</a:t>
            </a:r>
          </a:p>
        </p:txBody>
      </p:sp>
      <p:pic>
        <p:nvPicPr>
          <p:cNvPr id="4" name="Picture 2" descr="Photo">
            <a:extLst>
              <a:ext uri="{FF2B5EF4-FFF2-40B4-BE49-F238E27FC236}">
                <a16:creationId xmlns:a16="http://schemas.microsoft.com/office/drawing/2014/main" id="{E3EBDBD7-4CE7-EAA4-56A7-CD1AF1052C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8010" y="2893742"/>
            <a:ext cx="3510225" cy="234087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6" descr="AI in Healthcare graphic">
            <a:extLst>
              <a:ext uri="{FF2B5EF4-FFF2-40B4-BE49-F238E27FC236}">
                <a16:creationId xmlns:a16="http://schemas.microsoft.com/office/drawing/2014/main" id="{FFCFA643-A9F9-9810-BEAD-D9589ED7DE76}"/>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artisticPencilSketch/>
                    </a14:imgEffect>
                  </a14:imgLayer>
                </a14:imgProps>
              </a:ext>
              <a:ext uri="{28A0092B-C50C-407E-A947-70E740481C1C}">
                <a14:useLocalDpi xmlns:a14="http://schemas.microsoft.com/office/drawing/2010/main" val="0"/>
              </a:ext>
            </a:extLst>
          </a:blip>
          <a:srcRect/>
          <a:stretch>
            <a:fillRect/>
          </a:stretch>
        </p:blipFill>
        <p:spPr bwMode="auto">
          <a:xfrm>
            <a:off x="7574266" y="2080042"/>
            <a:ext cx="1346710" cy="134671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8AF3DEC2-1778-DD8F-77B2-567374039D32}"/>
              </a:ext>
            </a:extLst>
          </p:cNvPr>
          <p:cNvSpPr txBox="1">
            <a:spLocks/>
          </p:cNvSpPr>
          <p:nvPr/>
        </p:nvSpPr>
        <p:spPr>
          <a:xfrm>
            <a:off x="394138" y="1453600"/>
            <a:ext cx="10515600" cy="4351338"/>
          </a:xfr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p>
          <a:p>
            <a:r>
              <a:rPr lang="en-US" dirty="0"/>
              <a:t>Center for Biomedical Informatics &amp; </a:t>
            </a:r>
            <a:br>
              <a:rPr lang="en-US" dirty="0"/>
            </a:br>
            <a:r>
              <a:rPr lang="en-US" dirty="0"/>
              <a:t>Health AI  (BMIHAI) was established on </a:t>
            </a:r>
            <a:br>
              <a:rPr lang="en-US" dirty="0"/>
            </a:br>
            <a:r>
              <a:rPr lang="en-US" dirty="0"/>
              <a:t>Oct 3</a:t>
            </a:r>
            <a:r>
              <a:rPr lang="en-US" baseline="30000" dirty="0"/>
              <a:t>rd</a:t>
            </a:r>
            <a:r>
              <a:rPr lang="en-US" dirty="0"/>
              <a:t>, 2024 (using Roadmaps and </a:t>
            </a:r>
            <a:br>
              <a:rPr lang="en-US" dirty="0"/>
            </a:br>
            <a:r>
              <a:rPr lang="en-US" dirty="0"/>
              <a:t>Chancellor funds)</a:t>
            </a:r>
          </a:p>
          <a:p>
            <a:r>
              <a:rPr lang="en-US" dirty="0"/>
              <a:t>First symposium health in Spring of 2025</a:t>
            </a:r>
          </a:p>
          <a:p>
            <a:r>
              <a:rPr lang="en-US" dirty="0"/>
              <a:t>First grants/educational programs in June of 2025</a:t>
            </a:r>
          </a:p>
          <a:p>
            <a:r>
              <a:rPr lang="en-US" dirty="0"/>
              <a:t>Inaugural Director Leslie Lenert appointed</a:t>
            </a:r>
            <a:br>
              <a:rPr lang="en-US" dirty="0"/>
            </a:br>
            <a:r>
              <a:rPr lang="en-US" dirty="0"/>
              <a:t>Nov 1, 2025</a:t>
            </a:r>
          </a:p>
          <a:p>
            <a:endParaRPr lang="en-US" dirty="0"/>
          </a:p>
        </p:txBody>
      </p:sp>
    </p:spTree>
    <p:extLst>
      <p:ext uri="{BB962C8B-B14F-4D97-AF65-F5344CB8AC3E}">
        <p14:creationId xmlns:p14="http://schemas.microsoft.com/office/powerpoint/2010/main" val="802596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FB82F-5426-4BB7-AA34-06BAEE575EB4}"/>
            </a:ext>
          </a:extLst>
        </p:cNvPr>
        <p:cNvGrpSpPr/>
        <p:nvPr/>
      </p:nvGrpSpPr>
      <p:grpSpPr>
        <a:xfrm>
          <a:off x="0" y="0"/>
          <a:ext cx="0" cy="0"/>
          <a:chOff x="0" y="0"/>
          <a:chExt cx="0" cy="0"/>
        </a:xfrm>
      </p:grpSpPr>
      <p:pic>
        <p:nvPicPr>
          <p:cNvPr id="19" name="Picture 5" descr="David J. Foran, PhD">
            <a:extLst>
              <a:ext uri="{FF2B5EF4-FFF2-40B4-BE49-F238E27FC236}">
                <a16:creationId xmlns:a16="http://schemas.microsoft.com/office/drawing/2014/main" id="{27A26E89-1E5D-0735-5BEF-78D7F8EFC1FC}"/>
              </a:ext>
            </a:extLst>
          </p:cNvPr>
          <p:cNvPicPr>
            <a:picLocks noChangeAspect="1" noChangeArrowheads="1"/>
          </p:cNvPicPr>
          <p:nvPr/>
        </p:nvPicPr>
        <p:blipFill rotWithShape="1">
          <a:blip r:embed="rId2" cstate="print">
            <a:extLst>
              <a:ext uri="{28A0092B-C50C-407E-A947-70E740481C1C}">
                <a14:useLocalDpi xmlns:a14="http://schemas.microsoft.com/office/drawing/2010/main"/>
              </a:ext>
            </a:extLst>
          </a:blip>
          <a:srcRect/>
          <a:stretch>
            <a:fillRect/>
          </a:stretch>
        </p:blipFill>
        <p:spPr bwMode="auto">
          <a:xfrm>
            <a:off x="8061379" y="3016187"/>
            <a:ext cx="1597325" cy="175928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0" name="TextBox 19">
            <a:extLst>
              <a:ext uri="{FF2B5EF4-FFF2-40B4-BE49-F238E27FC236}">
                <a16:creationId xmlns:a16="http://schemas.microsoft.com/office/drawing/2014/main" id="{991F442A-FFE2-BEB5-C82C-A3156F4C95C3}"/>
              </a:ext>
            </a:extLst>
          </p:cNvPr>
          <p:cNvSpPr txBox="1"/>
          <p:nvPr/>
        </p:nvSpPr>
        <p:spPr>
          <a:xfrm>
            <a:off x="8061379" y="4834842"/>
            <a:ext cx="2038150" cy="1200329"/>
          </a:xfrm>
          <a:prstGeom prst="rect">
            <a:avLst/>
          </a:prstGeom>
          <a:noFill/>
        </p:spPr>
        <p:txBody>
          <a:bodyPr wrap="square" rtlCol="0">
            <a:spAutoFit/>
          </a:bodyPr>
          <a:lstStyle/>
          <a:p>
            <a:r>
              <a:rPr lang="en-US" sz="1200" dirty="0"/>
              <a:t>David Foran</a:t>
            </a:r>
          </a:p>
          <a:p>
            <a:r>
              <a:rPr lang="en-US" sz="1200" b="1" dirty="0">
                <a:solidFill>
                  <a:schemeClr val="tx1">
                    <a:lumMod val="65000"/>
                    <a:lumOff val="35000"/>
                  </a:schemeClr>
                </a:solidFill>
              </a:rPr>
              <a:t>Associate Director for </a:t>
            </a:r>
          </a:p>
          <a:p>
            <a:r>
              <a:rPr lang="en-US" sz="1200" b="1" dirty="0">
                <a:solidFill>
                  <a:schemeClr val="tx1">
                    <a:lumMod val="65000"/>
                    <a:lumOff val="35000"/>
                  </a:schemeClr>
                </a:solidFill>
              </a:rPr>
              <a:t>Translational Technology and Solutions, BMIHAI</a:t>
            </a:r>
          </a:p>
          <a:p>
            <a:r>
              <a:rPr lang="en-US" sz="1200" i="0" dirty="0">
                <a:solidFill>
                  <a:srgbClr val="5A5A5A"/>
                </a:solidFill>
                <a:effectLst/>
              </a:rPr>
              <a:t>Chief Informatics Officer, </a:t>
            </a:r>
            <a:r>
              <a:rPr lang="en-US" sz="1200" dirty="0">
                <a:solidFill>
                  <a:srgbClr val="5A5A5A"/>
                </a:solidFill>
              </a:rPr>
              <a:t>Rutgers Cancer Institute</a:t>
            </a:r>
            <a:r>
              <a:rPr lang="en-US" sz="1200" i="0" dirty="0">
                <a:solidFill>
                  <a:srgbClr val="5A5A5A"/>
                </a:solidFill>
                <a:effectLst/>
              </a:rPr>
              <a:t> </a:t>
            </a:r>
            <a:endParaRPr lang="en-US" sz="1200" dirty="0"/>
          </a:p>
        </p:txBody>
      </p:sp>
      <p:pic>
        <p:nvPicPr>
          <p:cNvPr id="21" name="Picture 7" descr="Antonina Mitrofanova">
            <a:extLst>
              <a:ext uri="{FF2B5EF4-FFF2-40B4-BE49-F238E27FC236}">
                <a16:creationId xmlns:a16="http://schemas.microsoft.com/office/drawing/2014/main" id="{6C3014D7-6034-C3E8-2E8C-9CE8B501D12C}"/>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06530" y="3008030"/>
            <a:ext cx="1472461" cy="176744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2" name="TextBox 21">
            <a:extLst>
              <a:ext uri="{FF2B5EF4-FFF2-40B4-BE49-F238E27FC236}">
                <a16:creationId xmlns:a16="http://schemas.microsoft.com/office/drawing/2014/main" id="{4A34C6F0-8B09-E139-0065-DF22756A26D2}"/>
              </a:ext>
            </a:extLst>
          </p:cNvPr>
          <p:cNvSpPr txBox="1"/>
          <p:nvPr/>
        </p:nvSpPr>
        <p:spPr>
          <a:xfrm>
            <a:off x="3603571" y="4831725"/>
            <a:ext cx="2052391" cy="1200329"/>
          </a:xfrm>
          <a:prstGeom prst="rect">
            <a:avLst/>
          </a:prstGeom>
          <a:noFill/>
        </p:spPr>
        <p:txBody>
          <a:bodyPr wrap="square" rtlCol="0">
            <a:spAutoFit/>
          </a:bodyPr>
          <a:lstStyle/>
          <a:p>
            <a:r>
              <a:rPr lang="en-US" sz="1200" dirty="0"/>
              <a:t>Antonina Mitrofanova</a:t>
            </a:r>
          </a:p>
          <a:p>
            <a:r>
              <a:rPr lang="en-US" sz="1200" b="1" dirty="0">
                <a:solidFill>
                  <a:schemeClr val="tx1">
                    <a:lumMod val="65000"/>
                    <a:lumOff val="35000"/>
                  </a:schemeClr>
                </a:solidFill>
              </a:rPr>
              <a:t>Deputy Director, BMIHAI</a:t>
            </a:r>
          </a:p>
          <a:p>
            <a:r>
              <a:rPr lang="en-US" sz="1200" i="0" dirty="0">
                <a:solidFill>
                  <a:srgbClr val="5A5A5A"/>
                </a:solidFill>
                <a:effectLst/>
              </a:rPr>
              <a:t>Associate Dean for Research,</a:t>
            </a:r>
          </a:p>
          <a:p>
            <a:r>
              <a:rPr lang="en-US" sz="1200" dirty="0">
                <a:solidFill>
                  <a:srgbClr val="5A5A5A"/>
                </a:solidFill>
              </a:rPr>
              <a:t>School of Health Professions</a:t>
            </a:r>
            <a:endParaRPr lang="en-US" sz="1200" dirty="0"/>
          </a:p>
        </p:txBody>
      </p:sp>
      <p:pic>
        <p:nvPicPr>
          <p:cNvPr id="23" name="Picture 9" descr="Rutgers Univ - cleartb.org">
            <a:extLst>
              <a:ext uri="{FF2B5EF4-FFF2-40B4-BE49-F238E27FC236}">
                <a16:creationId xmlns:a16="http://schemas.microsoft.com/office/drawing/2014/main" id="{F867EF0B-0FC4-B4AE-8C22-39856AB2D29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6030790" y="2973667"/>
            <a:ext cx="1378790" cy="184075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4" name="TextBox 23">
            <a:extLst>
              <a:ext uri="{FF2B5EF4-FFF2-40B4-BE49-F238E27FC236}">
                <a16:creationId xmlns:a16="http://schemas.microsoft.com/office/drawing/2014/main" id="{58BB8596-F13A-F12E-9E1C-5E33250C2F52}"/>
              </a:ext>
            </a:extLst>
          </p:cNvPr>
          <p:cNvSpPr txBox="1"/>
          <p:nvPr/>
        </p:nvSpPr>
        <p:spPr>
          <a:xfrm>
            <a:off x="5853139" y="4873791"/>
            <a:ext cx="2343592" cy="1200329"/>
          </a:xfrm>
          <a:prstGeom prst="rect">
            <a:avLst/>
          </a:prstGeom>
          <a:noFill/>
        </p:spPr>
        <p:txBody>
          <a:bodyPr wrap="square" rtlCol="0">
            <a:spAutoFit/>
          </a:bodyPr>
          <a:lstStyle/>
          <a:p>
            <a:r>
              <a:rPr lang="en-US" sz="1200" dirty="0"/>
              <a:t>Evan Johnson</a:t>
            </a:r>
          </a:p>
          <a:p>
            <a:r>
              <a:rPr lang="en-US" sz="1200" b="1" dirty="0">
                <a:solidFill>
                  <a:schemeClr val="tx1">
                    <a:lumMod val="65000"/>
                    <a:lumOff val="35000"/>
                  </a:schemeClr>
                </a:solidFill>
              </a:rPr>
              <a:t>Associate Director for </a:t>
            </a:r>
            <a:br>
              <a:rPr lang="en-US" sz="1200" b="1" dirty="0">
                <a:solidFill>
                  <a:schemeClr val="tx1">
                    <a:lumMod val="65000"/>
                    <a:lumOff val="35000"/>
                  </a:schemeClr>
                </a:solidFill>
              </a:rPr>
            </a:br>
            <a:r>
              <a:rPr lang="en-US" sz="1200" b="1" dirty="0">
                <a:solidFill>
                  <a:schemeClr val="tx1">
                    <a:lumMod val="65000"/>
                    <a:lumOff val="35000"/>
                  </a:schemeClr>
                </a:solidFill>
              </a:rPr>
              <a:t>Basic Science and </a:t>
            </a:r>
            <a:br>
              <a:rPr lang="en-US" sz="1200" b="1" dirty="0">
                <a:solidFill>
                  <a:schemeClr val="tx1">
                    <a:lumMod val="65000"/>
                    <a:lumOff val="35000"/>
                  </a:schemeClr>
                </a:solidFill>
              </a:rPr>
            </a:br>
            <a:r>
              <a:rPr lang="en-US" sz="1200" b="1" dirty="0">
                <a:solidFill>
                  <a:schemeClr val="tx1">
                    <a:lumMod val="65000"/>
                    <a:lumOff val="35000"/>
                  </a:schemeClr>
                </a:solidFill>
              </a:rPr>
              <a:t>Entrepreneurship, BMIHAI</a:t>
            </a:r>
          </a:p>
          <a:p>
            <a:r>
              <a:rPr lang="en-US" sz="1200" i="0" dirty="0">
                <a:solidFill>
                  <a:schemeClr val="tx1">
                    <a:lumMod val="65000"/>
                    <a:lumOff val="35000"/>
                  </a:schemeClr>
                </a:solidFill>
                <a:effectLst/>
              </a:rPr>
              <a:t>Director, Center for Data Science, NJMS </a:t>
            </a:r>
            <a:endParaRPr lang="en-US" sz="1200" dirty="0">
              <a:solidFill>
                <a:schemeClr val="tx1">
                  <a:lumMod val="65000"/>
                  <a:lumOff val="35000"/>
                </a:schemeClr>
              </a:solidFill>
            </a:endParaRPr>
          </a:p>
        </p:txBody>
      </p:sp>
      <p:pic>
        <p:nvPicPr>
          <p:cNvPr id="25" name="Picture 24">
            <a:extLst>
              <a:ext uri="{FF2B5EF4-FFF2-40B4-BE49-F238E27FC236}">
                <a16:creationId xmlns:a16="http://schemas.microsoft.com/office/drawing/2014/main" id="{0514721B-E38E-6860-74C1-E8CEF6CF1D8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497061" y="3024344"/>
            <a:ext cx="1743221" cy="175113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6" name="TextBox 25">
            <a:extLst>
              <a:ext uri="{FF2B5EF4-FFF2-40B4-BE49-F238E27FC236}">
                <a16:creationId xmlns:a16="http://schemas.microsoft.com/office/drawing/2014/main" id="{15F394C2-D68E-9704-1538-AD73C4BA92EA}"/>
              </a:ext>
            </a:extLst>
          </p:cNvPr>
          <p:cNvSpPr txBox="1"/>
          <p:nvPr/>
        </p:nvSpPr>
        <p:spPr>
          <a:xfrm>
            <a:off x="1497061" y="4831724"/>
            <a:ext cx="2052391" cy="1015663"/>
          </a:xfrm>
          <a:prstGeom prst="rect">
            <a:avLst/>
          </a:prstGeom>
          <a:noFill/>
        </p:spPr>
        <p:txBody>
          <a:bodyPr wrap="square" rtlCol="0">
            <a:spAutoFit/>
          </a:bodyPr>
          <a:lstStyle/>
          <a:p>
            <a:r>
              <a:rPr lang="en-US" sz="1200" dirty="0"/>
              <a:t>Leslie Lenert</a:t>
            </a:r>
          </a:p>
          <a:p>
            <a:r>
              <a:rPr lang="en-US" sz="1200" b="1" dirty="0">
                <a:solidFill>
                  <a:schemeClr val="tx1">
                    <a:lumMod val="65000"/>
                    <a:lumOff val="35000"/>
                  </a:schemeClr>
                </a:solidFill>
              </a:rPr>
              <a:t>Director, BMIHAI</a:t>
            </a:r>
          </a:p>
          <a:p>
            <a:r>
              <a:rPr lang="en-US" sz="1200" dirty="0">
                <a:solidFill>
                  <a:schemeClr val="tx1">
                    <a:lumMod val="65000"/>
                    <a:lumOff val="35000"/>
                  </a:schemeClr>
                </a:solidFill>
              </a:rPr>
              <a:t>Professor, Department of Medicine, Robert Wood Johnson Medical School</a:t>
            </a:r>
          </a:p>
        </p:txBody>
      </p:sp>
      <p:pic>
        <p:nvPicPr>
          <p:cNvPr id="7" name="Picture 6" descr="A black background with red text&#10;&#10;AI-generated content may be incorrect.">
            <a:extLst>
              <a:ext uri="{FF2B5EF4-FFF2-40B4-BE49-F238E27FC236}">
                <a16:creationId xmlns:a16="http://schemas.microsoft.com/office/drawing/2014/main" id="{B42CD690-C1F7-AAA3-A438-16A045CE3BA3}"/>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419305" y="341103"/>
            <a:ext cx="6691448" cy="1357313"/>
          </a:xfrm>
          <a:prstGeom prst="rect">
            <a:avLst/>
          </a:prstGeom>
          <a:noFill/>
          <a:ln>
            <a:noFill/>
          </a:ln>
        </p:spPr>
      </p:pic>
      <p:sp>
        <p:nvSpPr>
          <p:cNvPr id="2" name="TextBox 1">
            <a:extLst>
              <a:ext uri="{FF2B5EF4-FFF2-40B4-BE49-F238E27FC236}">
                <a16:creationId xmlns:a16="http://schemas.microsoft.com/office/drawing/2014/main" id="{8080BB65-9E1D-0963-9888-9F66E3618C4E}"/>
              </a:ext>
            </a:extLst>
          </p:cNvPr>
          <p:cNvSpPr txBox="1"/>
          <p:nvPr/>
        </p:nvSpPr>
        <p:spPr>
          <a:xfrm>
            <a:off x="1897442" y="2394848"/>
            <a:ext cx="9245739" cy="369332"/>
          </a:xfrm>
          <a:prstGeom prst="rect">
            <a:avLst/>
          </a:prstGeom>
          <a:noFill/>
        </p:spPr>
        <p:txBody>
          <a:bodyPr wrap="square" rtlCol="0">
            <a:spAutoFit/>
          </a:bodyPr>
          <a:lstStyle/>
          <a:p>
            <a:r>
              <a:rPr lang="en-US" dirty="0">
                <a:hlinkClick r:id="rId7"/>
              </a:rPr>
              <a:t>https://ifh.rutgers.edu/center-for-biomedical-informatics</a:t>
            </a:r>
            <a:r>
              <a:rPr lang="en-US" dirty="0"/>
              <a:t>-and-health-artificial-intelligence/</a:t>
            </a:r>
          </a:p>
        </p:txBody>
      </p:sp>
    </p:spTree>
    <p:extLst>
      <p:ext uri="{BB962C8B-B14F-4D97-AF65-F5344CB8AC3E}">
        <p14:creationId xmlns:p14="http://schemas.microsoft.com/office/powerpoint/2010/main" val="970534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C021B586-6A7B-203C-F0A9-61D3CA01098E}"/>
              </a:ext>
            </a:extLst>
          </p:cNvPr>
          <p:cNvSpPr/>
          <p:nvPr/>
        </p:nvSpPr>
        <p:spPr>
          <a:xfrm>
            <a:off x="1567487" y="2542033"/>
            <a:ext cx="3002044" cy="3419855"/>
          </a:xfrm>
          <a:prstGeom prst="roundRect">
            <a:avLst/>
          </a:prstGeom>
          <a:solidFill>
            <a:schemeClr val="accent2">
              <a:lumMod val="20000"/>
              <a:lumOff val="80000"/>
            </a:schemeClr>
          </a:solidFill>
          <a:ln>
            <a:solidFill>
              <a:schemeClr val="tx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r>
              <a:rPr kumimoji="0" 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Education, Training, and Community</a:t>
            </a: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b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b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Cutting-edge degree programs, internships, and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specialized training in bioinformatics and AI to prepare the next generation of healthcare and biomedical</a:t>
            </a:r>
            <a:r>
              <a:rPr lang="en-US" dirty="0">
                <a:solidFill>
                  <a:srgbClr val="000000"/>
                </a:solidFill>
                <a:latin typeface="Arial" panose="020B0604020202020204" pitchFamily="34" charset="0"/>
              </a:rPr>
              <a:t> </a:t>
            </a: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researchers.</a:t>
            </a:r>
            <a:endParaRPr kumimoji="0" lang="en-US" sz="18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p:txBody>
      </p:sp>
      <p:sp>
        <p:nvSpPr>
          <p:cNvPr id="11" name="Rectangle: Rounded Corners 10">
            <a:extLst>
              <a:ext uri="{FF2B5EF4-FFF2-40B4-BE49-F238E27FC236}">
                <a16:creationId xmlns:a16="http://schemas.microsoft.com/office/drawing/2014/main" id="{CA1F5437-3779-0CCE-BE5F-26EC4A459DE2}"/>
              </a:ext>
            </a:extLst>
          </p:cNvPr>
          <p:cNvSpPr/>
          <p:nvPr/>
        </p:nvSpPr>
        <p:spPr>
          <a:xfrm>
            <a:off x="5078565" y="2582165"/>
            <a:ext cx="2558634" cy="3419855"/>
          </a:xfrm>
          <a:prstGeom prst="roundRect">
            <a:avLst/>
          </a:prstGeom>
          <a:solidFill>
            <a:schemeClr val="bg2">
              <a:lumMod val="20000"/>
              <a:lumOff val="80000"/>
            </a:schemeClr>
          </a:solidFill>
          <a:ln>
            <a:solidFill>
              <a:schemeClr val="tx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lvl="0" algn="ctr">
              <a:defRPr/>
            </a:pPr>
            <a:r>
              <a:rPr lang="en-US" b="1" dirty="0">
                <a:solidFill>
                  <a:srgbClr val="000000"/>
                </a:solidFill>
                <a:latin typeface="Arial" panose="020B0604020202020204" pitchFamily="34" charset="0"/>
              </a:rPr>
              <a:t>Social-Technical Infrastructure:</a:t>
            </a: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Building Living Laboratories integrate clinical, educational, research, and commercial environments.</a:t>
            </a:r>
          </a:p>
          <a:p>
            <a:pPr lvl="0" algn="ctr">
              <a:defRPr/>
            </a:pPr>
            <a:endParaRPr kumimoji="0" lang="en-US" sz="18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2" name="Rectangle: Rounded Corners 11">
            <a:extLst>
              <a:ext uri="{FF2B5EF4-FFF2-40B4-BE49-F238E27FC236}">
                <a16:creationId xmlns:a16="http://schemas.microsoft.com/office/drawing/2014/main" id="{5131DB23-58DB-5BCA-37F2-E86ACE440305}"/>
              </a:ext>
            </a:extLst>
          </p:cNvPr>
          <p:cNvSpPr/>
          <p:nvPr/>
        </p:nvSpPr>
        <p:spPr>
          <a:xfrm>
            <a:off x="8146233" y="2582165"/>
            <a:ext cx="2558635" cy="3419855"/>
          </a:xfrm>
          <a:prstGeom prst="roundRect">
            <a:avLst/>
          </a:prstGeom>
          <a:solidFill>
            <a:schemeClr val="bg2">
              <a:lumMod val="20000"/>
              <a:lumOff val="80000"/>
            </a:schemeClr>
          </a:solidFill>
          <a:ln>
            <a:solidFill>
              <a:schemeClr val="tx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Research &amp; Innovation</a:t>
            </a: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b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b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Driving research that leverages AI and </a:t>
            </a:r>
            <a:b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b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machine learning to develop new insights, enhance diagnostics, and </a:t>
            </a:r>
            <a:b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b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improve health </a:t>
            </a:r>
            <a:b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b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outcomes.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4FFB3EB4-F0A5-F5F2-1F73-5F585E7E259F}"/>
              </a:ext>
            </a:extLst>
          </p:cNvPr>
          <p:cNvSpPr>
            <a:spLocks noGrp="1"/>
          </p:cNvSpPr>
          <p:nvPr>
            <p:ph type="title"/>
          </p:nvPr>
        </p:nvSpPr>
        <p:spPr>
          <a:xfrm>
            <a:off x="2294329" y="341454"/>
            <a:ext cx="10515600" cy="1325563"/>
          </a:xfrm>
        </p:spPr>
        <p:txBody>
          <a:bodyPr/>
          <a:lstStyle/>
          <a:p>
            <a:pPr algn="ctr"/>
            <a:r>
              <a:rPr lang="en-US" dirty="0"/>
              <a:t>Foundational Pillars of</a:t>
            </a:r>
            <a:br>
              <a:rPr lang="en-US" dirty="0"/>
            </a:br>
            <a:r>
              <a:rPr lang="en-US" dirty="0"/>
              <a:t> BMIHAI</a:t>
            </a:r>
          </a:p>
        </p:txBody>
      </p:sp>
      <p:pic>
        <p:nvPicPr>
          <p:cNvPr id="3" name="Picture 2">
            <a:extLst>
              <a:ext uri="{FF2B5EF4-FFF2-40B4-BE49-F238E27FC236}">
                <a16:creationId xmlns:a16="http://schemas.microsoft.com/office/drawing/2014/main" id="{D1B54738-8E5A-D11F-290C-8F4B1C91CB62}"/>
              </a:ext>
            </a:extLst>
          </p:cNvPr>
          <p:cNvPicPr>
            <a:picLocks noChangeAspect="1"/>
          </p:cNvPicPr>
          <p:nvPr/>
        </p:nvPicPr>
        <p:blipFill>
          <a:blip r:embed="rId2"/>
          <a:stretch>
            <a:fillRect/>
          </a:stretch>
        </p:blipFill>
        <p:spPr>
          <a:xfrm>
            <a:off x="564187" y="194278"/>
            <a:ext cx="2884932" cy="1923288"/>
          </a:xfrm>
          <a:prstGeom prst="rect">
            <a:avLst/>
          </a:prstGeom>
        </p:spPr>
      </p:pic>
    </p:spTree>
    <p:extLst>
      <p:ext uri="{BB962C8B-B14F-4D97-AF65-F5344CB8AC3E}">
        <p14:creationId xmlns:p14="http://schemas.microsoft.com/office/powerpoint/2010/main" val="9503889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FD7B4-8A83-F395-AD1D-495D52E15284}"/>
              </a:ext>
            </a:extLst>
          </p:cNvPr>
          <p:cNvSpPr>
            <a:spLocks noGrp="1"/>
          </p:cNvSpPr>
          <p:nvPr>
            <p:ph type="title"/>
          </p:nvPr>
        </p:nvSpPr>
        <p:spPr/>
        <p:txBody>
          <a:bodyPr>
            <a:normAutofit fontScale="90000"/>
          </a:bodyPr>
          <a:lstStyle/>
          <a:p>
            <a:r>
              <a:rPr lang="en-US" dirty="0"/>
              <a:t>Avoiding de-skilling/Never</a:t>
            </a:r>
            <a:br>
              <a:rPr lang="en-US" dirty="0"/>
            </a:br>
            <a:r>
              <a:rPr lang="en-US" dirty="0"/>
              <a:t> Skilling with AI</a:t>
            </a:r>
          </a:p>
        </p:txBody>
      </p:sp>
      <p:pic>
        <p:nvPicPr>
          <p:cNvPr id="4" name="Content Placeholder 3">
            <a:extLst>
              <a:ext uri="{FF2B5EF4-FFF2-40B4-BE49-F238E27FC236}">
                <a16:creationId xmlns:a16="http://schemas.microsoft.com/office/drawing/2014/main" id="{B48EC9AC-8ED9-B9B2-29F9-F4BC8F8BB8BC}"/>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rcRect/>
          <a:stretch>
            <a:fillRect/>
          </a:stretch>
        </p:blipFill>
        <p:spPr>
          <a:xfrm>
            <a:off x="6483946" y="167379"/>
            <a:ext cx="5362575" cy="6523242"/>
          </a:xfrm>
          <a:prstGeom prst="rect">
            <a:avLst/>
          </a:prstGeom>
        </p:spPr>
      </p:pic>
      <p:sp>
        <p:nvSpPr>
          <p:cNvPr id="5" name="TextBox 4">
            <a:extLst>
              <a:ext uri="{FF2B5EF4-FFF2-40B4-BE49-F238E27FC236}">
                <a16:creationId xmlns:a16="http://schemas.microsoft.com/office/drawing/2014/main" id="{FB70618F-3F4B-8715-559B-E84F51E572A3}"/>
              </a:ext>
            </a:extLst>
          </p:cNvPr>
          <p:cNvSpPr txBox="1"/>
          <p:nvPr/>
        </p:nvSpPr>
        <p:spPr>
          <a:xfrm>
            <a:off x="576470" y="2425148"/>
            <a:ext cx="5702202" cy="1754326"/>
          </a:xfrm>
          <a:prstGeom prst="rect">
            <a:avLst/>
          </a:prstGeom>
          <a:noFill/>
        </p:spPr>
        <p:txBody>
          <a:bodyPr wrap="none" rtlCol="0">
            <a:spAutoFit/>
          </a:bodyPr>
          <a:lstStyle/>
          <a:p>
            <a:r>
              <a:rPr lang="en-US" sz="2400" b="1" dirty="0"/>
              <a:t>Loss of skills or the failure to develop</a:t>
            </a:r>
            <a:br>
              <a:rPr lang="en-US" sz="2400" b="1" dirty="0"/>
            </a:br>
            <a:r>
              <a:rPr lang="en-US" sz="2400" b="1" dirty="0"/>
              <a:t>fundamental skills in the setting of AI</a:t>
            </a:r>
            <a:br>
              <a:rPr lang="en-US" sz="2400" b="1" dirty="0"/>
            </a:br>
            <a:r>
              <a:rPr lang="en-US" sz="2400" b="1" dirty="0"/>
              <a:t>decision support. </a:t>
            </a:r>
          </a:p>
          <a:p>
            <a:endParaRPr lang="en-US" dirty="0"/>
          </a:p>
          <a:p>
            <a:endParaRPr lang="en-US" dirty="0"/>
          </a:p>
        </p:txBody>
      </p:sp>
      <p:pic>
        <p:nvPicPr>
          <p:cNvPr id="6" name="Picture 5">
            <a:extLst>
              <a:ext uri="{FF2B5EF4-FFF2-40B4-BE49-F238E27FC236}">
                <a16:creationId xmlns:a16="http://schemas.microsoft.com/office/drawing/2014/main" id="{38241557-4AD3-7179-7F9E-C622649A338B}"/>
              </a:ext>
            </a:extLst>
          </p:cNvPr>
          <p:cNvPicPr>
            <a:picLocks noChangeAspect="1"/>
          </p:cNvPicPr>
          <p:nvPr/>
        </p:nvPicPr>
        <p:blipFill>
          <a:blip r:embed="rId3"/>
          <a:stretch>
            <a:fillRect/>
          </a:stretch>
        </p:blipFill>
        <p:spPr>
          <a:xfrm>
            <a:off x="610790" y="3686630"/>
            <a:ext cx="5925305" cy="2495868"/>
          </a:xfrm>
          <a:prstGeom prst="rect">
            <a:avLst/>
          </a:prstGeom>
        </p:spPr>
      </p:pic>
      <p:pic>
        <p:nvPicPr>
          <p:cNvPr id="7" name="Picture 6">
            <a:extLst>
              <a:ext uri="{FF2B5EF4-FFF2-40B4-BE49-F238E27FC236}">
                <a16:creationId xmlns:a16="http://schemas.microsoft.com/office/drawing/2014/main" id="{5E9154DF-9323-0BAB-BE7C-C77BF700AB63}"/>
              </a:ext>
            </a:extLst>
          </p:cNvPr>
          <p:cNvPicPr>
            <a:picLocks noChangeAspect="1"/>
          </p:cNvPicPr>
          <p:nvPr/>
        </p:nvPicPr>
        <p:blipFill>
          <a:blip r:embed="rId4"/>
          <a:stretch>
            <a:fillRect/>
          </a:stretch>
        </p:blipFill>
        <p:spPr>
          <a:xfrm>
            <a:off x="4463456" y="6206114"/>
            <a:ext cx="1244600" cy="279400"/>
          </a:xfrm>
          <a:prstGeom prst="rect">
            <a:avLst/>
          </a:prstGeom>
        </p:spPr>
      </p:pic>
    </p:spTree>
    <p:extLst>
      <p:ext uri="{BB962C8B-B14F-4D97-AF65-F5344CB8AC3E}">
        <p14:creationId xmlns:p14="http://schemas.microsoft.com/office/powerpoint/2010/main" val="23399869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E4AB0-BE3D-66D7-8BFB-AE5AFBC0B95E}"/>
            </a:ext>
          </a:extLst>
        </p:cNvPr>
        <p:cNvGrpSpPr/>
        <p:nvPr/>
      </p:nvGrpSpPr>
      <p:grpSpPr>
        <a:xfrm>
          <a:off x="0" y="0"/>
          <a:ext cx="0" cy="0"/>
          <a:chOff x="0" y="0"/>
          <a:chExt cx="0" cy="0"/>
        </a:xfrm>
      </p:grpSpPr>
      <p:sp>
        <p:nvSpPr>
          <p:cNvPr id="15" name="Hexagon 14">
            <a:extLst>
              <a:ext uri="{FF2B5EF4-FFF2-40B4-BE49-F238E27FC236}">
                <a16:creationId xmlns:a16="http://schemas.microsoft.com/office/drawing/2014/main" id="{6085562A-ADB3-2B49-1F88-2B756DFA50D8}"/>
              </a:ext>
            </a:extLst>
          </p:cNvPr>
          <p:cNvSpPr/>
          <p:nvPr/>
        </p:nvSpPr>
        <p:spPr>
          <a:xfrm>
            <a:off x="4641760" y="1273114"/>
            <a:ext cx="1999527" cy="1785902"/>
          </a:xfrm>
          <a:prstGeom prst="hexagon">
            <a:avLst/>
          </a:prstGeom>
          <a:solidFill>
            <a:schemeClr val="tx1">
              <a:lumMod val="40000"/>
              <a:lumOff val="60000"/>
            </a:schemeClr>
          </a:solidFill>
          <a:ln w="38100">
            <a:solidFill>
              <a:schemeClr val="tx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PhD in Health AI</a:t>
            </a:r>
          </a:p>
        </p:txBody>
      </p:sp>
      <p:sp>
        <p:nvSpPr>
          <p:cNvPr id="5" name="Title 1">
            <a:extLst>
              <a:ext uri="{FF2B5EF4-FFF2-40B4-BE49-F238E27FC236}">
                <a16:creationId xmlns:a16="http://schemas.microsoft.com/office/drawing/2014/main" id="{F2019CFD-E3C0-DBDE-5FA0-F33915A416D1}"/>
              </a:ext>
            </a:extLst>
          </p:cNvPr>
          <p:cNvSpPr>
            <a:spLocks noGrp="1"/>
          </p:cNvSpPr>
          <p:nvPr>
            <p:ph type="title"/>
          </p:nvPr>
        </p:nvSpPr>
        <p:spPr>
          <a:xfrm>
            <a:off x="691243" y="-52449"/>
            <a:ext cx="10515600" cy="1325563"/>
          </a:xfrm>
        </p:spPr>
        <p:txBody>
          <a:bodyPr>
            <a:normAutofit/>
          </a:bodyPr>
          <a:lstStyle/>
          <a:p>
            <a:r>
              <a:rPr lang="en-US" dirty="0"/>
              <a:t>Actions: Educational Programs</a:t>
            </a:r>
          </a:p>
        </p:txBody>
      </p:sp>
      <p:sp>
        <p:nvSpPr>
          <p:cNvPr id="2" name="TextBox 1">
            <a:extLst>
              <a:ext uri="{FF2B5EF4-FFF2-40B4-BE49-F238E27FC236}">
                <a16:creationId xmlns:a16="http://schemas.microsoft.com/office/drawing/2014/main" id="{FD3EAA45-437D-6C34-50EF-8E687DB15BE2}"/>
              </a:ext>
            </a:extLst>
          </p:cNvPr>
          <p:cNvSpPr txBox="1"/>
          <p:nvPr/>
        </p:nvSpPr>
        <p:spPr>
          <a:xfrm>
            <a:off x="6641287" y="624846"/>
            <a:ext cx="5088293" cy="5355312"/>
          </a:xfrm>
          <a:prstGeom prst="rect">
            <a:avLst/>
          </a:prstGeom>
          <a:noFill/>
        </p:spPr>
        <p:txBody>
          <a:bodyPr wrap="square" rtlCol="0">
            <a:spAutoFit/>
          </a:bodyPr>
          <a:lstStyle/>
          <a:p>
            <a:r>
              <a:rPr lang="en-US" b="1" u="sng" dirty="0"/>
              <a:t>New PhD track in BM-AI</a:t>
            </a:r>
          </a:p>
          <a:p>
            <a:endParaRPr lang="en-US" b="1" dirty="0"/>
          </a:p>
          <a:p>
            <a:r>
              <a:rPr lang="en-US" dirty="0"/>
              <a:t>Program starts Fall 2026 </a:t>
            </a:r>
          </a:p>
          <a:p>
            <a:r>
              <a:rPr lang="en-US" dirty="0"/>
              <a:t>(new 5 courses developed and approved)</a:t>
            </a:r>
          </a:p>
          <a:p>
            <a:endParaRPr lang="en-US" dirty="0"/>
          </a:p>
          <a:p>
            <a:r>
              <a:rPr lang="en-US" dirty="0"/>
              <a:t>Collaboration between</a:t>
            </a:r>
          </a:p>
          <a:p>
            <a:r>
              <a:rPr lang="en-US" dirty="0"/>
              <a:t>-   School of Graduate Studies</a:t>
            </a:r>
          </a:p>
          <a:p>
            <a:pPr marL="285750" indent="-285750">
              <a:buFontTx/>
              <a:buChar char="-"/>
            </a:pPr>
            <a:r>
              <a:rPr lang="en-US" dirty="0"/>
              <a:t>School of Health Professions</a:t>
            </a:r>
          </a:p>
          <a:p>
            <a:pPr marL="285750" indent="-285750">
              <a:buFontTx/>
              <a:buChar char="-"/>
            </a:pPr>
            <a:r>
              <a:rPr lang="en-US" dirty="0"/>
              <a:t>New Jersey Institute of Technology</a:t>
            </a:r>
            <a:br>
              <a:rPr lang="en-US" dirty="0"/>
            </a:br>
            <a:br>
              <a:rPr lang="en-US" dirty="0"/>
            </a:br>
            <a:r>
              <a:rPr lang="en-US" b="1" u="sng" dirty="0"/>
              <a:t>Highlights: </a:t>
            </a:r>
            <a:br>
              <a:rPr lang="en-US" dirty="0"/>
            </a:br>
            <a:r>
              <a:rPr lang="en-US" dirty="0"/>
              <a:t>47 applications, 10 acceptances</a:t>
            </a:r>
            <a:br>
              <a:rPr lang="en-US" dirty="0"/>
            </a:br>
            <a:r>
              <a:rPr lang="en-US" dirty="0"/>
              <a:t>   and 7 commitments</a:t>
            </a:r>
            <a:br>
              <a:rPr lang="en-US" dirty="0"/>
            </a:br>
            <a:r>
              <a:rPr lang="en-US" dirty="0"/>
              <a:t>Direct admits: 7 PIs across Rutgers Health:</a:t>
            </a:r>
            <a:br>
              <a:rPr lang="en-US" dirty="0"/>
            </a:br>
            <a:r>
              <a:rPr lang="en-US" dirty="0"/>
              <a:t>    - 2 from RWJMS (NB)</a:t>
            </a:r>
            <a:br>
              <a:rPr lang="en-US" dirty="0"/>
            </a:br>
            <a:r>
              <a:rPr lang="en-US" dirty="0"/>
              <a:t>    - 2 from Nursing School (NB)</a:t>
            </a:r>
            <a:br>
              <a:rPr lang="en-US" dirty="0"/>
            </a:br>
            <a:r>
              <a:rPr lang="en-US" dirty="0"/>
              <a:t>    - 1 from NJMS (Newark)</a:t>
            </a:r>
          </a:p>
          <a:p>
            <a:r>
              <a:rPr lang="en-US" dirty="0"/>
              <a:t>         - 2 from SHP (Newark)</a:t>
            </a:r>
            <a:br>
              <a:rPr lang="en-US" dirty="0"/>
            </a:br>
            <a:endParaRPr lang="en-US" dirty="0"/>
          </a:p>
        </p:txBody>
      </p:sp>
      <p:sp>
        <p:nvSpPr>
          <p:cNvPr id="4" name="TextBox 3">
            <a:extLst>
              <a:ext uri="{FF2B5EF4-FFF2-40B4-BE49-F238E27FC236}">
                <a16:creationId xmlns:a16="http://schemas.microsoft.com/office/drawing/2014/main" id="{196ECDA9-8429-7DE9-F3DF-108B99E9195A}"/>
              </a:ext>
            </a:extLst>
          </p:cNvPr>
          <p:cNvSpPr txBox="1"/>
          <p:nvPr/>
        </p:nvSpPr>
        <p:spPr>
          <a:xfrm>
            <a:off x="1490028" y="6136383"/>
            <a:ext cx="4352474" cy="646331"/>
          </a:xfrm>
          <a:prstGeom prst="rect">
            <a:avLst/>
          </a:prstGeom>
          <a:noFill/>
        </p:spPr>
        <p:txBody>
          <a:bodyPr wrap="none" rtlCol="0">
            <a:spAutoFit/>
          </a:bodyPr>
          <a:lstStyle/>
          <a:p>
            <a:r>
              <a:rPr lang="en-US" b="1" dirty="0"/>
              <a:t>Sustainability: </a:t>
            </a:r>
            <a:r>
              <a:rPr lang="en-US" dirty="0"/>
              <a:t>program director shared </a:t>
            </a:r>
            <a:br>
              <a:rPr lang="en-US" dirty="0"/>
            </a:br>
            <a:r>
              <a:rPr lang="en-US" dirty="0"/>
              <a:t>between SGS and SHP</a:t>
            </a:r>
          </a:p>
        </p:txBody>
      </p:sp>
    </p:spTree>
    <p:extLst>
      <p:ext uri="{BB962C8B-B14F-4D97-AF65-F5344CB8AC3E}">
        <p14:creationId xmlns:p14="http://schemas.microsoft.com/office/powerpoint/2010/main" val="2418873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C3998-C33C-6BBF-3D27-140E9BFF05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ED0584-0590-8804-FC44-08D252D09737}"/>
              </a:ext>
            </a:extLst>
          </p:cNvPr>
          <p:cNvSpPr>
            <a:spLocks noGrp="1"/>
          </p:cNvSpPr>
          <p:nvPr>
            <p:ph type="title"/>
          </p:nvPr>
        </p:nvSpPr>
        <p:spPr/>
        <p:txBody>
          <a:bodyPr/>
          <a:lstStyle/>
          <a:p>
            <a:r>
              <a:rPr lang="en-US" dirty="0"/>
              <a:t>Actions: Educational Programs</a:t>
            </a:r>
          </a:p>
        </p:txBody>
      </p:sp>
      <p:pic>
        <p:nvPicPr>
          <p:cNvPr id="7" name="Content Placeholder 6" descr="A poster of a computer on a table&#10;&#10;AI-generated content may be incorrect.">
            <a:extLst>
              <a:ext uri="{FF2B5EF4-FFF2-40B4-BE49-F238E27FC236}">
                <a16:creationId xmlns:a16="http://schemas.microsoft.com/office/drawing/2014/main" id="{64F1E2D7-001D-4311-0D18-D7DF6AEF44C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 y="0"/>
            <a:ext cx="11582400" cy="14984732"/>
          </a:xfrm>
        </p:spPr>
      </p:pic>
      <p:pic>
        <p:nvPicPr>
          <p:cNvPr id="3" name="Content Placeholder 6" descr="A poster of a computer on a table&#10;&#10;AI-generated content may be incorrect.">
            <a:extLst>
              <a:ext uri="{FF2B5EF4-FFF2-40B4-BE49-F238E27FC236}">
                <a16:creationId xmlns:a16="http://schemas.microsoft.com/office/drawing/2014/main" id="{63D1A49B-8B6D-99F1-1456-9A72F7E103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5793" y="628242"/>
            <a:ext cx="10800413" cy="13973036"/>
          </a:xfrm>
          <a:prstGeom prst="rect">
            <a:avLst/>
          </a:prstGeom>
        </p:spPr>
      </p:pic>
    </p:spTree>
    <p:extLst>
      <p:ext uri="{BB962C8B-B14F-4D97-AF65-F5344CB8AC3E}">
        <p14:creationId xmlns:p14="http://schemas.microsoft.com/office/powerpoint/2010/main" val="11563162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BF26E-A3B4-9AA2-E022-31DC26F16C46}"/>
            </a:ext>
          </a:extLst>
        </p:cNvPr>
        <p:cNvGrpSpPr/>
        <p:nvPr/>
      </p:nvGrpSpPr>
      <p:grpSpPr>
        <a:xfrm>
          <a:off x="0" y="0"/>
          <a:ext cx="0" cy="0"/>
          <a:chOff x="0" y="0"/>
          <a:chExt cx="0" cy="0"/>
        </a:xfrm>
      </p:grpSpPr>
      <p:sp>
        <p:nvSpPr>
          <p:cNvPr id="13" name="Hexagon 12">
            <a:extLst>
              <a:ext uri="{FF2B5EF4-FFF2-40B4-BE49-F238E27FC236}">
                <a16:creationId xmlns:a16="http://schemas.microsoft.com/office/drawing/2014/main" id="{02AC03E8-F9A2-24C0-88BF-DABD3D171009}"/>
              </a:ext>
            </a:extLst>
          </p:cNvPr>
          <p:cNvSpPr/>
          <p:nvPr/>
        </p:nvSpPr>
        <p:spPr>
          <a:xfrm>
            <a:off x="6280633" y="2154934"/>
            <a:ext cx="1999527" cy="1785902"/>
          </a:xfrm>
          <a:prstGeom prst="hexagon">
            <a:avLst/>
          </a:prstGeom>
          <a:solidFill>
            <a:schemeClr val="tx1">
              <a:lumMod val="40000"/>
              <a:lumOff val="60000"/>
            </a:schemeClr>
          </a:solidFill>
          <a:ln w="38100">
            <a:solidFill>
              <a:schemeClr val="tx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MS in AI Healthcare</a:t>
            </a:r>
          </a:p>
        </p:txBody>
      </p:sp>
      <p:sp>
        <p:nvSpPr>
          <p:cNvPr id="15" name="Hexagon 14">
            <a:extLst>
              <a:ext uri="{FF2B5EF4-FFF2-40B4-BE49-F238E27FC236}">
                <a16:creationId xmlns:a16="http://schemas.microsoft.com/office/drawing/2014/main" id="{1E832240-CFBA-41AE-EB48-EAC8C541FBDD}"/>
              </a:ext>
            </a:extLst>
          </p:cNvPr>
          <p:cNvSpPr/>
          <p:nvPr/>
        </p:nvSpPr>
        <p:spPr>
          <a:xfrm>
            <a:off x="4641760" y="1273114"/>
            <a:ext cx="1999527" cy="1785902"/>
          </a:xfrm>
          <a:prstGeom prst="hexagon">
            <a:avLst/>
          </a:prstGeom>
          <a:solidFill>
            <a:schemeClr val="bg2">
              <a:lumMod val="20000"/>
              <a:lumOff val="80000"/>
            </a:schemeClr>
          </a:solidFill>
          <a:ln w="38100">
            <a:solidFill>
              <a:schemeClr val="tx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PhD in Health AI</a:t>
            </a:r>
          </a:p>
        </p:txBody>
      </p:sp>
      <p:sp>
        <p:nvSpPr>
          <p:cNvPr id="5" name="Title 1">
            <a:extLst>
              <a:ext uri="{FF2B5EF4-FFF2-40B4-BE49-F238E27FC236}">
                <a16:creationId xmlns:a16="http://schemas.microsoft.com/office/drawing/2014/main" id="{49FD2521-CBD6-A587-7DAD-E606A94BEDB9}"/>
              </a:ext>
            </a:extLst>
          </p:cNvPr>
          <p:cNvSpPr>
            <a:spLocks noGrp="1"/>
          </p:cNvSpPr>
          <p:nvPr>
            <p:ph type="title"/>
          </p:nvPr>
        </p:nvSpPr>
        <p:spPr>
          <a:xfrm>
            <a:off x="691243" y="-52449"/>
            <a:ext cx="10515600" cy="1325563"/>
          </a:xfrm>
        </p:spPr>
        <p:txBody>
          <a:bodyPr>
            <a:normAutofit/>
          </a:bodyPr>
          <a:lstStyle/>
          <a:p>
            <a:r>
              <a:rPr lang="en-US" dirty="0"/>
              <a:t>Educational Programs</a:t>
            </a:r>
          </a:p>
        </p:txBody>
      </p:sp>
      <p:sp>
        <p:nvSpPr>
          <p:cNvPr id="4" name="TextBox 3">
            <a:extLst>
              <a:ext uri="{FF2B5EF4-FFF2-40B4-BE49-F238E27FC236}">
                <a16:creationId xmlns:a16="http://schemas.microsoft.com/office/drawing/2014/main" id="{53F93157-706D-33DE-3D0C-E856F1F46CAF}"/>
              </a:ext>
            </a:extLst>
          </p:cNvPr>
          <p:cNvSpPr txBox="1"/>
          <p:nvPr/>
        </p:nvSpPr>
        <p:spPr>
          <a:xfrm>
            <a:off x="8379254" y="2823459"/>
            <a:ext cx="3467730" cy="1754326"/>
          </a:xfrm>
          <a:prstGeom prst="rect">
            <a:avLst/>
          </a:prstGeom>
          <a:noFill/>
        </p:spPr>
        <p:txBody>
          <a:bodyPr wrap="square" rtlCol="0">
            <a:spAutoFit/>
          </a:bodyPr>
          <a:lstStyle/>
          <a:p>
            <a:r>
              <a:rPr lang="en-US" b="1" u="sng" dirty="0"/>
              <a:t>MS in AI in Healthcare track</a:t>
            </a:r>
            <a:br>
              <a:rPr lang="en-US" b="1" u="sng" dirty="0"/>
            </a:br>
            <a:endParaRPr lang="en-US" b="1" u="sng" dirty="0"/>
          </a:p>
          <a:p>
            <a:r>
              <a:rPr lang="en-US" dirty="0"/>
              <a:t>Approved and to start Fall 2026</a:t>
            </a:r>
          </a:p>
          <a:p>
            <a:endParaRPr lang="en-US" dirty="0"/>
          </a:p>
          <a:p>
            <a:r>
              <a:rPr lang="en-US" dirty="0"/>
              <a:t>Deadline June 15: 110 applicants up to date (20 will be accepted)</a:t>
            </a:r>
          </a:p>
        </p:txBody>
      </p:sp>
      <p:sp>
        <p:nvSpPr>
          <p:cNvPr id="2" name="TextBox 1">
            <a:extLst>
              <a:ext uri="{FF2B5EF4-FFF2-40B4-BE49-F238E27FC236}">
                <a16:creationId xmlns:a16="http://schemas.microsoft.com/office/drawing/2014/main" id="{C89EC5C1-F133-B5C3-D8A9-1D94440CCFFE}"/>
              </a:ext>
            </a:extLst>
          </p:cNvPr>
          <p:cNvSpPr txBox="1"/>
          <p:nvPr/>
        </p:nvSpPr>
        <p:spPr>
          <a:xfrm>
            <a:off x="1509278" y="6069006"/>
            <a:ext cx="4057521" cy="646331"/>
          </a:xfrm>
          <a:prstGeom prst="rect">
            <a:avLst/>
          </a:prstGeom>
          <a:noFill/>
        </p:spPr>
        <p:txBody>
          <a:bodyPr wrap="none" rtlCol="0">
            <a:spAutoFit/>
          </a:bodyPr>
          <a:lstStyle/>
          <a:p>
            <a:r>
              <a:rPr lang="en-US" b="1" dirty="0"/>
              <a:t>Sustainability: </a:t>
            </a:r>
            <a:r>
              <a:rPr lang="en-US" dirty="0"/>
              <a:t>program director fully </a:t>
            </a:r>
            <a:br>
              <a:rPr lang="en-US" dirty="0"/>
            </a:br>
            <a:r>
              <a:rPr lang="en-US" dirty="0"/>
              <a:t>supported by SHP</a:t>
            </a:r>
          </a:p>
        </p:txBody>
      </p:sp>
    </p:spTree>
    <p:extLst>
      <p:ext uri="{BB962C8B-B14F-4D97-AF65-F5344CB8AC3E}">
        <p14:creationId xmlns:p14="http://schemas.microsoft.com/office/powerpoint/2010/main" val="34609253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2AF32-30E4-1397-4316-406697F3AE48}"/>
            </a:ext>
          </a:extLst>
        </p:cNvPr>
        <p:cNvGrpSpPr/>
        <p:nvPr/>
      </p:nvGrpSpPr>
      <p:grpSpPr>
        <a:xfrm>
          <a:off x="0" y="0"/>
          <a:ext cx="0" cy="0"/>
          <a:chOff x="0" y="0"/>
          <a:chExt cx="0" cy="0"/>
        </a:xfrm>
      </p:grpSpPr>
      <p:sp>
        <p:nvSpPr>
          <p:cNvPr id="13" name="Hexagon 12">
            <a:extLst>
              <a:ext uri="{FF2B5EF4-FFF2-40B4-BE49-F238E27FC236}">
                <a16:creationId xmlns:a16="http://schemas.microsoft.com/office/drawing/2014/main" id="{0833EA91-8F21-E570-F0B6-C2615758CF84}"/>
              </a:ext>
            </a:extLst>
          </p:cNvPr>
          <p:cNvSpPr/>
          <p:nvPr/>
        </p:nvSpPr>
        <p:spPr>
          <a:xfrm>
            <a:off x="6280633" y="2154934"/>
            <a:ext cx="1999527" cy="1785902"/>
          </a:xfrm>
          <a:prstGeom prst="hexagon">
            <a:avLst/>
          </a:prstGeom>
          <a:solidFill>
            <a:schemeClr val="bg2">
              <a:lumMod val="20000"/>
              <a:lumOff val="80000"/>
            </a:schemeClr>
          </a:solidFill>
          <a:ln w="38100">
            <a:solidFill>
              <a:schemeClr val="tx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MS in AI Healthcare</a:t>
            </a:r>
          </a:p>
        </p:txBody>
      </p:sp>
      <p:sp>
        <p:nvSpPr>
          <p:cNvPr id="15" name="Hexagon 14">
            <a:extLst>
              <a:ext uri="{FF2B5EF4-FFF2-40B4-BE49-F238E27FC236}">
                <a16:creationId xmlns:a16="http://schemas.microsoft.com/office/drawing/2014/main" id="{1012E29E-5BD6-E7A0-E7DE-EF2614958491}"/>
              </a:ext>
            </a:extLst>
          </p:cNvPr>
          <p:cNvSpPr/>
          <p:nvPr/>
        </p:nvSpPr>
        <p:spPr>
          <a:xfrm>
            <a:off x="4641760" y="1273114"/>
            <a:ext cx="1999527" cy="1785902"/>
          </a:xfrm>
          <a:prstGeom prst="hexagon">
            <a:avLst/>
          </a:prstGeom>
          <a:solidFill>
            <a:schemeClr val="bg2">
              <a:lumMod val="20000"/>
              <a:lumOff val="80000"/>
            </a:schemeClr>
          </a:solidFill>
          <a:ln w="38100">
            <a:solidFill>
              <a:schemeClr val="tx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PhD in Health AI</a:t>
            </a:r>
          </a:p>
        </p:txBody>
      </p:sp>
      <p:sp>
        <p:nvSpPr>
          <p:cNvPr id="17" name="Hexagon 16">
            <a:extLst>
              <a:ext uri="{FF2B5EF4-FFF2-40B4-BE49-F238E27FC236}">
                <a16:creationId xmlns:a16="http://schemas.microsoft.com/office/drawing/2014/main" id="{4E915C2E-C1B4-53DE-8EAF-93A403418D7D}"/>
              </a:ext>
            </a:extLst>
          </p:cNvPr>
          <p:cNvSpPr/>
          <p:nvPr/>
        </p:nvSpPr>
        <p:spPr>
          <a:xfrm>
            <a:off x="6221909" y="4010763"/>
            <a:ext cx="1999527" cy="1785902"/>
          </a:xfrm>
          <a:prstGeom prst="hexagon">
            <a:avLst/>
          </a:prstGeom>
          <a:solidFill>
            <a:schemeClr val="tx1">
              <a:lumMod val="40000"/>
              <a:lumOff val="60000"/>
            </a:schemeClr>
          </a:solidFill>
          <a:ln w="38100">
            <a:solidFill>
              <a:schemeClr val="tx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MD with</a:t>
            </a:r>
            <a:r>
              <a:rPr lang="en-US" i="1" dirty="0"/>
              <a:t> Distinction in AI</a:t>
            </a:r>
            <a:endParaRPr lang="en-US" dirty="0"/>
          </a:p>
        </p:txBody>
      </p:sp>
      <p:sp>
        <p:nvSpPr>
          <p:cNvPr id="5" name="Title 1">
            <a:extLst>
              <a:ext uri="{FF2B5EF4-FFF2-40B4-BE49-F238E27FC236}">
                <a16:creationId xmlns:a16="http://schemas.microsoft.com/office/drawing/2014/main" id="{284E44A3-0301-43AD-183C-A3768EE13488}"/>
              </a:ext>
            </a:extLst>
          </p:cNvPr>
          <p:cNvSpPr>
            <a:spLocks noGrp="1"/>
          </p:cNvSpPr>
          <p:nvPr>
            <p:ph type="title"/>
          </p:nvPr>
        </p:nvSpPr>
        <p:spPr>
          <a:xfrm>
            <a:off x="691243" y="-52449"/>
            <a:ext cx="10515600" cy="1325563"/>
          </a:xfrm>
        </p:spPr>
        <p:txBody>
          <a:bodyPr>
            <a:normAutofit/>
          </a:bodyPr>
          <a:lstStyle/>
          <a:p>
            <a:r>
              <a:rPr lang="en-US" dirty="0"/>
              <a:t>Educational Programs</a:t>
            </a:r>
          </a:p>
        </p:txBody>
      </p:sp>
      <p:sp>
        <p:nvSpPr>
          <p:cNvPr id="6" name="TextBox 5">
            <a:extLst>
              <a:ext uri="{FF2B5EF4-FFF2-40B4-BE49-F238E27FC236}">
                <a16:creationId xmlns:a16="http://schemas.microsoft.com/office/drawing/2014/main" id="{6F913776-1169-6D2B-D5A7-9F575EE8D6C6}"/>
              </a:ext>
            </a:extLst>
          </p:cNvPr>
          <p:cNvSpPr txBox="1"/>
          <p:nvPr/>
        </p:nvSpPr>
        <p:spPr>
          <a:xfrm>
            <a:off x="8479529" y="4411670"/>
            <a:ext cx="4139489" cy="1200329"/>
          </a:xfrm>
          <a:prstGeom prst="rect">
            <a:avLst/>
          </a:prstGeom>
          <a:noFill/>
        </p:spPr>
        <p:txBody>
          <a:bodyPr wrap="square">
            <a:spAutoFit/>
          </a:bodyPr>
          <a:lstStyle/>
          <a:p>
            <a:r>
              <a:rPr lang="en-US" dirty="0"/>
              <a:t>Digital badges and </a:t>
            </a:r>
            <a:br>
              <a:rPr lang="en-US" dirty="0"/>
            </a:br>
            <a:r>
              <a:rPr lang="en-US" dirty="0"/>
              <a:t>research experiences</a:t>
            </a:r>
          </a:p>
          <a:p>
            <a:endParaRPr lang="en-US" dirty="0"/>
          </a:p>
          <a:p>
            <a:r>
              <a:rPr lang="en-US" dirty="0"/>
              <a:t>Active at NJMS/coming to RWJMS</a:t>
            </a:r>
          </a:p>
        </p:txBody>
      </p:sp>
      <p:sp>
        <p:nvSpPr>
          <p:cNvPr id="7" name="TextBox 6">
            <a:extLst>
              <a:ext uri="{FF2B5EF4-FFF2-40B4-BE49-F238E27FC236}">
                <a16:creationId xmlns:a16="http://schemas.microsoft.com/office/drawing/2014/main" id="{AA8EF85B-9217-7278-F7F0-9216727EBF43}"/>
              </a:ext>
            </a:extLst>
          </p:cNvPr>
          <p:cNvSpPr txBox="1"/>
          <p:nvPr/>
        </p:nvSpPr>
        <p:spPr>
          <a:xfrm>
            <a:off x="443234" y="1379643"/>
            <a:ext cx="3738652" cy="646331"/>
          </a:xfrm>
          <a:prstGeom prst="rect">
            <a:avLst/>
          </a:prstGeom>
          <a:noFill/>
        </p:spPr>
        <p:txBody>
          <a:bodyPr wrap="none" rtlCol="0">
            <a:spAutoFit/>
          </a:bodyPr>
          <a:lstStyle/>
          <a:p>
            <a:br>
              <a:rPr lang="en-US" dirty="0"/>
            </a:br>
            <a:r>
              <a:rPr lang="en-US" dirty="0"/>
              <a:t>2026 MD with Distinction participants</a:t>
            </a:r>
          </a:p>
        </p:txBody>
      </p:sp>
      <p:pic>
        <p:nvPicPr>
          <p:cNvPr id="4" name="Picture 3">
            <a:extLst>
              <a:ext uri="{FF2B5EF4-FFF2-40B4-BE49-F238E27FC236}">
                <a16:creationId xmlns:a16="http://schemas.microsoft.com/office/drawing/2014/main" id="{2F2A4A31-07B5-284F-4ADB-E0B7D3611A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182" y="2062076"/>
            <a:ext cx="4654640" cy="3490980"/>
          </a:xfrm>
          <a:prstGeom prst="rect">
            <a:avLst/>
          </a:prstGeom>
        </p:spPr>
      </p:pic>
      <p:pic>
        <p:nvPicPr>
          <p:cNvPr id="11" name="Picture 10">
            <a:extLst>
              <a:ext uri="{FF2B5EF4-FFF2-40B4-BE49-F238E27FC236}">
                <a16:creationId xmlns:a16="http://schemas.microsoft.com/office/drawing/2014/main" id="{8F09B8D9-8A0C-1D5A-D6AE-C4C56BCAC0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89396" y="3807566"/>
            <a:ext cx="1526424" cy="2035232"/>
          </a:xfrm>
          <a:prstGeom prst="rect">
            <a:avLst/>
          </a:prstGeom>
        </p:spPr>
      </p:pic>
      <p:pic>
        <p:nvPicPr>
          <p:cNvPr id="14" name="Picture 13">
            <a:extLst>
              <a:ext uri="{FF2B5EF4-FFF2-40B4-BE49-F238E27FC236}">
                <a16:creationId xmlns:a16="http://schemas.microsoft.com/office/drawing/2014/main" id="{02C93328-D6E7-F801-4206-13ECB7C04B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48275" y="4063745"/>
            <a:ext cx="1429638" cy="1906184"/>
          </a:xfrm>
          <a:prstGeom prst="rect">
            <a:avLst/>
          </a:prstGeom>
        </p:spPr>
      </p:pic>
    </p:spTree>
    <p:extLst>
      <p:ext uri="{BB962C8B-B14F-4D97-AF65-F5344CB8AC3E}">
        <p14:creationId xmlns:p14="http://schemas.microsoft.com/office/powerpoint/2010/main" val="4690183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CB29243-809F-0CFD-718A-9C8ABBEA21BE}"/>
              </a:ext>
            </a:extLst>
          </p:cNvPr>
          <p:cNvPicPr>
            <a:picLocks noChangeAspect="1"/>
          </p:cNvPicPr>
          <p:nvPr/>
        </p:nvPicPr>
        <p:blipFill>
          <a:blip r:embed="rId3">
            <a:duotone>
              <a:prstClr val="black"/>
              <a:schemeClr val="tx2">
                <a:tint val="45000"/>
                <a:satMod val="400000"/>
              </a:schemeClr>
            </a:duotone>
            <a:alphaModFix amt="25000"/>
          </a:blip>
          <a:srcRect t="15394" b="336"/>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1A04496A-277D-B1F5-968B-7C3D2963E6FF}"/>
              </a:ext>
            </a:extLst>
          </p:cNvPr>
          <p:cNvSpPr>
            <a:spLocks noGrp="1"/>
          </p:cNvSpPr>
          <p:nvPr>
            <p:ph type="title"/>
          </p:nvPr>
        </p:nvSpPr>
        <p:spPr>
          <a:xfrm>
            <a:off x="838200" y="365125"/>
            <a:ext cx="10515600" cy="1325563"/>
          </a:xfrm>
        </p:spPr>
        <p:txBody>
          <a:bodyPr>
            <a:normAutofit/>
          </a:bodyPr>
          <a:lstStyle/>
          <a:p>
            <a:r>
              <a:rPr lang="en-US"/>
              <a:t>Distinction in AI in Medicine </a:t>
            </a:r>
          </a:p>
        </p:txBody>
      </p:sp>
      <p:sp>
        <p:nvSpPr>
          <p:cNvPr id="4" name="TextBox 3">
            <a:extLst>
              <a:ext uri="{FF2B5EF4-FFF2-40B4-BE49-F238E27FC236}">
                <a16:creationId xmlns:a16="http://schemas.microsoft.com/office/drawing/2014/main" id="{A850E78B-9397-E63D-672F-C98E9C697F22}"/>
              </a:ext>
            </a:extLst>
          </p:cNvPr>
          <p:cNvSpPr txBox="1"/>
          <p:nvPr/>
        </p:nvSpPr>
        <p:spPr>
          <a:xfrm>
            <a:off x="630936" y="2807208"/>
            <a:ext cx="4138288" cy="3617556"/>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endParaRPr lang="en-US" sz="1500" dirty="0"/>
          </a:p>
        </p:txBody>
      </p:sp>
      <p:graphicFrame>
        <p:nvGraphicFramePr>
          <p:cNvPr id="6" name="Content Placeholder 2">
            <a:extLst>
              <a:ext uri="{FF2B5EF4-FFF2-40B4-BE49-F238E27FC236}">
                <a16:creationId xmlns:a16="http://schemas.microsoft.com/office/drawing/2014/main" id="{06E1FAFC-E271-4D47-17C8-FE94EEF1F352}"/>
              </a:ext>
            </a:extLst>
          </p:cNvPr>
          <p:cNvGraphicFramePr>
            <a:graphicFrameLocks noGrp="1"/>
          </p:cNvGraphicFramePr>
          <p:nvPr>
            <p:ph idx="1"/>
            <p:extLst>
              <p:ext uri="{D42A27DB-BD31-4B8C-83A1-F6EECF244321}">
                <p14:modId xmlns:p14="http://schemas.microsoft.com/office/powerpoint/2010/main" val="306627448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511397091"/>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49458-0326-9484-29DF-DCED1E5A52A7}"/>
            </a:ext>
          </a:extLst>
        </p:cNvPr>
        <p:cNvGrpSpPr/>
        <p:nvPr/>
      </p:nvGrpSpPr>
      <p:grpSpPr>
        <a:xfrm>
          <a:off x="0" y="0"/>
          <a:ext cx="0" cy="0"/>
          <a:chOff x="0" y="0"/>
          <a:chExt cx="0" cy="0"/>
        </a:xfrm>
      </p:grpSpPr>
      <p:sp>
        <p:nvSpPr>
          <p:cNvPr id="13" name="Hexagon 12">
            <a:extLst>
              <a:ext uri="{FF2B5EF4-FFF2-40B4-BE49-F238E27FC236}">
                <a16:creationId xmlns:a16="http://schemas.microsoft.com/office/drawing/2014/main" id="{E048DF3E-7CD0-EF1A-7DF6-055FE44A35FB}"/>
              </a:ext>
            </a:extLst>
          </p:cNvPr>
          <p:cNvSpPr/>
          <p:nvPr/>
        </p:nvSpPr>
        <p:spPr>
          <a:xfrm>
            <a:off x="6221910" y="2204985"/>
            <a:ext cx="1999527" cy="1785902"/>
          </a:xfrm>
          <a:prstGeom prst="hexagon">
            <a:avLst/>
          </a:prstGeom>
          <a:solidFill>
            <a:schemeClr val="bg2">
              <a:lumMod val="20000"/>
              <a:lumOff val="80000"/>
            </a:schemeClr>
          </a:solidFill>
          <a:ln>
            <a:solidFill>
              <a:schemeClr val="tx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MS in AI Healthcare</a:t>
            </a:r>
          </a:p>
        </p:txBody>
      </p:sp>
      <p:sp>
        <p:nvSpPr>
          <p:cNvPr id="14" name="Hexagon 13">
            <a:extLst>
              <a:ext uri="{FF2B5EF4-FFF2-40B4-BE49-F238E27FC236}">
                <a16:creationId xmlns:a16="http://schemas.microsoft.com/office/drawing/2014/main" id="{B7AE4880-6EFA-097F-FC7E-70B12B78A6A9}"/>
              </a:ext>
            </a:extLst>
          </p:cNvPr>
          <p:cNvSpPr/>
          <p:nvPr/>
        </p:nvSpPr>
        <p:spPr>
          <a:xfrm>
            <a:off x="4618899" y="4923590"/>
            <a:ext cx="1999527" cy="1785902"/>
          </a:xfrm>
          <a:prstGeom prst="hexagon">
            <a:avLst/>
          </a:prstGeom>
          <a:solidFill>
            <a:schemeClr val="tx1">
              <a:lumMod val="40000"/>
              <a:lumOff val="60000"/>
            </a:schemeClr>
          </a:solidFill>
          <a:ln w="38100">
            <a:solidFill>
              <a:schemeClr val="tx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Bootcamps in Health AI</a:t>
            </a:r>
          </a:p>
        </p:txBody>
      </p:sp>
      <p:sp>
        <p:nvSpPr>
          <p:cNvPr id="15" name="Hexagon 14">
            <a:extLst>
              <a:ext uri="{FF2B5EF4-FFF2-40B4-BE49-F238E27FC236}">
                <a16:creationId xmlns:a16="http://schemas.microsoft.com/office/drawing/2014/main" id="{A8291532-29A1-3EE8-0E0E-A47D1D71A61A}"/>
              </a:ext>
            </a:extLst>
          </p:cNvPr>
          <p:cNvSpPr/>
          <p:nvPr/>
        </p:nvSpPr>
        <p:spPr>
          <a:xfrm>
            <a:off x="4641760" y="1273114"/>
            <a:ext cx="1999527" cy="1785902"/>
          </a:xfrm>
          <a:prstGeom prst="hexagon">
            <a:avLst/>
          </a:prstGeom>
          <a:solidFill>
            <a:schemeClr val="bg2">
              <a:lumMod val="20000"/>
              <a:lumOff val="80000"/>
            </a:schemeClr>
          </a:solidFill>
          <a:ln>
            <a:solidFill>
              <a:schemeClr val="tx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PhD  in Health AI</a:t>
            </a:r>
          </a:p>
        </p:txBody>
      </p:sp>
      <p:sp>
        <p:nvSpPr>
          <p:cNvPr id="17" name="Hexagon 16">
            <a:extLst>
              <a:ext uri="{FF2B5EF4-FFF2-40B4-BE49-F238E27FC236}">
                <a16:creationId xmlns:a16="http://schemas.microsoft.com/office/drawing/2014/main" id="{017F7067-AD9F-C65E-C104-F30CEF32E9CE}"/>
              </a:ext>
            </a:extLst>
          </p:cNvPr>
          <p:cNvSpPr/>
          <p:nvPr/>
        </p:nvSpPr>
        <p:spPr>
          <a:xfrm>
            <a:off x="6221909" y="4010763"/>
            <a:ext cx="1999527" cy="1785902"/>
          </a:xfrm>
          <a:prstGeom prst="hexagon">
            <a:avLst/>
          </a:prstGeom>
          <a:solidFill>
            <a:schemeClr val="bg2">
              <a:lumMod val="20000"/>
              <a:lumOff val="80000"/>
            </a:schemeClr>
          </a:solidFill>
          <a:ln>
            <a:solidFill>
              <a:schemeClr val="tx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MD with </a:t>
            </a:r>
            <a:r>
              <a:rPr lang="en-US" i="1" dirty="0"/>
              <a:t>Distinction in AI</a:t>
            </a:r>
            <a:endParaRPr lang="en-US" dirty="0"/>
          </a:p>
        </p:txBody>
      </p:sp>
      <p:sp>
        <p:nvSpPr>
          <p:cNvPr id="5" name="Title 1">
            <a:extLst>
              <a:ext uri="{FF2B5EF4-FFF2-40B4-BE49-F238E27FC236}">
                <a16:creationId xmlns:a16="http://schemas.microsoft.com/office/drawing/2014/main" id="{FD873E64-74B8-91FC-73B8-21D115670C20}"/>
              </a:ext>
            </a:extLst>
          </p:cNvPr>
          <p:cNvSpPr>
            <a:spLocks noGrp="1"/>
          </p:cNvSpPr>
          <p:nvPr>
            <p:ph type="title"/>
          </p:nvPr>
        </p:nvSpPr>
        <p:spPr>
          <a:xfrm>
            <a:off x="691243" y="-52449"/>
            <a:ext cx="10515600" cy="1325563"/>
          </a:xfrm>
        </p:spPr>
        <p:txBody>
          <a:bodyPr>
            <a:normAutofit/>
          </a:bodyPr>
          <a:lstStyle/>
          <a:p>
            <a:r>
              <a:rPr lang="en-US" dirty="0"/>
              <a:t>Educational Programs</a:t>
            </a:r>
          </a:p>
        </p:txBody>
      </p:sp>
      <p:pic>
        <p:nvPicPr>
          <p:cNvPr id="2" name="Picture 1">
            <a:extLst>
              <a:ext uri="{FF2B5EF4-FFF2-40B4-BE49-F238E27FC236}">
                <a16:creationId xmlns:a16="http://schemas.microsoft.com/office/drawing/2014/main" id="{4AC17887-3585-F399-ECD7-1176BA4690B8}"/>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218642" y="1200987"/>
            <a:ext cx="2736301" cy="1440951"/>
          </a:xfrm>
          <a:prstGeom prst="rect">
            <a:avLst/>
          </a:prstGeom>
        </p:spPr>
      </p:pic>
      <p:sp>
        <p:nvSpPr>
          <p:cNvPr id="4" name="TextBox 3">
            <a:extLst>
              <a:ext uri="{FF2B5EF4-FFF2-40B4-BE49-F238E27FC236}">
                <a16:creationId xmlns:a16="http://schemas.microsoft.com/office/drawing/2014/main" id="{AA566CC5-2C3F-865B-A50D-A9EFB8FCB693}"/>
              </a:ext>
            </a:extLst>
          </p:cNvPr>
          <p:cNvSpPr txBox="1"/>
          <p:nvPr/>
        </p:nvSpPr>
        <p:spPr>
          <a:xfrm>
            <a:off x="284052" y="2399752"/>
            <a:ext cx="5169564" cy="3970318"/>
          </a:xfrm>
          <a:prstGeom prst="rect">
            <a:avLst/>
          </a:prstGeom>
          <a:noFill/>
          <a:ln>
            <a:noFill/>
          </a:ln>
        </p:spPr>
        <p:txBody>
          <a:bodyPr wrap="square" rtlCol="0">
            <a:spAutoFit/>
          </a:bodyPr>
          <a:lstStyle/>
          <a:p>
            <a:endParaRPr lang="en-US" b="1" u="sng" dirty="0"/>
          </a:p>
          <a:p>
            <a:r>
              <a:rPr lang="en-US" b="1" u="sng" dirty="0"/>
              <a:t>Bootcamp Program</a:t>
            </a:r>
          </a:p>
          <a:p>
            <a:r>
              <a:rPr lang="en-US" dirty="0"/>
              <a:t>all CLUs are welcome and participated</a:t>
            </a:r>
          </a:p>
          <a:p>
            <a:endParaRPr lang="en-US" b="1" dirty="0"/>
          </a:p>
          <a:p>
            <a:r>
              <a:rPr lang="en-US" b="1" dirty="0"/>
              <a:t>2025: </a:t>
            </a:r>
            <a:r>
              <a:rPr lang="en-US" dirty="0"/>
              <a:t>AI in RNA-seq</a:t>
            </a:r>
            <a:br>
              <a:rPr lang="en-US" dirty="0"/>
            </a:br>
            <a:r>
              <a:rPr lang="en-US" dirty="0"/>
              <a:t>(34 students)</a:t>
            </a:r>
            <a:br>
              <a:rPr lang="en-US" dirty="0"/>
            </a:br>
            <a:endParaRPr lang="en-US" dirty="0"/>
          </a:p>
          <a:p>
            <a:r>
              <a:rPr lang="en-US" b="1" dirty="0"/>
              <a:t>2026: </a:t>
            </a:r>
          </a:p>
          <a:p>
            <a:r>
              <a:rPr lang="en-US" b="1" dirty="0"/>
              <a:t>Two Summer Bootcamps</a:t>
            </a:r>
            <a:br>
              <a:rPr lang="en-US" b="1" dirty="0"/>
            </a:br>
            <a:r>
              <a:rPr lang="en-US" b="1" dirty="0"/>
              <a:t>1. </a:t>
            </a:r>
            <a:r>
              <a:rPr lang="en-US" dirty="0"/>
              <a:t>AI-guided literature Review</a:t>
            </a:r>
          </a:p>
          <a:p>
            <a:r>
              <a:rPr lang="en-US" dirty="0"/>
              <a:t>June 1-5, 2026 (15 students)</a:t>
            </a:r>
          </a:p>
          <a:p>
            <a:r>
              <a:rPr lang="en-US" b="1" dirty="0"/>
              <a:t>2. </a:t>
            </a:r>
            <a:r>
              <a:rPr lang="en-US" dirty="0"/>
              <a:t>AI in RNA-seq analysis </a:t>
            </a:r>
            <a:br>
              <a:rPr lang="en-US" dirty="0"/>
            </a:br>
            <a:r>
              <a:rPr lang="en-US" dirty="0"/>
              <a:t>June 15-19, 2026 (45 students)</a:t>
            </a:r>
          </a:p>
          <a:p>
            <a:endParaRPr lang="en-US" dirty="0"/>
          </a:p>
        </p:txBody>
      </p:sp>
      <p:sp>
        <p:nvSpPr>
          <p:cNvPr id="6" name="TextBox 5">
            <a:extLst>
              <a:ext uri="{FF2B5EF4-FFF2-40B4-BE49-F238E27FC236}">
                <a16:creationId xmlns:a16="http://schemas.microsoft.com/office/drawing/2014/main" id="{F7EC323D-5355-09E1-A056-93D7C69866DD}"/>
              </a:ext>
            </a:extLst>
          </p:cNvPr>
          <p:cNvSpPr txBox="1"/>
          <p:nvPr/>
        </p:nvSpPr>
        <p:spPr>
          <a:xfrm>
            <a:off x="7935194" y="3246971"/>
            <a:ext cx="3972754" cy="1200329"/>
          </a:xfrm>
          <a:prstGeom prst="rect">
            <a:avLst/>
          </a:prstGeom>
          <a:noFill/>
        </p:spPr>
        <p:txBody>
          <a:bodyPr wrap="none" rtlCol="0">
            <a:spAutoFit/>
          </a:bodyPr>
          <a:lstStyle/>
          <a:p>
            <a:r>
              <a:rPr lang="en-US" b="1" dirty="0"/>
              <a:t>Sustainability: </a:t>
            </a:r>
          </a:p>
          <a:p>
            <a:pPr marL="342900" indent="-342900">
              <a:buAutoNum type="arabicPeriod"/>
            </a:pPr>
            <a:r>
              <a:rPr lang="en-US" dirty="0"/>
              <a:t>Convert to </a:t>
            </a:r>
            <a:r>
              <a:rPr lang="en-US" b="1" dirty="0"/>
              <a:t>Digital Badges</a:t>
            </a:r>
            <a:r>
              <a:rPr lang="en-US" dirty="0"/>
              <a:t>, </a:t>
            </a:r>
            <a:br>
              <a:rPr lang="en-US" dirty="0"/>
            </a:br>
            <a:r>
              <a:rPr lang="en-US" dirty="0"/>
              <a:t>1 credit course</a:t>
            </a:r>
            <a:endParaRPr lang="en-US" b="1" dirty="0"/>
          </a:p>
          <a:p>
            <a:pPr marL="342900" indent="-342900">
              <a:buAutoNum type="arabicPeriod"/>
            </a:pPr>
            <a:r>
              <a:rPr lang="en-US" b="1" dirty="0"/>
              <a:t>R25 </a:t>
            </a:r>
            <a:r>
              <a:rPr lang="en-US" dirty="0"/>
              <a:t>PAR-24-252, October 14, 2026</a:t>
            </a:r>
            <a:endParaRPr lang="en-US" b="1" dirty="0"/>
          </a:p>
        </p:txBody>
      </p:sp>
    </p:spTree>
    <p:extLst>
      <p:ext uri="{BB962C8B-B14F-4D97-AF65-F5344CB8AC3E}">
        <p14:creationId xmlns:p14="http://schemas.microsoft.com/office/powerpoint/2010/main" val="17157085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039F3-7A2E-6FC9-17FF-ECCECB99DA50}"/>
            </a:ext>
          </a:extLst>
        </p:cNvPr>
        <p:cNvGrpSpPr/>
        <p:nvPr/>
      </p:nvGrpSpPr>
      <p:grpSpPr>
        <a:xfrm>
          <a:off x="0" y="0"/>
          <a:ext cx="0" cy="0"/>
          <a:chOff x="0" y="0"/>
          <a:chExt cx="0" cy="0"/>
        </a:xfrm>
      </p:grpSpPr>
      <p:sp>
        <p:nvSpPr>
          <p:cNvPr id="13" name="Hexagon 12">
            <a:extLst>
              <a:ext uri="{FF2B5EF4-FFF2-40B4-BE49-F238E27FC236}">
                <a16:creationId xmlns:a16="http://schemas.microsoft.com/office/drawing/2014/main" id="{B8243E3C-035F-25C6-DFF2-8AADC844DAAE}"/>
              </a:ext>
            </a:extLst>
          </p:cNvPr>
          <p:cNvSpPr/>
          <p:nvPr/>
        </p:nvSpPr>
        <p:spPr>
          <a:xfrm>
            <a:off x="6221910" y="2204985"/>
            <a:ext cx="1999527" cy="1785902"/>
          </a:xfrm>
          <a:prstGeom prst="hexagon">
            <a:avLst/>
          </a:prstGeom>
          <a:solidFill>
            <a:schemeClr val="bg2">
              <a:lumMod val="20000"/>
              <a:lumOff val="80000"/>
            </a:schemeClr>
          </a:solidFill>
          <a:ln>
            <a:solidFill>
              <a:schemeClr val="tx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MS in AI Healthcare</a:t>
            </a:r>
          </a:p>
        </p:txBody>
      </p:sp>
      <p:sp>
        <p:nvSpPr>
          <p:cNvPr id="15" name="Hexagon 14">
            <a:extLst>
              <a:ext uri="{FF2B5EF4-FFF2-40B4-BE49-F238E27FC236}">
                <a16:creationId xmlns:a16="http://schemas.microsoft.com/office/drawing/2014/main" id="{736630B8-55CA-3C4A-9942-A37D7062B3EB}"/>
              </a:ext>
            </a:extLst>
          </p:cNvPr>
          <p:cNvSpPr/>
          <p:nvPr/>
        </p:nvSpPr>
        <p:spPr>
          <a:xfrm>
            <a:off x="4641760" y="1273114"/>
            <a:ext cx="1999527" cy="1785902"/>
          </a:xfrm>
          <a:prstGeom prst="hexagon">
            <a:avLst/>
          </a:prstGeom>
          <a:solidFill>
            <a:schemeClr val="bg2">
              <a:lumMod val="20000"/>
              <a:lumOff val="80000"/>
            </a:schemeClr>
          </a:solidFill>
          <a:ln>
            <a:solidFill>
              <a:schemeClr val="tx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PhD  in Health AI</a:t>
            </a:r>
          </a:p>
        </p:txBody>
      </p:sp>
      <p:sp>
        <p:nvSpPr>
          <p:cNvPr id="17" name="Hexagon 16">
            <a:extLst>
              <a:ext uri="{FF2B5EF4-FFF2-40B4-BE49-F238E27FC236}">
                <a16:creationId xmlns:a16="http://schemas.microsoft.com/office/drawing/2014/main" id="{B2DB6070-F7B0-F23F-66B4-FA14E10E0428}"/>
              </a:ext>
            </a:extLst>
          </p:cNvPr>
          <p:cNvSpPr/>
          <p:nvPr/>
        </p:nvSpPr>
        <p:spPr>
          <a:xfrm>
            <a:off x="6221909" y="4010763"/>
            <a:ext cx="1999527" cy="1785902"/>
          </a:xfrm>
          <a:prstGeom prst="hexagon">
            <a:avLst/>
          </a:prstGeom>
          <a:solidFill>
            <a:schemeClr val="bg2">
              <a:lumMod val="20000"/>
              <a:lumOff val="80000"/>
            </a:schemeClr>
          </a:solidFill>
          <a:ln>
            <a:solidFill>
              <a:schemeClr val="tx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Summer</a:t>
            </a:r>
          </a:p>
          <a:p>
            <a:pPr algn="ctr"/>
            <a:r>
              <a:rPr lang="en-US" dirty="0"/>
              <a:t>Internships</a:t>
            </a:r>
            <a:br>
              <a:rPr lang="en-US" dirty="0"/>
            </a:br>
            <a:r>
              <a:rPr lang="en-US" dirty="0"/>
              <a:t>(BS,MS)</a:t>
            </a:r>
          </a:p>
        </p:txBody>
      </p:sp>
      <p:sp>
        <p:nvSpPr>
          <p:cNvPr id="5" name="Title 1">
            <a:extLst>
              <a:ext uri="{FF2B5EF4-FFF2-40B4-BE49-F238E27FC236}">
                <a16:creationId xmlns:a16="http://schemas.microsoft.com/office/drawing/2014/main" id="{4A92086C-72AB-E6D7-C6EE-E47E7A5BEDCB}"/>
              </a:ext>
            </a:extLst>
          </p:cNvPr>
          <p:cNvSpPr>
            <a:spLocks noGrp="1"/>
          </p:cNvSpPr>
          <p:nvPr>
            <p:ph type="title"/>
          </p:nvPr>
        </p:nvSpPr>
        <p:spPr>
          <a:xfrm>
            <a:off x="691243" y="-52449"/>
            <a:ext cx="10515600" cy="1325563"/>
          </a:xfrm>
        </p:spPr>
        <p:txBody>
          <a:bodyPr>
            <a:normAutofit/>
          </a:bodyPr>
          <a:lstStyle/>
          <a:p>
            <a:r>
              <a:rPr lang="en-US" dirty="0"/>
              <a:t>Community Building</a:t>
            </a:r>
          </a:p>
        </p:txBody>
      </p:sp>
      <p:sp>
        <p:nvSpPr>
          <p:cNvPr id="3" name="Hexagon 2">
            <a:extLst>
              <a:ext uri="{FF2B5EF4-FFF2-40B4-BE49-F238E27FC236}">
                <a16:creationId xmlns:a16="http://schemas.microsoft.com/office/drawing/2014/main" id="{44FCF251-3C31-4B62-AAC3-AEF7B9F3D0D6}"/>
              </a:ext>
            </a:extLst>
          </p:cNvPr>
          <p:cNvSpPr/>
          <p:nvPr/>
        </p:nvSpPr>
        <p:spPr>
          <a:xfrm>
            <a:off x="4641760" y="3097936"/>
            <a:ext cx="1999527" cy="1785902"/>
          </a:xfrm>
          <a:prstGeom prst="hexagon">
            <a:avLst/>
          </a:prstGeom>
          <a:solidFill>
            <a:schemeClr val="tx1">
              <a:lumMod val="40000"/>
              <a:lumOff val="60000"/>
            </a:schemeClr>
          </a:solidFill>
          <a:ln w="38100">
            <a:solidFill>
              <a:schemeClr val="tx1">
                <a:lumMod val="20000"/>
                <a:lumOff val="80000"/>
              </a:schemeClr>
            </a:solidFill>
          </a:ln>
          <a:effectLst>
            <a:glow rad="139700">
              <a:schemeClr val="accent1">
                <a:satMod val="175000"/>
                <a:alpha val="40000"/>
              </a:schemeClr>
            </a:glow>
            <a:outerShdw blurRad="63500" sx="102000" sy="102000" algn="ctr"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Symposia and Seminars</a:t>
            </a:r>
          </a:p>
        </p:txBody>
      </p:sp>
      <p:sp>
        <p:nvSpPr>
          <p:cNvPr id="7" name="Hexagon 6">
            <a:extLst>
              <a:ext uri="{FF2B5EF4-FFF2-40B4-BE49-F238E27FC236}">
                <a16:creationId xmlns:a16="http://schemas.microsoft.com/office/drawing/2014/main" id="{7383BC69-0A97-4566-600A-144DDEA3EEF6}"/>
              </a:ext>
            </a:extLst>
          </p:cNvPr>
          <p:cNvSpPr/>
          <p:nvPr/>
        </p:nvSpPr>
        <p:spPr>
          <a:xfrm>
            <a:off x="4618899" y="4923590"/>
            <a:ext cx="1999527" cy="1785902"/>
          </a:xfrm>
          <a:prstGeom prst="hexagon">
            <a:avLst/>
          </a:prstGeom>
          <a:solidFill>
            <a:schemeClr val="bg2">
              <a:lumMod val="20000"/>
              <a:lumOff val="80000"/>
            </a:schemeClr>
          </a:solidFill>
          <a:ln w="38100">
            <a:solidFill>
              <a:schemeClr val="tx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Bootcamp in Health AI</a:t>
            </a:r>
          </a:p>
        </p:txBody>
      </p:sp>
      <p:sp>
        <p:nvSpPr>
          <p:cNvPr id="8" name="TextBox 7">
            <a:extLst>
              <a:ext uri="{FF2B5EF4-FFF2-40B4-BE49-F238E27FC236}">
                <a16:creationId xmlns:a16="http://schemas.microsoft.com/office/drawing/2014/main" id="{DF0E9B30-64BD-FAFC-39E9-9701FB66797C}"/>
              </a:ext>
            </a:extLst>
          </p:cNvPr>
          <p:cNvSpPr txBox="1"/>
          <p:nvPr/>
        </p:nvSpPr>
        <p:spPr>
          <a:xfrm>
            <a:off x="262270" y="676273"/>
            <a:ext cx="5169564" cy="1200329"/>
          </a:xfrm>
          <a:prstGeom prst="rect">
            <a:avLst/>
          </a:prstGeom>
          <a:noFill/>
          <a:ln>
            <a:noFill/>
          </a:ln>
        </p:spPr>
        <p:txBody>
          <a:bodyPr wrap="square" rtlCol="0">
            <a:spAutoFit/>
          </a:bodyPr>
          <a:lstStyle/>
          <a:p>
            <a:endParaRPr lang="en-US" b="1" u="sng" dirty="0"/>
          </a:p>
          <a:p>
            <a:r>
              <a:rPr lang="en-US" b="1" u="sng" dirty="0">
                <a:solidFill>
                  <a:srgbClr val="00B050"/>
                </a:solidFill>
              </a:rPr>
              <a:t>Goal e: </a:t>
            </a:r>
            <a:r>
              <a:rPr lang="en-US" b="1" u="sng" dirty="0"/>
              <a:t>Symposium</a:t>
            </a:r>
          </a:p>
          <a:p>
            <a:r>
              <a:rPr lang="en-US" dirty="0"/>
              <a:t>all CLUs invited</a:t>
            </a:r>
            <a:br>
              <a:rPr lang="en-US" dirty="0"/>
            </a:br>
            <a:endParaRPr lang="en-US" dirty="0"/>
          </a:p>
        </p:txBody>
      </p:sp>
      <p:sp>
        <p:nvSpPr>
          <p:cNvPr id="2" name="Isosceles Triangle 1">
            <a:extLst>
              <a:ext uri="{FF2B5EF4-FFF2-40B4-BE49-F238E27FC236}">
                <a16:creationId xmlns:a16="http://schemas.microsoft.com/office/drawing/2014/main" id="{3D004484-41A3-C579-DDB4-532EFE6273EB}"/>
              </a:ext>
            </a:extLst>
          </p:cNvPr>
          <p:cNvSpPr/>
          <p:nvPr/>
        </p:nvSpPr>
        <p:spPr>
          <a:xfrm rot="6697357">
            <a:off x="2015906" y="1783859"/>
            <a:ext cx="2391486" cy="3145316"/>
          </a:xfrm>
          <a:prstGeom prst="triangle">
            <a:avLst/>
          </a:prstGeom>
          <a:solidFill>
            <a:schemeClr val="tx1">
              <a:lumMod val="40000"/>
              <a:lumOff val="60000"/>
            </a:schemeClr>
          </a:solidFill>
          <a:ln>
            <a:solidFill>
              <a:schemeClr val="tx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Hexagon 3">
            <a:extLst>
              <a:ext uri="{FF2B5EF4-FFF2-40B4-BE49-F238E27FC236}">
                <a16:creationId xmlns:a16="http://schemas.microsoft.com/office/drawing/2014/main" id="{9B0886B1-C471-843C-05D7-B79B3FCD00E8}"/>
              </a:ext>
            </a:extLst>
          </p:cNvPr>
          <p:cNvSpPr/>
          <p:nvPr/>
        </p:nvSpPr>
        <p:spPr>
          <a:xfrm>
            <a:off x="120532" y="1623666"/>
            <a:ext cx="2721854" cy="2264940"/>
          </a:xfrm>
          <a:prstGeom prst="hexagon">
            <a:avLst/>
          </a:prstGeom>
          <a:solidFill>
            <a:schemeClr val="tx1">
              <a:lumMod val="40000"/>
              <a:lumOff val="60000"/>
            </a:schemeClr>
          </a:solidFill>
          <a:ln w="38100">
            <a:solidFill>
              <a:schemeClr val="tx1">
                <a:lumMod val="40000"/>
                <a:lumOff val="60000"/>
              </a:schemeClr>
            </a:solidFill>
          </a:ln>
          <a:effectLst>
            <a:glow rad="139700">
              <a:schemeClr val="accent1">
                <a:satMod val="175000"/>
                <a:alpha val="40000"/>
              </a:schemeClr>
            </a:glow>
            <a:outerShdw blurRad="63500" sx="102000" sy="102000" algn="ctr"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Joint Roadmaps Symposium (Dec 8, 2026)</a:t>
            </a:r>
          </a:p>
        </p:txBody>
      </p:sp>
      <p:sp>
        <p:nvSpPr>
          <p:cNvPr id="6" name="Isosceles Triangle 5">
            <a:extLst>
              <a:ext uri="{FF2B5EF4-FFF2-40B4-BE49-F238E27FC236}">
                <a16:creationId xmlns:a16="http://schemas.microsoft.com/office/drawing/2014/main" id="{3E8C3D33-4696-8CD3-3A81-C5EC209B2283}"/>
              </a:ext>
            </a:extLst>
          </p:cNvPr>
          <p:cNvSpPr/>
          <p:nvPr/>
        </p:nvSpPr>
        <p:spPr>
          <a:xfrm rot="3863478">
            <a:off x="2015906" y="3136941"/>
            <a:ext cx="2391486" cy="3145316"/>
          </a:xfrm>
          <a:prstGeom prst="triangle">
            <a:avLst/>
          </a:prstGeom>
          <a:solidFill>
            <a:schemeClr val="tx1">
              <a:lumMod val="40000"/>
              <a:lumOff val="60000"/>
            </a:schemeClr>
          </a:solidFill>
          <a:ln>
            <a:solidFill>
              <a:schemeClr val="tx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Hexagon 8">
            <a:extLst>
              <a:ext uri="{FF2B5EF4-FFF2-40B4-BE49-F238E27FC236}">
                <a16:creationId xmlns:a16="http://schemas.microsoft.com/office/drawing/2014/main" id="{97DEEE30-8247-2CCF-01B6-6ECF27B49C81}"/>
              </a:ext>
            </a:extLst>
          </p:cNvPr>
          <p:cNvSpPr/>
          <p:nvPr/>
        </p:nvSpPr>
        <p:spPr>
          <a:xfrm>
            <a:off x="120532" y="4239158"/>
            <a:ext cx="2721854" cy="2264940"/>
          </a:xfrm>
          <a:prstGeom prst="hexagon">
            <a:avLst/>
          </a:prstGeom>
          <a:solidFill>
            <a:schemeClr val="tx1">
              <a:lumMod val="40000"/>
              <a:lumOff val="60000"/>
            </a:schemeClr>
          </a:solidFill>
          <a:ln w="38100">
            <a:solidFill>
              <a:schemeClr val="tx1">
                <a:lumMod val="40000"/>
                <a:lumOff val="60000"/>
              </a:schemeClr>
            </a:solidFill>
          </a:ln>
          <a:effectLst>
            <a:glow rad="139700">
              <a:schemeClr val="accent1">
                <a:satMod val="175000"/>
                <a:alpha val="40000"/>
              </a:schemeClr>
            </a:glow>
            <a:outerShdw blurRad="63500" sx="102000" sy="102000" algn="ctr"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Annual BMIHAI Symposium</a:t>
            </a:r>
          </a:p>
          <a:p>
            <a:pPr algn="ctr"/>
            <a:r>
              <a:rPr lang="en-US" dirty="0"/>
              <a:t>(May 13, 2025</a:t>
            </a:r>
            <a:br>
              <a:rPr lang="en-US" dirty="0"/>
            </a:br>
            <a:r>
              <a:rPr lang="en-US" dirty="0"/>
              <a:t>March 23, 2026)</a:t>
            </a:r>
          </a:p>
        </p:txBody>
      </p:sp>
      <p:sp>
        <p:nvSpPr>
          <p:cNvPr id="10" name="Isosceles Triangle 9">
            <a:extLst>
              <a:ext uri="{FF2B5EF4-FFF2-40B4-BE49-F238E27FC236}">
                <a16:creationId xmlns:a16="http://schemas.microsoft.com/office/drawing/2014/main" id="{35CC3D35-E7A1-AA23-9A6E-483C2E4248FB}"/>
              </a:ext>
            </a:extLst>
          </p:cNvPr>
          <p:cNvSpPr/>
          <p:nvPr/>
        </p:nvSpPr>
        <p:spPr>
          <a:xfrm rot="14939833">
            <a:off x="6922912" y="1795008"/>
            <a:ext cx="2391486" cy="3145316"/>
          </a:xfrm>
          <a:prstGeom prst="triangle">
            <a:avLst/>
          </a:prstGeom>
          <a:solidFill>
            <a:schemeClr val="tx1">
              <a:lumMod val="40000"/>
              <a:lumOff val="60000"/>
            </a:schemeClr>
          </a:solidFill>
          <a:ln>
            <a:solidFill>
              <a:schemeClr val="tx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Hexagon 10">
            <a:extLst>
              <a:ext uri="{FF2B5EF4-FFF2-40B4-BE49-F238E27FC236}">
                <a16:creationId xmlns:a16="http://schemas.microsoft.com/office/drawing/2014/main" id="{C2D0D114-29FA-2CCF-8FAF-2BD075BECB6F}"/>
              </a:ext>
            </a:extLst>
          </p:cNvPr>
          <p:cNvSpPr/>
          <p:nvPr/>
        </p:nvSpPr>
        <p:spPr>
          <a:xfrm>
            <a:off x="8569909" y="1677820"/>
            <a:ext cx="2721854" cy="2264940"/>
          </a:xfrm>
          <a:prstGeom prst="hexagon">
            <a:avLst/>
          </a:prstGeom>
          <a:solidFill>
            <a:schemeClr val="tx1">
              <a:lumMod val="40000"/>
              <a:lumOff val="60000"/>
            </a:schemeClr>
          </a:solidFill>
          <a:ln w="38100">
            <a:solidFill>
              <a:schemeClr val="tx1">
                <a:lumMod val="40000"/>
                <a:lumOff val="60000"/>
              </a:schemeClr>
            </a:solidFill>
          </a:ln>
          <a:effectLst>
            <a:glow rad="139700">
              <a:schemeClr val="accent1">
                <a:satMod val="175000"/>
                <a:alpha val="40000"/>
              </a:schemeClr>
            </a:glow>
            <a:outerShdw blurRad="63500" sx="102000" sy="102000" algn="ctr"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Trainee Symposium (July 31, 2026)</a:t>
            </a:r>
          </a:p>
          <a:p>
            <a:pPr algn="ctr"/>
            <a:endParaRPr lang="en-US" dirty="0"/>
          </a:p>
        </p:txBody>
      </p:sp>
      <p:sp>
        <p:nvSpPr>
          <p:cNvPr id="12" name="Isosceles Triangle 11">
            <a:extLst>
              <a:ext uri="{FF2B5EF4-FFF2-40B4-BE49-F238E27FC236}">
                <a16:creationId xmlns:a16="http://schemas.microsoft.com/office/drawing/2014/main" id="{E5DC9828-2B90-7330-2589-650500F26271}"/>
              </a:ext>
            </a:extLst>
          </p:cNvPr>
          <p:cNvSpPr/>
          <p:nvPr/>
        </p:nvSpPr>
        <p:spPr>
          <a:xfrm rot="17612694">
            <a:off x="7027150" y="3033650"/>
            <a:ext cx="2402538" cy="3365416"/>
          </a:xfrm>
          <a:prstGeom prst="triangle">
            <a:avLst/>
          </a:prstGeom>
          <a:solidFill>
            <a:schemeClr val="tx1">
              <a:lumMod val="40000"/>
              <a:lumOff val="60000"/>
            </a:schemeClr>
          </a:solidFill>
          <a:ln>
            <a:solidFill>
              <a:schemeClr val="tx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Hexagon 13">
            <a:extLst>
              <a:ext uri="{FF2B5EF4-FFF2-40B4-BE49-F238E27FC236}">
                <a16:creationId xmlns:a16="http://schemas.microsoft.com/office/drawing/2014/main" id="{7FC32294-0331-F0B5-5FF1-6E4D13F2DFD1}"/>
              </a:ext>
            </a:extLst>
          </p:cNvPr>
          <p:cNvSpPr/>
          <p:nvPr/>
        </p:nvSpPr>
        <p:spPr>
          <a:xfrm>
            <a:off x="8637286" y="4239158"/>
            <a:ext cx="2721854" cy="2264940"/>
          </a:xfrm>
          <a:prstGeom prst="hexagon">
            <a:avLst/>
          </a:prstGeom>
          <a:solidFill>
            <a:schemeClr val="tx1">
              <a:lumMod val="40000"/>
              <a:lumOff val="60000"/>
            </a:schemeClr>
          </a:solidFill>
          <a:ln w="38100">
            <a:solidFill>
              <a:schemeClr val="tx1">
                <a:lumMod val="40000"/>
                <a:lumOff val="60000"/>
              </a:schemeClr>
            </a:solidFill>
          </a:ln>
          <a:effectLst>
            <a:glow rad="139700">
              <a:schemeClr val="accent1">
                <a:satMod val="175000"/>
                <a:alpha val="40000"/>
              </a:schemeClr>
            </a:glow>
            <a:outerShdw blurRad="63500" sx="102000" sy="102000" algn="ctr"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“Health AI” monthly seminar series</a:t>
            </a:r>
          </a:p>
        </p:txBody>
      </p:sp>
    </p:spTree>
    <p:extLst>
      <p:ext uri="{BB962C8B-B14F-4D97-AF65-F5344CB8AC3E}">
        <p14:creationId xmlns:p14="http://schemas.microsoft.com/office/powerpoint/2010/main" val="9523210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06310-D15A-BC30-BF6E-D81030A24E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90B2F1-82AF-2FF3-E233-F34CA95C2210}"/>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3800" kern="1200" dirty="0">
                <a:solidFill>
                  <a:schemeClr val="tx1"/>
                </a:solidFill>
                <a:latin typeface="+mj-lt"/>
                <a:ea typeface="+mj-ea"/>
                <a:cs typeface="+mj-cs"/>
              </a:rPr>
              <a:t>Rutgers Health AI Virtual Seminar Series</a:t>
            </a:r>
          </a:p>
        </p:txBody>
      </p:sp>
      <p:sp>
        <p:nvSpPr>
          <p:cNvPr id="10" name="TextBox 9">
            <a:extLst>
              <a:ext uri="{FF2B5EF4-FFF2-40B4-BE49-F238E27FC236}">
                <a16:creationId xmlns:a16="http://schemas.microsoft.com/office/drawing/2014/main" id="{422F45D5-7734-10DF-A588-BDD7D27ED24C}"/>
              </a:ext>
            </a:extLst>
          </p:cNvPr>
          <p:cNvSpPr txBox="1"/>
          <p:nvPr/>
        </p:nvSpPr>
        <p:spPr>
          <a:xfrm>
            <a:off x="630936" y="2807208"/>
            <a:ext cx="3429000" cy="3410712"/>
          </a:xfrm>
          <a:prstGeom prst="rect">
            <a:avLst/>
          </a:prstGeom>
        </p:spPr>
        <p:txBody>
          <a:bodyPr vert="horz" lIns="91440" tIns="45720" rIns="91440" bIns="45720" rtlCol="0" anchor="t">
            <a:normAutofit/>
          </a:bodyPr>
          <a:lstStyle/>
          <a:p>
            <a:pPr marL="342900" indent="-228600" defTabSz="914400">
              <a:lnSpc>
                <a:spcPct val="90000"/>
              </a:lnSpc>
              <a:spcAft>
                <a:spcPts val="600"/>
              </a:spcAft>
              <a:buFont typeface="Arial" panose="020B0604020202020204" pitchFamily="34" charset="0"/>
              <a:buChar char="•"/>
            </a:pPr>
            <a:r>
              <a:rPr lang="en-US" sz="2200">
                <a:effectLst/>
              </a:rPr>
              <a:t>Second </a:t>
            </a:r>
            <a:r>
              <a:rPr lang="en-US" sz="2200"/>
              <a:t>Thursday of each month 5:30-7pm</a:t>
            </a:r>
          </a:p>
          <a:p>
            <a:pPr marL="342900" indent="-228600" defTabSz="914400">
              <a:lnSpc>
                <a:spcPct val="90000"/>
              </a:lnSpc>
              <a:spcAft>
                <a:spcPts val="600"/>
              </a:spcAft>
              <a:buFont typeface="Arial" panose="020B0604020202020204" pitchFamily="34" charset="0"/>
              <a:buChar char="•"/>
            </a:pPr>
            <a:r>
              <a:rPr lang="en-US" sz="2200">
                <a:effectLst/>
              </a:rPr>
              <a:t>Ice breakers followed by a seminar</a:t>
            </a:r>
          </a:p>
          <a:p>
            <a:pPr marL="342900" indent="-228600" defTabSz="914400">
              <a:lnSpc>
                <a:spcPct val="90000"/>
              </a:lnSpc>
              <a:spcAft>
                <a:spcPts val="600"/>
              </a:spcAft>
              <a:buFont typeface="Arial" panose="020B0604020202020204" pitchFamily="34" charset="0"/>
              <a:buChar char="•"/>
            </a:pPr>
            <a:r>
              <a:rPr lang="en-US" sz="2200">
                <a:effectLst/>
              </a:rPr>
              <a:t>Connect faculty, staff, and students interested in AI research. </a:t>
            </a:r>
          </a:p>
          <a:p>
            <a:pPr marL="342900" indent="-228600" defTabSz="914400">
              <a:lnSpc>
                <a:spcPct val="90000"/>
              </a:lnSpc>
              <a:spcAft>
                <a:spcPts val="600"/>
              </a:spcAft>
              <a:buFont typeface="Arial" panose="020B0604020202020204" pitchFamily="34" charset="0"/>
              <a:buChar char="•"/>
            </a:pPr>
            <a:r>
              <a:rPr lang="en-US" sz="2200"/>
              <a:t>Emphasis on junior faculty</a:t>
            </a:r>
            <a:endParaRPr lang="en-US" sz="2200">
              <a:effectLst/>
            </a:endParaRPr>
          </a:p>
        </p:txBody>
      </p:sp>
      <p:pic>
        <p:nvPicPr>
          <p:cNvPr id="9" name="Picture 8">
            <a:extLst>
              <a:ext uri="{FF2B5EF4-FFF2-40B4-BE49-F238E27FC236}">
                <a16:creationId xmlns:a16="http://schemas.microsoft.com/office/drawing/2014/main" id="{1CF47FB9-4BFF-6BCF-E5BF-80F712914E14}"/>
              </a:ext>
            </a:extLst>
          </p:cNvPr>
          <p:cNvPicPr>
            <a:picLocks noChangeAspect="1"/>
          </p:cNvPicPr>
          <p:nvPr/>
        </p:nvPicPr>
        <p:blipFill>
          <a:blip r:embed="rId2"/>
          <a:stretch>
            <a:fillRect/>
          </a:stretch>
        </p:blipFill>
        <p:spPr>
          <a:xfrm>
            <a:off x="3969770" y="956363"/>
            <a:ext cx="8150832" cy="4579023"/>
          </a:xfrm>
          <a:prstGeom prst="rect">
            <a:avLst/>
          </a:prstGeom>
        </p:spPr>
      </p:pic>
    </p:spTree>
    <p:extLst>
      <p:ext uri="{BB962C8B-B14F-4D97-AF65-F5344CB8AC3E}">
        <p14:creationId xmlns:p14="http://schemas.microsoft.com/office/powerpoint/2010/main" val="466507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9BCB1-56BA-072F-0C61-51AC642616A3}"/>
            </a:ext>
          </a:extLst>
        </p:cNvPr>
        <p:cNvGrpSpPr/>
        <p:nvPr/>
      </p:nvGrpSpPr>
      <p:grpSpPr>
        <a:xfrm>
          <a:off x="0" y="0"/>
          <a:ext cx="0" cy="0"/>
          <a:chOff x="0" y="0"/>
          <a:chExt cx="0" cy="0"/>
        </a:xfrm>
      </p:grpSpPr>
      <p:sp>
        <p:nvSpPr>
          <p:cNvPr id="13" name="Hexagon 12">
            <a:extLst>
              <a:ext uri="{FF2B5EF4-FFF2-40B4-BE49-F238E27FC236}">
                <a16:creationId xmlns:a16="http://schemas.microsoft.com/office/drawing/2014/main" id="{14BCA54E-893F-C2A6-4D5B-D2B27C6A2084}"/>
              </a:ext>
            </a:extLst>
          </p:cNvPr>
          <p:cNvSpPr/>
          <p:nvPr/>
        </p:nvSpPr>
        <p:spPr>
          <a:xfrm>
            <a:off x="6221910" y="2204985"/>
            <a:ext cx="1999527" cy="1785902"/>
          </a:xfrm>
          <a:prstGeom prst="hexagon">
            <a:avLst/>
          </a:prstGeom>
          <a:solidFill>
            <a:schemeClr val="bg2">
              <a:lumMod val="20000"/>
              <a:lumOff val="80000"/>
            </a:schemeClr>
          </a:solidFill>
          <a:ln>
            <a:solidFill>
              <a:schemeClr val="tx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MS in AI Healthcare</a:t>
            </a:r>
          </a:p>
        </p:txBody>
      </p:sp>
      <p:sp>
        <p:nvSpPr>
          <p:cNvPr id="15" name="Hexagon 14">
            <a:extLst>
              <a:ext uri="{FF2B5EF4-FFF2-40B4-BE49-F238E27FC236}">
                <a16:creationId xmlns:a16="http://schemas.microsoft.com/office/drawing/2014/main" id="{7733DC17-1BDB-D9E5-AAE4-46D04D695A69}"/>
              </a:ext>
            </a:extLst>
          </p:cNvPr>
          <p:cNvSpPr/>
          <p:nvPr/>
        </p:nvSpPr>
        <p:spPr>
          <a:xfrm>
            <a:off x="4641760" y="1273114"/>
            <a:ext cx="1999527" cy="1785902"/>
          </a:xfrm>
          <a:prstGeom prst="hexagon">
            <a:avLst/>
          </a:prstGeom>
          <a:solidFill>
            <a:schemeClr val="bg2">
              <a:lumMod val="20000"/>
              <a:lumOff val="80000"/>
            </a:schemeClr>
          </a:solidFill>
          <a:ln>
            <a:solidFill>
              <a:schemeClr val="tx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PhD  in Health AI</a:t>
            </a:r>
          </a:p>
        </p:txBody>
      </p:sp>
      <p:sp>
        <p:nvSpPr>
          <p:cNvPr id="17" name="Hexagon 16">
            <a:extLst>
              <a:ext uri="{FF2B5EF4-FFF2-40B4-BE49-F238E27FC236}">
                <a16:creationId xmlns:a16="http://schemas.microsoft.com/office/drawing/2014/main" id="{C59CB751-A0C9-6C99-08C7-8110685283BC}"/>
              </a:ext>
            </a:extLst>
          </p:cNvPr>
          <p:cNvSpPr/>
          <p:nvPr/>
        </p:nvSpPr>
        <p:spPr>
          <a:xfrm>
            <a:off x="6221909" y="4010763"/>
            <a:ext cx="1999527" cy="1785902"/>
          </a:xfrm>
          <a:prstGeom prst="hexagon">
            <a:avLst/>
          </a:prstGeom>
          <a:solidFill>
            <a:schemeClr val="bg2">
              <a:lumMod val="20000"/>
              <a:lumOff val="80000"/>
            </a:schemeClr>
          </a:solidFill>
          <a:ln>
            <a:solidFill>
              <a:schemeClr val="tx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MD with </a:t>
            </a:r>
            <a:r>
              <a:rPr lang="en-US" i="1" dirty="0"/>
              <a:t>Distinction in AI</a:t>
            </a:r>
            <a:endParaRPr lang="en-US" dirty="0"/>
          </a:p>
        </p:txBody>
      </p:sp>
      <p:sp>
        <p:nvSpPr>
          <p:cNvPr id="5" name="Title 1">
            <a:extLst>
              <a:ext uri="{FF2B5EF4-FFF2-40B4-BE49-F238E27FC236}">
                <a16:creationId xmlns:a16="http://schemas.microsoft.com/office/drawing/2014/main" id="{F1BFF3B1-D087-D1E6-2820-3035C7D3983A}"/>
              </a:ext>
            </a:extLst>
          </p:cNvPr>
          <p:cNvSpPr>
            <a:spLocks noGrp="1"/>
          </p:cNvSpPr>
          <p:nvPr>
            <p:ph type="title"/>
          </p:nvPr>
        </p:nvSpPr>
        <p:spPr>
          <a:xfrm>
            <a:off x="691243" y="-52449"/>
            <a:ext cx="10515600" cy="1325563"/>
          </a:xfrm>
        </p:spPr>
        <p:txBody>
          <a:bodyPr>
            <a:normAutofit/>
          </a:bodyPr>
          <a:lstStyle/>
          <a:p>
            <a:r>
              <a:rPr lang="en-US" dirty="0"/>
              <a:t>Community Building</a:t>
            </a:r>
          </a:p>
        </p:txBody>
      </p:sp>
      <p:sp>
        <p:nvSpPr>
          <p:cNvPr id="3" name="Hexagon 2">
            <a:extLst>
              <a:ext uri="{FF2B5EF4-FFF2-40B4-BE49-F238E27FC236}">
                <a16:creationId xmlns:a16="http://schemas.microsoft.com/office/drawing/2014/main" id="{05B6C709-22B1-3E7F-07F9-ADCC94FC206B}"/>
              </a:ext>
            </a:extLst>
          </p:cNvPr>
          <p:cNvSpPr/>
          <p:nvPr/>
        </p:nvSpPr>
        <p:spPr>
          <a:xfrm>
            <a:off x="4641760" y="3097936"/>
            <a:ext cx="1999527" cy="1785902"/>
          </a:xfrm>
          <a:prstGeom prst="hexagon">
            <a:avLst/>
          </a:prstGeom>
          <a:solidFill>
            <a:schemeClr val="tx1">
              <a:lumMod val="40000"/>
              <a:lumOff val="60000"/>
            </a:schemeClr>
          </a:solidFill>
          <a:ln w="38100">
            <a:solidFill>
              <a:schemeClr val="tx1">
                <a:lumMod val="20000"/>
                <a:lumOff val="80000"/>
              </a:schemeClr>
            </a:solidFill>
          </a:ln>
          <a:effectLst>
            <a:glow rad="139700">
              <a:schemeClr val="accent1">
                <a:satMod val="175000"/>
                <a:alpha val="40000"/>
              </a:schemeClr>
            </a:glow>
            <a:outerShdw blurRad="63500" sx="102000" sy="102000" algn="ctr"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Symposia and Seminars</a:t>
            </a:r>
          </a:p>
        </p:txBody>
      </p:sp>
      <p:sp>
        <p:nvSpPr>
          <p:cNvPr id="7" name="Hexagon 6">
            <a:extLst>
              <a:ext uri="{FF2B5EF4-FFF2-40B4-BE49-F238E27FC236}">
                <a16:creationId xmlns:a16="http://schemas.microsoft.com/office/drawing/2014/main" id="{5331E96E-EE18-09F5-2D64-F45AF1D71953}"/>
              </a:ext>
            </a:extLst>
          </p:cNvPr>
          <p:cNvSpPr/>
          <p:nvPr/>
        </p:nvSpPr>
        <p:spPr>
          <a:xfrm>
            <a:off x="4618899" y="4923590"/>
            <a:ext cx="1999527" cy="1785902"/>
          </a:xfrm>
          <a:prstGeom prst="hexagon">
            <a:avLst/>
          </a:prstGeom>
          <a:solidFill>
            <a:schemeClr val="bg2">
              <a:lumMod val="20000"/>
              <a:lumOff val="80000"/>
            </a:schemeClr>
          </a:solidFill>
          <a:ln w="38100">
            <a:solidFill>
              <a:schemeClr val="tx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Bootcamp in Health AI</a:t>
            </a:r>
          </a:p>
        </p:txBody>
      </p:sp>
      <p:sp>
        <p:nvSpPr>
          <p:cNvPr id="8" name="TextBox 7">
            <a:extLst>
              <a:ext uri="{FF2B5EF4-FFF2-40B4-BE49-F238E27FC236}">
                <a16:creationId xmlns:a16="http://schemas.microsoft.com/office/drawing/2014/main" id="{CE04B4C5-4223-24C0-91FB-34CBB83CC54F}"/>
              </a:ext>
            </a:extLst>
          </p:cNvPr>
          <p:cNvSpPr txBox="1"/>
          <p:nvPr/>
        </p:nvSpPr>
        <p:spPr>
          <a:xfrm>
            <a:off x="262270" y="676273"/>
            <a:ext cx="5169564" cy="2585323"/>
          </a:xfrm>
          <a:prstGeom prst="rect">
            <a:avLst/>
          </a:prstGeom>
          <a:noFill/>
          <a:ln>
            <a:noFill/>
          </a:ln>
        </p:spPr>
        <p:txBody>
          <a:bodyPr wrap="square" rtlCol="0">
            <a:spAutoFit/>
          </a:bodyPr>
          <a:lstStyle/>
          <a:p>
            <a:endParaRPr lang="en-US" b="1" u="sng" dirty="0"/>
          </a:p>
          <a:p>
            <a:r>
              <a:rPr lang="en-US" b="1" u="sng" dirty="0"/>
              <a:t>Symposium</a:t>
            </a:r>
            <a:br>
              <a:rPr lang="en-US" dirty="0"/>
            </a:br>
            <a:endParaRPr lang="en-US" dirty="0"/>
          </a:p>
          <a:p>
            <a:r>
              <a:rPr lang="en-US" dirty="0"/>
              <a:t>Industry partnerships</a:t>
            </a:r>
          </a:p>
          <a:p>
            <a:r>
              <a:rPr lang="en-US" dirty="0"/>
              <a:t>established</a:t>
            </a:r>
            <a:br>
              <a:rPr lang="en-US" dirty="0"/>
            </a:br>
            <a:br>
              <a:rPr lang="en-US" b="1" dirty="0"/>
            </a:br>
            <a:br>
              <a:rPr lang="en-US" b="1" dirty="0"/>
            </a:br>
            <a:endParaRPr lang="en-US" dirty="0"/>
          </a:p>
          <a:p>
            <a:endParaRPr lang="en-US" dirty="0"/>
          </a:p>
        </p:txBody>
      </p:sp>
      <p:pic>
        <p:nvPicPr>
          <p:cNvPr id="10" name="Picture 9">
            <a:extLst>
              <a:ext uri="{FF2B5EF4-FFF2-40B4-BE49-F238E27FC236}">
                <a16:creationId xmlns:a16="http://schemas.microsoft.com/office/drawing/2014/main" id="{74480B26-7F3D-9996-2533-8DDC17D5B051}"/>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262270" y="2669321"/>
            <a:ext cx="3712964" cy="3500505"/>
          </a:xfrm>
          <a:prstGeom prst="rect">
            <a:avLst/>
          </a:prstGeom>
        </p:spPr>
      </p:pic>
      <p:sp>
        <p:nvSpPr>
          <p:cNvPr id="11" name="TextBox 10">
            <a:extLst>
              <a:ext uri="{FF2B5EF4-FFF2-40B4-BE49-F238E27FC236}">
                <a16:creationId xmlns:a16="http://schemas.microsoft.com/office/drawing/2014/main" id="{1C2C3CBC-73BA-E9D1-E405-EE2912AB7D71}"/>
              </a:ext>
            </a:extLst>
          </p:cNvPr>
          <p:cNvSpPr txBox="1"/>
          <p:nvPr/>
        </p:nvSpPr>
        <p:spPr>
          <a:xfrm>
            <a:off x="8451955" y="1273114"/>
            <a:ext cx="3544964" cy="3139321"/>
          </a:xfrm>
          <a:prstGeom prst="rect">
            <a:avLst/>
          </a:prstGeom>
          <a:noFill/>
        </p:spPr>
        <p:txBody>
          <a:bodyPr wrap="square">
            <a:spAutoFit/>
          </a:bodyPr>
          <a:lstStyle/>
          <a:p>
            <a:r>
              <a:rPr lang="en-US" b="1" dirty="0"/>
              <a:t>Highlights:</a:t>
            </a:r>
          </a:p>
          <a:p>
            <a:br>
              <a:rPr lang="en-US" dirty="0"/>
            </a:br>
            <a:r>
              <a:rPr lang="en-US" dirty="0"/>
              <a:t>- Trainee mentorship session over lunch</a:t>
            </a:r>
          </a:p>
          <a:p>
            <a:endParaRPr lang="en-US" dirty="0"/>
          </a:p>
          <a:p>
            <a:r>
              <a:rPr lang="en-US" dirty="0"/>
              <a:t>- Poster Awards + oncology Poster Awards (lots of excitement)</a:t>
            </a:r>
            <a:br>
              <a:rPr lang="en-US" dirty="0"/>
            </a:br>
            <a:br>
              <a:rPr lang="en-US" dirty="0"/>
            </a:br>
            <a:endParaRPr lang="en-US" dirty="0"/>
          </a:p>
          <a:p>
            <a:pPr marL="342900" indent="-342900">
              <a:buAutoNum type="arabicPeriod"/>
            </a:pPr>
            <a:endParaRPr lang="en-US" dirty="0"/>
          </a:p>
        </p:txBody>
      </p:sp>
    </p:spTree>
    <p:extLst>
      <p:ext uri="{BB962C8B-B14F-4D97-AF65-F5344CB8AC3E}">
        <p14:creationId xmlns:p14="http://schemas.microsoft.com/office/powerpoint/2010/main" val="23097729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32B64-85B8-DB7F-D84F-04C1FDF7C049}"/>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789050A-906D-8C1D-3917-D8DD2643F377}"/>
              </a:ext>
            </a:extLst>
          </p:cNvPr>
          <p:cNvPicPr>
            <a:picLocks noChangeAspect="1"/>
          </p:cNvPicPr>
          <p:nvPr/>
        </p:nvPicPr>
        <p:blipFill>
          <a:blip r:embed="rId2" cstate="print">
            <a:extLst>
              <a:ext uri="{28A0092B-C50C-407E-A947-70E740481C1C}">
                <a14:useLocalDpi xmlns:a14="http://schemas.microsoft.com/office/drawing/2010/main"/>
              </a:ext>
            </a:extLst>
          </a:blip>
          <a:srcRect/>
          <a:stretch>
            <a:fillRect/>
          </a:stretch>
        </p:blipFill>
        <p:spPr>
          <a:xfrm>
            <a:off x="170399" y="1489929"/>
            <a:ext cx="3050441" cy="1976201"/>
          </a:xfrm>
          <a:prstGeom prst="rect">
            <a:avLst/>
          </a:prstGeom>
        </p:spPr>
      </p:pic>
      <p:sp>
        <p:nvSpPr>
          <p:cNvPr id="13" name="Hexagon 12">
            <a:extLst>
              <a:ext uri="{FF2B5EF4-FFF2-40B4-BE49-F238E27FC236}">
                <a16:creationId xmlns:a16="http://schemas.microsoft.com/office/drawing/2014/main" id="{A10103A3-15E3-F211-B6EF-DA8BA6516637}"/>
              </a:ext>
            </a:extLst>
          </p:cNvPr>
          <p:cNvSpPr/>
          <p:nvPr/>
        </p:nvSpPr>
        <p:spPr>
          <a:xfrm>
            <a:off x="6221910" y="2204985"/>
            <a:ext cx="1999527" cy="1785902"/>
          </a:xfrm>
          <a:prstGeom prst="hexagon">
            <a:avLst/>
          </a:prstGeom>
          <a:solidFill>
            <a:schemeClr val="bg2">
              <a:lumMod val="20000"/>
              <a:lumOff val="80000"/>
            </a:schemeClr>
          </a:solidFill>
          <a:ln>
            <a:solidFill>
              <a:schemeClr val="tx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MS in AI Healthcare</a:t>
            </a:r>
          </a:p>
        </p:txBody>
      </p:sp>
      <p:sp>
        <p:nvSpPr>
          <p:cNvPr id="14" name="Hexagon 13">
            <a:extLst>
              <a:ext uri="{FF2B5EF4-FFF2-40B4-BE49-F238E27FC236}">
                <a16:creationId xmlns:a16="http://schemas.microsoft.com/office/drawing/2014/main" id="{258F24B4-6232-32EE-3DA0-0B5D22D3B173}"/>
              </a:ext>
            </a:extLst>
          </p:cNvPr>
          <p:cNvSpPr/>
          <p:nvPr/>
        </p:nvSpPr>
        <p:spPr>
          <a:xfrm>
            <a:off x="4618899" y="4923590"/>
            <a:ext cx="1999527" cy="1785902"/>
          </a:xfrm>
          <a:prstGeom prst="hexagon">
            <a:avLst/>
          </a:prstGeom>
          <a:solidFill>
            <a:schemeClr val="bg2">
              <a:lumMod val="20000"/>
              <a:lumOff val="80000"/>
            </a:schemeClr>
          </a:solidFill>
          <a:ln w="38100">
            <a:solidFill>
              <a:schemeClr val="tx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Bootcamp in Health AI</a:t>
            </a:r>
          </a:p>
        </p:txBody>
      </p:sp>
      <p:sp>
        <p:nvSpPr>
          <p:cNvPr id="15" name="Hexagon 14">
            <a:extLst>
              <a:ext uri="{FF2B5EF4-FFF2-40B4-BE49-F238E27FC236}">
                <a16:creationId xmlns:a16="http://schemas.microsoft.com/office/drawing/2014/main" id="{70551FA6-0D4F-5577-D912-FC2BE95D8747}"/>
              </a:ext>
            </a:extLst>
          </p:cNvPr>
          <p:cNvSpPr/>
          <p:nvPr/>
        </p:nvSpPr>
        <p:spPr>
          <a:xfrm>
            <a:off x="4641760" y="1273114"/>
            <a:ext cx="1999527" cy="1785902"/>
          </a:xfrm>
          <a:prstGeom prst="hexagon">
            <a:avLst/>
          </a:prstGeom>
          <a:solidFill>
            <a:schemeClr val="bg2">
              <a:lumMod val="20000"/>
              <a:lumOff val="80000"/>
            </a:schemeClr>
          </a:solidFill>
          <a:ln>
            <a:solidFill>
              <a:schemeClr val="tx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PhD in Health AI</a:t>
            </a:r>
          </a:p>
        </p:txBody>
      </p:sp>
      <p:sp>
        <p:nvSpPr>
          <p:cNvPr id="17" name="Hexagon 16">
            <a:extLst>
              <a:ext uri="{FF2B5EF4-FFF2-40B4-BE49-F238E27FC236}">
                <a16:creationId xmlns:a16="http://schemas.microsoft.com/office/drawing/2014/main" id="{C10DB6E7-33C6-CBC6-10BB-9CB7835E8315}"/>
              </a:ext>
            </a:extLst>
          </p:cNvPr>
          <p:cNvSpPr/>
          <p:nvPr/>
        </p:nvSpPr>
        <p:spPr>
          <a:xfrm>
            <a:off x="6221909" y="4010763"/>
            <a:ext cx="1999527" cy="1785902"/>
          </a:xfrm>
          <a:prstGeom prst="hexagon">
            <a:avLst/>
          </a:prstGeom>
          <a:solidFill>
            <a:schemeClr val="bg2">
              <a:lumMod val="20000"/>
              <a:lumOff val="80000"/>
            </a:schemeClr>
          </a:solidFill>
          <a:ln>
            <a:solidFill>
              <a:schemeClr val="tx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MD with Distinction in AI</a:t>
            </a:r>
          </a:p>
        </p:txBody>
      </p:sp>
      <p:sp>
        <p:nvSpPr>
          <p:cNvPr id="18" name="Hexagon 17">
            <a:extLst>
              <a:ext uri="{FF2B5EF4-FFF2-40B4-BE49-F238E27FC236}">
                <a16:creationId xmlns:a16="http://schemas.microsoft.com/office/drawing/2014/main" id="{2F159675-7408-AA07-217A-6D6C25A02CBD}"/>
              </a:ext>
            </a:extLst>
          </p:cNvPr>
          <p:cNvSpPr/>
          <p:nvPr/>
        </p:nvSpPr>
        <p:spPr>
          <a:xfrm>
            <a:off x="3015889" y="3971843"/>
            <a:ext cx="1999527" cy="1785902"/>
          </a:xfrm>
          <a:prstGeom prst="hexagon">
            <a:avLst/>
          </a:prstGeom>
          <a:solidFill>
            <a:schemeClr val="tx1">
              <a:lumMod val="40000"/>
              <a:lumOff val="60000"/>
            </a:schemeClr>
          </a:solidFill>
          <a:ln w="38100">
            <a:solidFill>
              <a:schemeClr val="tx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Pilot grants </a:t>
            </a:r>
          </a:p>
          <a:p>
            <a:pPr algn="ctr"/>
            <a:r>
              <a:rPr lang="en-US" dirty="0"/>
              <a:t>in Health AI</a:t>
            </a:r>
          </a:p>
        </p:txBody>
      </p:sp>
      <p:sp>
        <p:nvSpPr>
          <p:cNvPr id="5" name="Title 1">
            <a:extLst>
              <a:ext uri="{FF2B5EF4-FFF2-40B4-BE49-F238E27FC236}">
                <a16:creationId xmlns:a16="http://schemas.microsoft.com/office/drawing/2014/main" id="{4C916FD2-75CC-3BB8-9EAB-A7D3DC64D0BB}"/>
              </a:ext>
            </a:extLst>
          </p:cNvPr>
          <p:cNvSpPr>
            <a:spLocks noGrp="1"/>
          </p:cNvSpPr>
          <p:nvPr>
            <p:ph type="title"/>
          </p:nvPr>
        </p:nvSpPr>
        <p:spPr>
          <a:xfrm>
            <a:off x="691243" y="-52449"/>
            <a:ext cx="10515600" cy="1325563"/>
          </a:xfrm>
        </p:spPr>
        <p:txBody>
          <a:bodyPr>
            <a:normAutofit/>
          </a:bodyPr>
          <a:lstStyle/>
          <a:p>
            <a:r>
              <a:rPr lang="en-US" dirty="0"/>
              <a:t>Grant making</a:t>
            </a:r>
          </a:p>
        </p:txBody>
      </p:sp>
      <p:sp>
        <p:nvSpPr>
          <p:cNvPr id="6" name="TextBox 5">
            <a:extLst>
              <a:ext uri="{FF2B5EF4-FFF2-40B4-BE49-F238E27FC236}">
                <a16:creationId xmlns:a16="http://schemas.microsoft.com/office/drawing/2014/main" id="{B9AEEB67-60F0-B9C8-01C7-EE62F00B296A}"/>
              </a:ext>
            </a:extLst>
          </p:cNvPr>
          <p:cNvSpPr txBox="1"/>
          <p:nvPr/>
        </p:nvSpPr>
        <p:spPr>
          <a:xfrm>
            <a:off x="98695" y="3951967"/>
            <a:ext cx="3336572" cy="2031325"/>
          </a:xfrm>
          <a:prstGeom prst="rect">
            <a:avLst/>
          </a:prstGeom>
          <a:noFill/>
        </p:spPr>
        <p:txBody>
          <a:bodyPr wrap="square">
            <a:spAutoFit/>
          </a:bodyPr>
          <a:lstStyle/>
          <a:p>
            <a:r>
              <a:rPr lang="en-US" b="1" u="sng" dirty="0">
                <a:solidFill>
                  <a:srgbClr val="00B050"/>
                </a:solidFill>
              </a:rPr>
              <a:t>Goal h: </a:t>
            </a:r>
            <a:r>
              <a:rPr lang="en-US" b="1" u="sng" dirty="0"/>
              <a:t>Pilot grant: </a:t>
            </a:r>
            <a:br>
              <a:rPr lang="en-US" dirty="0"/>
            </a:br>
            <a:r>
              <a:rPr lang="en-US" i="1" dirty="0"/>
              <a:t>New, multi-disciplinary,</a:t>
            </a:r>
          </a:p>
          <a:p>
            <a:r>
              <a:rPr lang="en-US" i="1" dirty="0"/>
              <a:t>cross-CLU collaborations</a:t>
            </a:r>
          </a:p>
          <a:p>
            <a:endParaRPr lang="en-US" dirty="0"/>
          </a:p>
          <a:p>
            <a:r>
              <a:rPr lang="en-US" b="1" u="sng" dirty="0"/>
              <a:t>2025</a:t>
            </a:r>
            <a:r>
              <a:rPr lang="en-US" dirty="0"/>
              <a:t> – 3 proposals funded</a:t>
            </a:r>
          </a:p>
          <a:p>
            <a:r>
              <a:rPr lang="en-US" dirty="0"/>
              <a:t>(18 applications received)</a:t>
            </a:r>
          </a:p>
          <a:p>
            <a:endParaRPr lang="en-US" dirty="0"/>
          </a:p>
        </p:txBody>
      </p:sp>
      <p:sp>
        <p:nvSpPr>
          <p:cNvPr id="10" name="TextBox 9">
            <a:extLst>
              <a:ext uri="{FF2B5EF4-FFF2-40B4-BE49-F238E27FC236}">
                <a16:creationId xmlns:a16="http://schemas.microsoft.com/office/drawing/2014/main" id="{BDDCE8FE-A64D-58FB-63EB-8A2BE9B6BA89}"/>
              </a:ext>
            </a:extLst>
          </p:cNvPr>
          <p:cNvSpPr txBox="1"/>
          <p:nvPr/>
        </p:nvSpPr>
        <p:spPr>
          <a:xfrm>
            <a:off x="481752" y="1194989"/>
            <a:ext cx="2826415" cy="369332"/>
          </a:xfrm>
          <a:prstGeom prst="rect">
            <a:avLst/>
          </a:prstGeom>
          <a:noFill/>
        </p:spPr>
        <p:txBody>
          <a:bodyPr wrap="none" rtlCol="0">
            <a:spAutoFit/>
          </a:bodyPr>
          <a:lstStyle/>
          <a:p>
            <a:r>
              <a:rPr lang="en-US" dirty="0"/>
              <a:t>2025 Example Pilot grant </a:t>
            </a:r>
          </a:p>
        </p:txBody>
      </p:sp>
      <p:sp>
        <p:nvSpPr>
          <p:cNvPr id="4" name="TextBox 3">
            <a:extLst>
              <a:ext uri="{FF2B5EF4-FFF2-40B4-BE49-F238E27FC236}">
                <a16:creationId xmlns:a16="http://schemas.microsoft.com/office/drawing/2014/main" id="{5E1C387A-E6BA-92B4-EE90-4E1791DFF835}"/>
              </a:ext>
            </a:extLst>
          </p:cNvPr>
          <p:cNvSpPr txBox="1"/>
          <p:nvPr/>
        </p:nvSpPr>
        <p:spPr>
          <a:xfrm>
            <a:off x="8451955" y="1273114"/>
            <a:ext cx="6097604" cy="5632311"/>
          </a:xfrm>
          <a:prstGeom prst="rect">
            <a:avLst/>
          </a:prstGeom>
          <a:noFill/>
        </p:spPr>
        <p:txBody>
          <a:bodyPr wrap="square">
            <a:spAutoFit/>
          </a:bodyPr>
          <a:lstStyle/>
          <a:p>
            <a:r>
              <a:rPr lang="en-US" b="1" dirty="0"/>
              <a:t>Highlights:</a:t>
            </a:r>
          </a:p>
          <a:p>
            <a:br>
              <a:rPr lang="en-US" dirty="0"/>
            </a:br>
            <a:r>
              <a:rPr lang="en-US" b="1" u="sng" dirty="0"/>
              <a:t>2026</a:t>
            </a:r>
            <a:r>
              <a:rPr lang="en-US" dirty="0"/>
              <a:t> – 3 proposal selected </a:t>
            </a:r>
          </a:p>
          <a:p>
            <a:r>
              <a:rPr lang="en-US" dirty="0"/>
              <a:t>(28 applications received)</a:t>
            </a:r>
          </a:p>
          <a:p>
            <a:endParaRPr lang="en-US" dirty="0"/>
          </a:p>
          <a:p>
            <a:r>
              <a:rPr lang="en-US" b="1" u="sng" dirty="0"/>
              <a:t>2026 funded proposals:</a:t>
            </a:r>
          </a:p>
          <a:p>
            <a:pPr marL="342900" indent="-342900">
              <a:buAutoNum type="arabicPeriod"/>
            </a:pPr>
            <a:r>
              <a:rPr lang="en-US" dirty="0"/>
              <a:t>AI in post-stroke rehabilitation</a:t>
            </a:r>
          </a:p>
          <a:p>
            <a:pPr marL="342900" indent="-342900">
              <a:buAutoNum type="arabicPeriod"/>
            </a:pPr>
            <a:r>
              <a:rPr lang="en-US" dirty="0"/>
              <a:t>AI-guided microbiome analysis</a:t>
            </a:r>
            <a:br>
              <a:rPr lang="en-US" dirty="0"/>
            </a:br>
            <a:r>
              <a:rPr lang="en-US" dirty="0"/>
              <a:t>in triple-negative breast cancer</a:t>
            </a:r>
          </a:p>
          <a:p>
            <a:pPr marL="342900" indent="-342900">
              <a:buAutoNum type="arabicPeriod"/>
            </a:pPr>
            <a:r>
              <a:rPr lang="en-US" dirty="0"/>
              <a:t>AI-driven pharmacokinetic/</a:t>
            </a:r>
          </a:p>
          <a:p>
            <a:r>
              <a:rPr lang="en-US" dirty="0"/>
              <a:t>Pharmacodynamic modeling</a:t>
            </a:r>
            <a:br>
              <a:rPr lang="en-US" dirty="0"/>
            </a:br>
            <a:br>
              <a:rPr lang="en-US" dirty="0"/>
            </a:br>
            <a:br>
              <a:rPr lang="en-US" dirty="0"/>
            </a:br>
            <a:r>
              <a:rPr lang="en-US" b="1" dirty="0"/>
              <a:t>Sustainability: </a:t>
            </a:r>
          </a:p>
          <a:p>
            <a:pPr marL="342900" indent="-342900">
              <a:buAutoNum type="arabicPeriod"/>
            </a:pPr>
            <a:r>
              <a:rPr lang="en-US" b="1" dirty="0"/>
              <a:t>NJ ACTS partnership</a:t>
            </a:r>
          </a:p>
          <a:p>
            <a:pPr marL="342900" indent="-342900">
              <a:buAutoNum type="arabicPeriod"/>
            </a:pPr>
            <a:endParaRPr lang="en-US" b="1" dirty="0"/>
          </a:p>
          <a:p>
            <a:br>
              <a:rPr lang="en-US" dirty="0"/>
            </a:br>
            <a:br>
              <a:rPr lang="en-US" dirty="0"/>
            </a:br>
            <a:endParaRPr lang="en-US" dirty="0"/>
          </a:p>
          <a:p>
            <a:pPr marL="342900" indent="-342900">
              <a:buAutoNum type="arabicPeriod"/>
            </a:pPr>
            <a:endParaRPr lang="en-US" dirty="0"/>
          </a:p>
        </p:txBody>
      </p:sp>
      <p:sp>
        <p:nvSpPr>
          <p:cNvPr id="7" name="Hexagon 6">
            <a:extLst>
              <a:ext uri="{FF2B5EF4-FFF2-40B4-BE49-F238E27FC236}">
                <a16:creationId xmlns:a16="http://schemas.microsoft.com/office/drawing/2014/main" id="{0DAE5610-7A2E-715B-85D2-40993C020B9B}"/>
              </a:ext>
            </a:extLst>
          </p:cNvPr>
          <p:cNvSpPr/>
          <p:nvPr/>
        </p:nvSpPr>
        <p:spPr>
          <a:xfrm>
            <a:off x="4641760" y="3097936"/>
            <a:ext cx="1999527" cy="1785902"/>
          </a:xfrm>
          <a:prstGeom prst="hexagon">
            <a:avLst/>
          </a:prstGeom>
          <a:solidFill>
            <a:schemeClr val="bg2">
              <a:lumMod val="20000"/>
              <a:lumOff val="80000"/>
            </a:schemeClr>
          </a:solidFill>
          <a:ln w="38100">
            <a:solidFill>
              <a:schemeClr val="tx1">
                <a:lumMod val="20000"/>
                <a:lumOff val="80000"/>
              </a:schemeClr>
            </a:solidFill>
          </a:ln>
          <a:effectLst>
            <a:glow rad="139700">
              <a:schemeClr val="accent1">
                <a:satMod val="175000"/>
                <a:alpha val="40000"/>
              </a:schemeClr>
            </a:glow>
            <a:outerShdw blurRad="63500" sx="102000" sy="102000" algn="ctr"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Symposia, Seminars, </a:t>
            </a:r>
          </a:p>
          <a:p>
            <a:pPr algn="ctr"/>
            <a:r>
              <a:rPr lang="en-US" dirty="0" err="1"/>
              <a:t>FutureMed</a:t>
            </a:r>
            <a:endParaRPr lang="en-US" dirty="0"/>
          </a:p>
        </p:txBody>
      </p:sp>
    </p:spTree>
    <p:extLst>
      <p:ext uri="{BB962C8B-B14F-4D97-AF65-F5344CB8AC3E}">
        <p14:creationId xmlns:p14="http://schemas.microsoft.com/office/powerpoint/2010/main" val="12560604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63E04-418A-B7B7-F6F1-748AFA6FF6D7}"/>
            </a:ext>
          </a:extLst>
        </p:cNvPr>
        <p:cNvGrpSpPr/>
        <p:nvPr/>
      </p:nvGrpSpPr>
      <p:grpSpPr>
        <a:xfrm>
          <a:off x="0" y="0"/>
          <a:ext cx="0" cy="0"/>
          <a:chOff x="0" y="0"/>
          <a:chExt cx="0" cy="0"/>
        </a:xfrm>
      </p:grpSpPr>
      <p:sp>
        <p:nvSpPr>
          <p:cNvPr id="13" name="Hexagon 12">
            <a:extLst>
              <a:ext uri="{FF2B5EF4-FFF2-40B4-BE49-F238E27FC236}">
                <a16:creationId xmlns:a16="http://schemas.microsoft.com/office/drawing/2014/main" id="{BCDDB79A-52E0-475D-DB30-6610BAA2794D}"/>
              </a:ext>
            </a:extLst>
          </p:cNvPr>
          <p:cNvSpPr/>
          <p:nvPr/>
        </p:nvSpPr>
        <p:spPr>
          <a:xfrm>
            <a:off x="6221910" y="2204985"/>
            <a:ext cx="1999527" cy="1785902"/>
          </a:xfrm>
          <a:prstGeom prst="hexagon">
            <a:avLst/>
          </a:prstGeom>
          <a:solidFill>
            <a:schemeClr val="bg2">
              <a:lumMod val="20000"/>
              <a:lumOff val="80000"/>
            </a:schemeClr>
          </a:solidFill>
          <a:ln>
            <a:solidFill>
              <a:schemeClr val="tx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MS in AI Healthcare</a:t>
            </a:r>
          </a:p>
        </p:txBody>
      </p:sp>
      <p:sp>
        <p:nvSpPr>
          <p:cNvPr id="14" name="Hexagon 13">
            <a:extLst>
              <a:ext uri="{FF2B5EF4-FFF2-40B4-BE49-F238E27FC236}">
                <a16:creationId xmlns:a16="http://schemas.microsoft.com/office/drawing/2014/main" id="{0D6DC4BD-9518-9323-1003-EA908429DA19}"/>
              </a:ext>
            </a:extLst>
          </p:cNvPr>
          <p:cNvSpPr/>
          <p:nvPr/>
        </p:nvSpPr>
        <p:spPr>
          <a:xfrm>
            <a:off x="4618899" y="4923590"/>
            <a:ext cx="1999527" cy="1785902"/>
          </a:xfrm>
          <a:prstGeom prst="hexagon">
            <a:avLst/>
          </a:prstGeom>
          <a:solidFill>
            <a:schemeClr val="bg2">
              <a:lumMod val="20000"/>
              <a:lumOff val="80000"/>
            </a:schemeClr>
          </a:solidFill>
          <a:ln w="38100">
            <a:solidFill>
              <a:schemeClr val="tx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Bootcamp in Health AI</a:t>
            </a:r>
          </a:p>
        </p:txBody>
      </p:sp>
      <p:sp>
        <p:nvSpPr>
          <p:cNvPr id="15" name="Hexagon 14">
            <a:extLst>
              <a:ext uri="{FF2B5EF4-FFF2-40B4-BE49-F238E27FC236}">
                <a16:creationId xmlns:a16="http://schemas.microsoft.com/office/drawing/2014/main" id="{43EF2AE4-4946-1A2D-70B3-E9897FE49307}"/>
              </a:ext>
            </a:extLst>
          </p:cNvPr>
          <p:cNvSpPr/>
          <p:nvPr/>
        </p:nvSpPr>
        <p:spPr>
          <a:xfrm>
            <a:off x="4641760" y="1273114"/>
            <a:ext cx="1999527" cy="1785902"/>
          </a:xfrm>
          <a:prstGeom prst="hexagon">
            <a:avLst/>
          </a:prstGeom>
          <a:solidFill>
            <a:schemeClr val="bg2">
              <a:lumMod val="20000"/>
              <a:lumOff val="80000"/>
            </a:schemeClr>
          </a:solidFill>
          <a:ln>
            <a:solidFill>
              <a:schemeClr val="tx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PhD in Health AI</a:t>
            </a:r>
          </a:p>
        </p:txBody>
      </p:sp>
      <p:sp>
        <p:nvSpPr>
          <p:cNvPr id="17" name="Hexagon 16">
            <a:extLst>
              <a:ext uri="{FF2B5EF4-FFF2-40B4-BE49-F238E27FC236}">
                <a16:creationId xmlns:a16="http://schemas.microsoft.com/office/drawing/2014/main" id="{B0ADAB9F-0825-B126-2503-D1C851F34AA1}"/>
              </a:ext>
            </a:extLst>
          </p:cNvPr>
          <p:cNvSpPr/>
          <p:nvPr/>
        </p:nvSpPr>
        <p:spPr>
          <a:xfrm>
            <a:off x="6221909" y="4010763"/>
            <a:ext cx="1999527" cy="1785902"/>
          </a:xfrm>
          <a:prstGeom prst="hexagon">
            <a:avLst/>
          </a:prstGeom>
          <a:solidFill>
            <a:schemeClr val="bg2">
              <a:lumMod val="20000"/>
              <a:lumOff val="80000"/>
            </a:schemeClr>
          </a:solidFill>
          <a:ln>
            <a:solidFill>
              <a:schemeClr val="tx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MD with </a:t>
            </a:r>
            <a:r>
              <a:rPr lang="en-US" i="1" dirty="0"/>
              <a:t>Distinction in AI</a:t>
            </a:r>
            <a:endParaRPr lang="en-US" dirty="0"/>
          </a:p>
        </p:txBody>
      </p:sp>
      <p:sp>
        <p:nvSpPr>
          <p:cNvPr id="5" name="Title 1">
            <a:extLst>
              <a:ext uri="{FF2B5EF4-FFF2-40B4-BE49-F238E27FC236}">
                <a16:creationId xmlns:a16="http://schemas.microsoft.com/office/drawing/2014/main" id="{E3DEFB6F-9594-FFF1-62FA-37DCA05E6D19}"/>
              </a:ext>
            </a:extLst>
          </p:cNvPr>
          <p:cNvSpPr>
            <a:spLocks noGrp="1"/>
          </p:cNvSpPr>
          <p:nvPr>
            <p:ph type="title"/>
          </p:nvPr>
        </p:nvSpPr>
        <p:spPr>
          <a:xfrm>
            <a:off x="691243" y="-52449"/>
            <a:ext cx="10515600" cy="1325563"/>
          </a:xfrm>
        </p:spPr>
        <p:txBody>
          <a:bodyPr>
            <a:normAutofit/>
          </a:bodyPr>
          <a:lstStyle/>
          <a:p>
            <a:r>
              <a:rPr lang="en-US" dirty="0"/>
              <a:t>Grant making</a:t>
            </a:r>
          </a:p>
        </p:txBody>
      </p:sp>
      <p:sp>
        <p:nvSpPr>
          <p:cNvPr id="2" name="Hexagon 1">
            <a:extLst>
              <a:ext uri="{FF2B5EF4-FFF2-40B4-BE49-F238E27FC236}">
                <a16:creationId xmlns:a16="http://schemas.microsoft.com/office/drawing/2014/main" id="{ECFCC7C2-4B4C-A283-005E-27B973313DD1}"/>
              </a:ext>
            </a:extLst>
          </p:cNvPr>
          <p:cNvSpPr/>
          <p:nvPr/>
        </p:nvSpPr>
        <p:spPr>
          <a:xfrm>
            <a:off x="3061611" y="4010763"/>
            <a:ext cx="1999527" cy="1785902"/>
          </a:xfrm>
          <a:prstGeom prst="hexagon">
            <a:avLst/>
          </a:prstGeom>
          <a:solidFill>
            <a:schemeClr val="bg2">
              <a:lumMod val="20000"/>
              <a:lumOff val="80000"/>
            </a:schemeClr>
          </a:solidFill>
          <a:ln w="38100">
            <a:solidFill>
              <a:schemeClr val="tx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Pilot grants </a:t>
            </a:r>
          </a:p>
          <a:p>
            <a:pPr algn="ctr"/>
            <a:r>
              <a:rPr lang="en-US" dirty="0"/>
              <a:t>in Health AI</a:t>
            </a:r>
          </a:p>
        </p:txBody>
      </p:sp>
      <p:sp>
        <p:nvSpPr>
          <p:cNvPr id="3" name="Hexagon 2">
            <a:extLst>
              <a:ext uri="{FF2B5EF4-FFF2-40B4-BE49-F238E27FC236}">
                <a16:creationId xmlns:a16="http://schemas.microsoft.com/office/drawing/2014/main" id="{405F5A35-705A-C7DA-A625-4D4F50E5DC0B}"/>
              </a:ext>
            </a:extLst>
          </p:cNvPr>
          <p:cNvSpPr/>
          <p:nvPr/>
        </p:nvSpPr>
        <p:spPr>
          <a:xfrm>
            <a:off x="3061609" y="2204985"/>
            <a:ext cx="1999527" cy="1785902"/>
          </a:xfrm>
          <a:prstGeom prst="hexagon">
            <a:avLst/>
          </a:prstGeom>
          <a:solidFill>
            <a:schemeClr val="tx1">
              <a:lumMod val="40000"/>
              <a:lumOff val="60000"/>
            </a:schemeClr>
          </a:solidFill>
          <a:ln w="38100">
            <a:solidFill>
              <a:schemeClr val="tx1">
                <a:lumMod val="20000"/>
                <a:lumOff val="80000"/>
              </a:schemeClr>
            </a:solidFill>
          </a:ln>
          <a:effectLst>
            <a:glow rad="139700">
              <a:schemeClr val="accent1">
                <a:satMod val="175000"/>
                <a:alpha val="40000"/>
              </a:schemeClr>
            </a:glow>
            <a:outerShdw blurRad="63500" sx="102000" sy="102000" algn="ctr"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err="1"/>
              <a:t>PostDoc</a:t>
            </a:r>
            <a:r>
              <a:rPr lang="en-US" dirty="0"/>
              <a:t> fellowship</a:t>
            </a:r>
          </a:p>
        </p:txBody>
      </p:sp>
      <p:sp>
        <p:nvSpPr>
          <p:cNvPr id="7" name="TextBox 6">
            <a:extLst>
              <a:ext uri="{FF2B5EF4-FFF2-40B4-BE49-F238E27FC236}">
                <a16:creationId xmlns:a16="http://schemas.microsoft.com/office/drawing/2014/main" id="{1C37A2A6-3297-7605-9795-54010F0F7A4F}"/>
              </a:ext>
            </a:extLst>
          </p:cNvPr>
          <p:cNvSpPr txBox="1"/>
          <p:nvPr/>
        </p:nvSpPr>
        <p:spPr>
          <a:xfrm>
            <a:off x="8446573" y="3215430"/>
            <a:ext cx="3310082" cy="3416320"/>
          </a:xfrm>
          <a:prstGeom prst="rect">
            <a:avLst/>
          </a:prstGeom>
          <a:noFill/>
        </p:spPr>
        <p:txBody>
          <a:bodyPr wrap="square">
            <a:spAutoFit/>
          </a:bodyPr>
          <a:lstStyle/>
          <a:p>
            <a:r>
              <a:rPr lang="en-US" b="1" u="sng" dirty="0">
                <a:solidFill>
                  <a:srgbClr val="00B050"/>
                </a:solidFill>
              </a:rPr>
              <a:t>Goal i: </a:t>
            </a:r>
            <a:r>
              <a:rPr lang="en-US" b="1" u="sng" dirty="0" err="1"/>
              <a:t>PostDoc</a:t>
            </a:r>
            <a:r>
              <a:rPr lang="en-US" b="1" u="sng" dirty="0"/>
              <a:t> Fellowships: </a:t>
            </a:r>
            <a:br>
              <a:rPr lang="en-US" dirty="0"/>
            </a:br>
            <a:r>
              <a:rPr lang="en-US" i="1" dirty="0"/>
              <a:t>New, multi-disciplinary,  </a:t>
            </a:r>
            <a:br>
              <a:rPr lang="en-US" i="1" dirty="0"/>
            </a:br>
            <a:r>
              <a:rPr lang="en-US" i="1" dirty="0"/>
              <a:t>cross-CLU collaborations </a:t>
            </a:r>
            <a:br>
              <a:rPr lang="en-US" dirty="0"/>
            </a:br>
            <a:r>
              <a:rPr lang="en-US" dirty="0"/>
              <a:t>around the </a:t>
            </a:r>
            <a:r>
              <a:rPr lang="en-US" dirty="0" err="1"/>
              <a:t>PostDoc</a:t>
            </a:r>
            <a:r>
              <a:rPr lang="en-US" dirty="0"/>
              <a:t> fellowships (4 /year)</a:t>
            </a:r>
            <a:br>
              <a:rPr lang="en-US" dirty="0"/>
            </a:br>
            <a:br>
              <a:rPr lang="en-US" dirty="0"/>
            </a:br>
            <a:r>
              <a:rPr lang="en-US" b="1" u="sng" dirty="0"/>
              <a:t>2025</a:t>
            </a:r>
            <a:r>
              <a:rPr lang="en-US" dirty="0"/>
              <a:t> – 4 proposals funded</a:t>
            </a:r>
            <a:br>
              <a:rPr lang="en-US" dirty="0"/>
            </a:br>
            <a:r>
              <a:rPr lang="en-US" dirty="0"/>
              <a:t>(19 applications received)</a:t>
            </a:r>
            <a:br>
              <a:rPr lang="en-US" dirty="0"/>
            </a:br>
            <a:r>
              <a:rPr lang="en-US" b="1" u="sng" dirty="0"/>
              <a:t>2026</a:t>
            </a:r>
            <a:r>
              <a:rPr lang="en-US" dirty="0"/>
              <a:t> – 4 proposals funded</a:t>
            </a:r>
            <a:br>
              <a:rPr lang="en-US" dirty="0"/>
            </a:br>
            <a:r>
              <a:rPr lang="en-US" dirty="0"/>
              <a:t>(15 applications received)</a:t>
            </a:r>
            <a:br>
              <a:rPr lang="en-US" b="1" dirty="0"/>
            </a:br>
            <a:endParaRPr lang="en-US" dirty="0"/>
          </a:p>
        </p:txBody>
      </p:sp>
      <p:pic>
        <p:nvPicPr>
          <p:cNvPr id="8" name="Picture 7">
            <a:extLst>
              <a:ext uri="{FF2B5EF4-FFF2-40B4-BE49-F238E27FC236}">
                <a16:creationId xmlns:a16="http://schemas.microsoft.com/office/drawing/2014/main" id="{705435D9-1F38-D0CA-99E4-96321AC83FC1}"/>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8275630" y="1363612"/>
            <a:ext cx="3508185" cy="1835286"/>
          </a:xfrm>
          <a:prstGeom prst="rect">
            <a:avLst/>
          </a:prstGeom>
        </p:spPr>
      </p:pic>
      <p:sp>
        <p:nvSpPr>
          <p:cNvPr id="11" name="TextBox 10">
            <a:extLst>
              <a:ext uri="{FF2B5EF4-FFF2-40B4-BE49-F238E27FC236}">
                <a16:creationId xmlns:a16="http://schemas.microsoft.com/office/drawing/2014/main" id="{B7BF43A4-4F7E-7920-F720-00C09C332F9A}"/>
              </a:ext>
            </a:extLst>
          </p:cNvPr>
          <p:cNvSpPr txBox="1"/>
          <p:nvPr/>
        </p:nvSpPr>
        <p:spPr>
          <a:xfrm>
            <a:off x="7221672" y="920314"/>
            <a:ext cx="3556679" cy="369332"/>
          </a:xfrm>
          <a:prstGeom prst="rect">
            <a:avLst/>
          </a:prstGeom>
          <a:noFill/>
        </p:spPr>
        <p:txBody>
          <a:bodyPr wrap="none" rtlCol="0">
            <a:spAutoFit/>
          </a:bodyPr>
          <a:lstStyle/>
          <a:p>
            <a:r>
              <a:rPr lang="en-US" dirty="0"/>
              <a:t>Example </a:t>
            </a:r>
            <a:r>
              <a:rPr lang="en-US" dirty="0" err="1"/>
              <a:t>PostDoc</a:t>
            </a:r>
            <a:r>
              <a:rPr lang="en-US" dirty="0"/>
              <a:t> fellowship grant</a:t>
            </a:r>
          </a:p>
        </p:txBody>
      </p:sp>
      <p:sp>
        <p:nvSpPr>
          <p:cNvPr id="12" name="TextBox 11">
            <a:extLst>
              <a:ext uri="{FF2B5EF4-FFF2-40B4-BE49-F238E27FC236}">
                <a16:creationId xmlns:a16="http://schemas.microsoft.com/office/drawing/2014/main" id="{583FBC56-02E7-EBCA-B57C-61DCDC412F1E}"/>
              </a:ext>
            </a:extLst>
          </p:cNvPr>
          <p:cNvSpPr txBox="1"/>
          <p:nvPr/>
        </p:nvSpPr>
        <p:spPr>
          <a:xfrm>
            <a:off x="240777" y="1110261"/>
            <a:ext cx="4284443" cy="5078313"/>
          </a:xfrm>
          <a:prstGeom prst="rect">
            <a:avLst/>
          </a:prstGeom>
          <a:noFill/>
        </p:spPr>
        <p:txBody>
          <a:bodyPr wrap="none" rtlCol="0">
            <a:spAutoFit/>
          </a:bodyPr>
          <a:lstStyle/>
          <a:p>
            <a:r>
              <a:rPr lang="en-US" b="1" u="sng" dirty="0"/>
              <a:t>2026 funded proposals:</a:t>
            </a:r>
          </a:p>
          <a:p>
            <a:pPr marL="342900" indent="-342900">
              <a:buAutoNum type="arabicPeriod"/>
            </a:pPr>
            <a:r>
              <a:rPr lang="en-US" dirty="0"/>
              <a:t>AI in gene regulation in ASD</a:t>
            </a:r>
          </a:p>
          <a:p>
            <a:pPr marL="342900" indent="-342900">
              <a:buAutoNum type="arabicPeriod"/>
            </a:pPr>
            <a:r>
              <a:rPr lang="en-US" dirty="0"/>
              <a:t>AI for epigenomics and metabolomics</a:t>
            </a:r>
            <a:br>
              <a:rPr lang="en-US" dirty="0"/>
            </a:br>
            <a:r>
              <a:rPr lang="en-US" dirty="0"/>
              <a:t>of cardiometabolic changes </a:t>
            </a:r>
            <a:br>
              <a:rPr lang="en-US" dirty="0"/>
            </a:br>
            <a:r>
              <a:rPr lang="en-US" dirty="0"/>
              <a:t>in HIV-exposed infants</a:t>
            </a:r>
          </a:p>
          <a:p>
            <a:pPr marL="342900" indent="-342900">
              <a:buAutoNum type="arabicPeriod" startAt="3"/>
            </a:pPr>
            <a:r>
              <a:rPr lang="en-US" dirty="0"/>
              <a:t>AI to study brain </a:t>
            </a:r>
            <a:br>
              <a:rPr lang="en-US" dirty="0"/>
            </a:br>
            <a:r>
              <a:rPr lang="en-US" dirty="0"/>
              <a:t>connectome in </a:t>
            </a:r>
            <a:br>
              <a:rPr lang="en-US" dirty="0"/>
            </a:br>
            <a:r>
              <a:rPr lang="en-US" dirty="0"/>
              <a:t>psychosis</a:t>
            </a:r>
          </a:p>
          <a:p>
            <a:pPr marL="342900" indent="-342900">
              <a:buAutoNum type="arabicPeriod" startAt="3"/>
            </a:pPr>
            <a:r>
              <a:rPr lang="en-US" dirty="0"/>
              <a:t>AI to study brain function </a:t>
            </a:r>
            <a:br>
              <a:rPr lang="en-US" dirty="0"/>
            </a:br>
            <a:r>
              <a:rPr lang="en-US" dirty="0"/>
              <a:t>and upper </a:t>
            </a:r>
            <a:br>
              <a:rPr lang="en-US" dirty="0"/>
            </a:br>
            <a:r>
              <a:rPr lang="en-US" dirty="0"/>
              <a:t>extremity rehabilitation</a:t>
            </a:r>
          </a:p>
          <a:p>
            <a:pPr marL="342900" indent="-342900">
              <a:buAutoNum type="arabicPeriod" startAt="3"/>
            </a:pPr>
            <a:endParaRPr lang="en-US" dirty="0"/>
          </a:p>
          <a:p>
            <a:endParaRPr lang="en-US" dirty="0"/>
          </a:p>
          <a:p>
            <a:r>
              <a:rPr lang="en-US" b="1" dirty="0"/>
              <a:t>Sustainability: </a:t>
            </a:r>
          </a:p>
          <a:p>
            <a:pPr marL="342900" indent="-342900">
              <a:buAutoNum type="arabicPeriod"/>
            </a:pPr>
            <a:r>
              <a:rPr lang="en-US" b="1" dirty="0"/>
              <a:t>T32 </a:t>
            </a:r>
            <a:r>
              <a:rPr lang="en-US" dirty="0"/>
              <a:t>PA-25-168, </a:t>
            </a:r>
            <a:br>
              <a:rPr lang="en-US" dirty="0"/>
            </a:br>
            <a:r>
              <a:rPr lang="en-US" dirty="0"/>
              <a:t>January 25, 2027</a:t>
            </a:r>
            <a:endParaRPr lang="en-US" b="1" dirty="0"/>
          </a:p>
          <a:p>
            <a:endParaRPr lang="en-US" dirty="0"/>
          </a:p>
          <a:p>
            <a:endParaRPr lang="en-US" b="1" dirty="0"/>
          </a:p>
        </p:txBody>
      </p:sp>
      <p:sp>
        <p:nvSpPr>
          <p:cNvPr id="16" name="Hexagon 15">
            <a:extLst>
              <a:ext uri="{FF2B5EF4-FFF2-40B4-BE49-F238E27FC236}">
                <a16:creationId xmlns:a16="http://schemas.microsoft.com/office/drawing/2014/main" id="{2C895DE1-00CE-327A-05CD-9DC078238395}"/>
              </a:ext>
            </a:extLst>
          </p:cNvPr>
          <p:cNvSpPr/>
          <p:nvPr/>
        </p:nvSpPr>
        <p:spPr>
          <a:xfrm>
            <a:off x="4641760" y="3097936"/>
            <a:ext cx="1999527" cy="1785902"/>
          </a:xfrm>
          <a:prstGeom prst="hexagon">
            <a:avLst/>
          </a:prstGeom>
          <a:solidFill>
            <a:schemeClr val="bg2">
              <a:lumMod val="20000"/>
              <a:lumOff val="80000"/>
            </a:schemeClr>
          </a:solidFill>
          <a:ln w="38100">
            <a:solidFill>
              <a:schemeClr val="tx1">
                <a:lumMod val="20000"/>
                <a:lumOff val="80000"/>
              </a:schemeClr>
            </a:solidFill>
          </a:ln>
          <a:effectLst>
            <a:glow rad="139700">
              <a:schemeClr val="accent1">
                <a:satMod val="175000"/>
                <a:alpha val="40000"/>
              </a:schemeClr>
            </a:glow>
            <a:outerShdw blurRad="63500" sx="102000" sy="102000" algn="ctr"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Symposia, Seminars, </a:t>
            </a:r>
          </a:p>
          <a:p>
            <a:pPr algn="ctr"/>
            <a:r>
              <a:rPr lang="en-US" dirty="0" err="1"/>
              <a:t>FutureMed</a:t>
            </a:r>
            <a:endParaRPr lang="en-US" dirty="0"/>
          </a:p>
        </p:txBody>
      </p:sp>
      <p:sp>
        <p:nvSpPr>
          <p:cNvPr id="4" name="TextBox 3">
            <a:extLst>
              <a:ext uri="{FF2B5EF4-FFF2-40B4-BE49-F238E27FC236}">
                <a16:creationId xmlns:a16="http://schemas.microsoft.com/office/drawing/2014/main" id="{0D281B43-C362-E812-4F98-0512FC03B745}"/>
              </a:ext>
            </a:extLst>
          </p:cNvPr>
          <p:cNvSpPr txBox="1"/>
          <p:nvPr/>
        </p:nvSpPr>
        <p:spPr>
          <a:xfrm>
            <a:off x="5318490" y="331499"/>
            <a:ext cx="4943789" cy="369332"/>
          </a:xfrm>
          <a:prstGeom prst="rect">
            <a:avLst/>
          </a:prstGeom>
          <a:noFill/>
        </p:spPr>
        <p:txBody>
          <a:bodyPr wrap="none" rtlCol="0">
            <a:spAutoFit/>
          </a:bodyPr>
          <a:lstStyle/>
          <a:p>
            <a:r>
              <a:rPr lang="en-US" dirty="0">
                <a:solidFill>
                  <a:srgbClr val="C00000"/>
                </a:solidFill>
              </a:rPr>
              <a:t>First R01 Funded from grant activities: Jason Yang! </a:t>
            </a:r>
          </a:p>
        </p:txBody>
      </p:sp>
    </p:spTree>
    <p:extLst>
      <p:ext uri="{BB962C8B-B14F-4D97-AF65-F5344CB8AC3E}">
        <p14:creationId xmlns:p14="http://schemas.microsoft.com/office/powerpoint/2010/main" val="20630752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1FAE3-2EB3-66CF-F610-A8F523EADBDB}"/>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28BEB84-59F4-DF8E-A02C-8AB9C2BDB727}"/>
              </a:ext>
            </a:extLst>
          </p:cNvPr>
          <p:cNvSpPr/>
          <p:nvPr/>
        </p:nvSpPr>
        <p:spPr>
          <a:xfrm>
            <a:off x="1567487" y="2542033"/>
            <a:ext cx="3002044" cy="3419855"/>
          </a:xfrm>
          <a:prstGeom prst="roundRect">
            <a:avLst/>
          </a:prstGeom>
          <a:solidFill>
            <a:schemeClr val="bg2">
              <a:lumMod val="20000"/>
              <a:lumOff val="80000"/>
            </a:schemeClr>
          </a:solidFill>
          <a:ln>
            <a:solidFill>
              <a:schemeClr val="tx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r>
              <a:rPr kumimoji="0" 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Education &amp; Training</a:t>
            </a: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b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b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Cutting-edge degree programs, internships, and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specialized training in bioinformatics and AI to prepare the next generation of healthcare and biomedical professionals and </a:t>
            </a:r>
            <a:b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b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researchers.</a:t>
            </a:r>
            <a:endParaRPr kumimoji="0" lang="en-US" sz="18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p:txBody>
      </p:sp>
      <p:sp>
        <p:nvSpPr>
          <p:cNvPr id="11" name="Rectangle: Rounded Corners 10">
            <a:extLst>
              <a:ext uri="{FF2B5EF4-FFF2-40B4-BE49-F238E27FC236}">
                <a16:creationId xmlns:a16="http://schemas.microsoft.com/office/drawing/2014/main" id="{C754FF02-EDB5-9ECB-4630-1BBC654BD2B3}"/>
              </a:ext>
            </a:extLst>
          </p:cNvPr>
          <p:cNvSpPr/>
          <p:nvPr/>
        </p:nvSpPr>
        <p:spPr>
          <a:xfrm>
            <a:off x="5078565" y="2582165"/>
            <a:ext cx="2558634" cy="3419855"/>
          </a:xfrm>
          <a:prstGeom prst="roundRect">
            <a:avLst/>
          </a:prstGeom>
          <a:solidFill>
            <a:schemeClr val="accent2">
              <a:lumMod val="20000"/>
              <a:lumOff val="80000"/>
            </a:schemeClr>
          </a:solidFill>
          <a:ln>
            <a:solidFill>
              <a:schemeClr val="tx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lvl="0" algn="ctr">
              <a:defRPr/>
            </a:pPr>
            <a:r>
              <a:rPr lang="en-US" b="1" dirty="0">
                <a:solidFill>
                  <a:srgbClr val="000000"/>
                </a:solidFill>
                <a:latin typeface="Arial" panose="020B0604020202020204" pitchFamily="34" charset="0"/>
              </a:rPr>
              <a:t>Social-Technical Infrastructure:</a:t>
            </a: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Building Living Laboratories integrate clinical, educational, research, and commercial environments.</a:t>
            </a:r>
          </a:p>
          <a:p>
            <a:pPr lvl="0" algn="ctr">
              <a:defRPr/>
            </a:pPr>
            <a:endParaRPr kumimoji="0" lang="en-US" sz="18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2" name="Rectangle: Rounded Corners 11">
            <a:extLst>
              <a:ext uri="{FF2B5EF4-FFF2-40B4-BE49-F238E27FC236}">
                <a16:creationId xmlns:a16="http://schemas.microsoft.com/office/drawing/2014/main" id="{F9BAEF91-3A30-ECCA-E1E5-E7A225976035}"/>
              </a:ext>
            </a:extLst>
          </p:cNvPr>
          <p:cNvSpPr/>
          <p:nvPr/>
        </p:nvSpPr>
        <p:spPr>
          <a:xfrm>
            <a:off x="8146233" y="2582165"/>
            <a:ext cx="2558635" cy="3419855"/>
          </a:xfrm>
          <a:prstGeom prst="roundRect">
            <a:avLst/>
          </a:prstGeom>
          <a:solidFill>
            <a:schemeClr val="bg2">
              <a:lumMod val="20000"/>
              <a:lumOff val="80000"/>
            </a:schemeClr>
          </a:solidFill>
          <a:ln>
            <a:solidFill>
              <a:schemeClr val="tx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Research &amp; Innovation</a:t>
            </a: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b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b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Driving research that leverages AI and </a:t>
            </a:r>
            <a:b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b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machine learning to develop new insights, enhance diagnostics, and </a:t>
            </a:r>
            <a:b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b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improve health </a:t>
            </a:r>
            <a:b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b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outcomes.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B60DCD83-04C5-63E1-3F99-B5403FAA90C7}"/>
              </a:ext>
            </a:extLst>
          </p:cNvPr>
          <p:cNvSpPr>
            <a:spLocks noGrp="1"/>
          </p:cNvSpPr>
          <p:nvPr>
            <p:ph type="title"/>
          </p:nvPr>
        </p:nvSpPr>
        <p:spPr>
          <a:xfrm>
            <a:off x="2294329" y="341454"/>
            <a:ext cx="10515600" cy="1325563"/>
          </a:xfrm>
        </p:spPr>
        <p:txBody>
          <a:bodyPr/>
          <a:lstStyle/>
          <a:p>
            <a:pPr algn="ctr"/>
            <a:r>
              <a:rPr lang="en-US" dirty="0"/>
              <a:t>Foundational Pillars </a:t>
            </a:r>
            <a:br>
              <a:rPr lang="en-US" dirty="0"/>
            </a:br>
            <a:r>
              <a:rPr lang="en-US" dirty="0"/>
              <a:t>of BMIHAI</a:t>
            </a:r>
          </a:p>
        </p:txBody>
      </p:sp>
      <p:pic>
        <p:nvPicPr>
          <p:cNvPr id="3" name="Picture 2">
            <a:extLst>
              <a:ext uri="{FF2B5EF4-FFF2-40B4-BE49-F238E27FC236}">
                <a16:creationId xmlns:a16="http://schemas.microsoft.com/office/drawing/2014/main" id="{96E10DAC-5879-1C04-DA5F-F64D0BDD5480}"/>
              </a:ext>
            </a:extLst>
          </p:cNvPr>
          <p:cNvPicPr>
            <a:picLocks noChangeAspect="1"/>
          </p:cNvPicPr>
          <p:nvPr/>
        </p:nvPicPr>
        <p:blipFill>
          <a:blip r:embed="rId2"/>
          <a:stretch>
            <a:fillRect/>
          </a:stretch>
        </p:blipFill>
        <p:spPr>
          <a:xfrm>
            <a:off x="564187" y="194278"/>
            <a:ext cx="2884932" cy="1923288"/>
          </a:xfrm>
          <a:prstGeom prst="rect">
            <a:avLst/>
          </a:prstGeom>
        </p:spPr>
      </p:pic>
    </p:spTree>
    <p:extLst>
      <p:ext uri="{BB962C8B-B14F-4D97-AF65-F5344CB8AC3E}">
        <p14:creationId xmlns:p14="http://schemas.microsoft.com/office/powerpoint/2010/main" val="5351997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667D8CBA-487E-2EAB-9DEA-D7EE19909014}"/>
              </a:ext>
            </a:extLst>
          </p:cNvPr>
          <p:cNvGrpSpPr/>
          <p:nvPr/>
        </p:nvGrpSpPr>
        <p:grpSpPr>
          <a:xfrm>
            <a:off x="347341" y="1289641"/>
            <a:ext cx="8021858" cy="2781374"/>
            <a:chOff x="746121" y="1145097"/>
            <a:chExt cx="6305048" cy="3050569"/>
          </a:xfrm>
        </p:grpSpPr>
        <p:grpSp>
          <p:nvGrpSpPr>
            <p:cNvPr id="11" name="Group 10">
              <a:extLst>
                <a:ext uri="{FF2B5EF4-FFF2-40B4-BE49-F238E27FC236}">
                  <a16:creationId xmlns:a16="http://schemas.microsoft.com/office/drawing/2014/main" id="{DED59B74-8516-6755-7AC5-5876EEC27376}"/>
                </a:ext>
              </a:extLst>
            </p:cNvPr>
            <p:cNvGrpSpPr/>
            <p:nvPr/>
          </p:nvGrpSpPr>
          <p:grpSpPr>
            <a:xfrm>
              <a:off x="746121" y="1145097"/>
              <a:ext cx="6305048" cy="3050569"/>
              <a:chOff x="4835759" y="4653559"/>
              <a:chExt cx="17618041" cy="9568671"/>
            </a:xfrm>
          </p:grpSpPr>
          <p:sp>
            <p:nvSpPr>
              <p:cNvPr id="18" name="Rounded Rectangle 3">
                <a:extLst>
                  <a:ext uri="{FF2B5EF4-FFF2-40B4-BE49-F238E27FC236}">
                    <a16:creationId xmlns:a16="http://schemas.microsoft.com/office/drawing/2014/main" id="{34C02A5E-A764-2C67-F35A-4A04A01BEF2B}"/>
                  </a:ext>
                </a:extLst>
              </p:cNvPr>
              <p:cNvSpPr/>
              <p:nvPr/>
            </p:nvSpPr>
            <p:spPr>
              <a:xfrm>
                <a:off x="10832807" y="4653559"/>
                <a:ext cx="11620993" cy="9568671"/>
              </a:xfrm>
              <a:prstGeom prst="roundRect">
                <a:avLst>
                  <a:gd name="adj" fmla="val 7583"/>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ts val="1667"/>
                  </a:lnSpc>
                  <a:spcBef>
                    <a:spcPts val="0"/>
                  </a:spcBef>
                  <a:spcAft>
                    <a:spcPts val="0"/>
                  </a:spcAft>
                  <a:buClrTx/>
                  <a:buSzTx/>
                  <a:buFontTx/>
                  <a:buNone/>
                  <a:tabLst/>
                  <a:defRPr/>
                </a:pPr>
                <a:endParaRPr kumimoji="0" lang="en-US" sz="1667"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grpSp>
            <p:nvGrpSpPr>
              <p:cNvPr id="19" name="Group 18">
                <a:extLst>
                  <a:ext uri="{FF2B5EF4-FFF2-40B4-BE49-F238E27FC236}">
                    <a16:creationId xmlns:a16="http://schemas.microsoft.com/office/drawing/2014/main" id="{847FCE82-C81D-BF63-86A3-BAC4A5E0B3D0}"/>
                  </a:ext>
                </a:extLst>
              </p:cNvPr>
              <p:cNvGrpSpPr/>
              <p:nvPr/>
            </p:nvGrpSpPr>
            <p:grpSpPr>
              <a:xfrm>
                <a:off x="10728585" y="5872820"/>
                <a:ext cx="5223589" cy="3743514"/>
                <a:chOff x="8021598" y="8705943"/>
                <a:chExt cx="5223589" cy="3743514"/>
              </a:xfrm>
            </p:grpSpPr>
            <p:sp>
              <p:nvSpPr>
                <p:cNvPr id="41" name="Rectangle 40">
                  <a:extLst>
                    <a:ext uri="{FF2B5EF4-FFF2-40B4-BE49-F238E27FC236}">
                      <a16:creationId xmlns:a16="http://schemas.microsoft.com/office/drawing/2014/main" id="{BDB41502-E691-5C9A-8474-B6174F3BBA7E}"/>
                    </a:ext>
                  </a:extLst>
                </p:cNvPr>
                <p:cNvSpPr/>
                <p:nvPr/>
              </p:nvSpPr>
              <p:spPr>
                <a:xfrm>
                  <a:off x="9065979" y="8769141"/>
                  <a:ext cx="2754775" cy="18172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72"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42" name="Group 41">
                  <a:extLst>
                    <a:ext uri="{FF2B5EF4-FFF2-40B4-BE49-F238E27FC236}">
                      <a16:creationId xmlns:a16="http://schemas.microsoft.com/office/drawing/2014/main" id="{EB13097B-99BD-91DE-A4F1-49A855A62B03}"/>
                    </a:ext>
                  </a:extLst>
                </p:cNvPr>
                <p:cNvGrpSpPr/>
                <p:nvPr/>
              </p:nvGrpSpPr>
              <p:grpSpPr>
                <a:xfrm>
                  <a:off x="8021598" y="8705943"/>
                  <a:ext cx="5223589" cy="3743514"/>
                  <a:chOff x="7671976" y="8705943"/>
                  <a:chExt cx="5223589" cy="3743514"/>
                </a:xfrm>
              </p:grpSpPr>
              <p:sp>
                <p:nvSpPr>
                  <p:cNvPr id="43" name="TextBox 42">
                    <a:extLst>
                      <a:ext uri="{FF2B5EF4-FFF2-40B4-BE49-F238E27FC236}">
                        <a16:creationId xmlns:a16="http://schemas.microsoft.com/office/drawing/2014/main" id="{073920D6-6384-5891-5B75-3331F65D7113}"/>
                      </a:ext>
                    </a:extLst>
                  </p:cNvPr>
                  <p:cNvSpPr txBox="1"/>
                  <p:nvPr/>
                </p:nvSpPr>
                <p:spPr>
                  <a:xfrm>
                    <a:off x="7671976" y="11019148"/>
                    <a:ext cx="5223589" cy="1430309"/>
                  </a:xfrm>
                  <a:prstGeom prst="rect">
                    <a:avLst/>
                  </a:prstGeom>
                  <a:noFill/>
                </p:spPr>
                <p:txBody>
                  <a:bodyPr wrap="none" rtlCol="0">
                    <a:spAutoFit/>
                  </a:bodyPr>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anose="020F0502020204030204"/>
                        <a:ea typeface="+mn-ea"/>
                        <a:cs typeface="+mn-cs"/>
                      </a:rPr>
                      <a:t>High Performance Computing</a:t>
                    </a:r>
                  </a:p>
                  <a:p>
                    <a:pPr marL="0" marR="0" lvl="0" indent="0" algn="ctr" defTabSz="914400" rtl="0" eaLnBrk="1" fontAlgn="auto" latinLnBrk="0" hangingPunct="1">
                      <a:lnSpc>
                        <a:spcPts val="12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grpSp>
                <p:nvGrpSpPr>
                  <p:cNvPr id="44" name="Group 43">
                    <a:extLst>
                      <a:ext uri="{FF2B5EF4-FFF2-40B4-BE49-F238E27FC236}">
                        <a16:creationId xmlns:a16="http://schemas.microsoft.com/office/drawing/2014/main" id="{59D07A74-E30C-808D-874B-A9BC53F6E08D}"/>
                      </a:ext>
                    </a:extLst>
                  </p:cNvPr>
                  <p:cNvGrpSpPr/>
                  <p:nvPr/>
                </p:nvGrpSpPr>
                <p:grpSpPr>
                  <a:xfrm>
                    <a:off x="8367666" y="8705943"/>
                    <a:ext cx="3210490" cy="2355343"/>
                    <a:chOff x="4333918" y="7347302"/>
                    <a:chExt cx="3815373" cy="2892267"/>
                  </a:xfrm>
                </p:grpSpPr>
                <p:pic>
                  <p:nvPicPr>
                    <p:cNvPr id="45" name="Picture 44">
                      <a:extLst>
                        <a:ext uri="{FF2B5EF4-FFF2-40B4-BE49-F238E27FC236}">
                          <a16:creationId xmlns:a16="http://schemas.microsoft.com/office/drawing/2014/main" id="{1EB50BBD-9ECB-FEFD-6DF6-94750A3AE5E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01897" y="7564246"/>
                      <a:ext cx="2103120" cy="1546118"/>
                    </a:xfrm>
                    <a:prstGeom prst="rect">
                      <a:avLst/>
                    </a:prstGeom>
                  </p:spPr>
                </p:pic>
                <p:pic>
                  <p:nvPicPr>
                    <p:cNvPr id="46" name="Picture 45">
                      <a:extLst>
                        <a:ext uri="{FF2B5EF4-FFF2-40B4-BE49-F238E27FC236}">
                          <a16:creationId xmlns:a16="http://schemas.microsoft.com/office/drawing/2014/main" id="{5A672346-2BF1-92B1-0F2F-C95BF718D51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4719" b="15806"/>
                    <a:stretch/>
                  </p:blipFill>
                  <p:spPr>
                    <a:xfrm>
                      <a:off x="4333918" y="7347302"/>
                      <a:ext cx="3815373" cy="2892267"/>
                    </a:xfrm>
                    <a:prstGeom prst="rect">
                      <a:avLst/>
                    </a:prstGeom>
                  </p:spPr>
                </p:pic>
              </p:grpSp>
            </p:grpSp>
          </p:grpSp>
          <p:grpSp>
            <p:nvGrpSpPr>
              <p:cNvPr id="20" name="Group 19">
                <a:extLst>
                  <a:ext uri="{FF2B5EF4-FFF2-40B4-BE49-F238E27FC236}">
                    <a16:creationId xmlns:a16="http://schemas.microsoft.com/office/drawing/2014/main" id="{919A77B9-3651-D8D3-58DD-A704933C4B3D}"/>
                  </a:ext>
                </a:extLst>
              </p:cNvPr>
              <p:cNvGrpSpPr/>
              <p:nvPr/>
            </p:nvGrpSpPr>
            <p:grpSpPr>
              <a:xfrm>
                <a:off x="11207732" y="10255634"/>
                <a:ext cx="3949976" cy="3883223"/>
                <a:chOff x="8151123" y="13572851"/>
                <a:chExt cx="3949976" cy="3883223"/>
              </a:xfrm>
            </p:grpSpPr>
            <p:grpSp>
              <p:nvGrpSpPr>
                <p:cNvPr id="37" name="Group 36">
                  <a:extLst>
                    <a:ext uri="{FF2B5EF4-FFF2-40B4-BE49-F238E27FC236}">
                      <a16:creationId xmlns:a16="http://schemas.microsoft.com/office/drawing/2014/main" id="{7D1D2630-0135-F7B9-5305-67481B603955}"/>
                    </a:ext>
                  </a:extLst>
                </p:cNvPr>
                <p:cNvGrpSpPr/>
                <p:nvPr/>
              </p:nvGrpSpPr>
              <p:grpSpPr>
                <a:xfrm>
                  <a:off x="8151123" y="13572851"/>
                  <a:ext cx="3949976" cy="3883223"/>
                  <a:chOff x="4414657" y="11971071"/>
                  <a:chExt cx="3949976" cy="3883223"/>
                </a:xfrm>
              </p:grpSpPr>
              <p:pic>
                <p:nvPicPr>
                  <p:cNvPr id="39" name="Picture 38">
                    <a:extLst>
                      <a:ext uri="{FF2B5EF4-FFF2-40B4-BE49-F238E27FC236}">
                        <a16:creationId xmlns:a16="http://schemas.microsoft.com/office/drawing/2014/main" id="{BFBDEC43-A3D4-DE39-F899-51D251790D52}"/>
                      </a:ext>
                    </a:extLst>
                  </p:cNvPr>
                  <p:cNvPicPr>
                    <a:picLocks noChangeAspect="1"/>
                  </p:cNvPicPr>
                  <p:nvPr/>
                </p:nvPicPr>
                <p:blipFill>
                  <a:blip r:embed="rId5" cstate="print">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4520583" y="11971071"/>
                    <a:ext cx="3614046" cy="2708655"/>
                  </a:xfrm>
                  <a:prstGeom prst="rect">
                    <a:avLst/>
                  </a:prstGeom>
                </p:spPr>
              </p:pic>
              <p:sp>
                <p:nvSpPr>
                  <p:cNvPr id="40" name="TextBox 39">
                    <a:extLst>
                      <a:ext uri="{FF2B5EF4-FFF2-40B4-BE49-F238E27FC236}">
                        <a16:creationId xmlns:a16="http://schemas.microsoft.com/office/drawing/2014/main" id="{75B8CE00-3CF4-1231-3E2B-56A828C68C23}"/>
                      </a:ext>
                    </a:extLst>
                  </p:cNvPr>
                  <p:cNvSpPr txBox="1"/>
                  <p:nvPr/>
                </p:nvSpPr>
                <p:spPr>
                  <a:xfrm>
                    <a:off x="4414657" y="14447145"/>
                    <a:ext cx="3949976" cy="1407149"/>
                  </a:xfrm>
                  <a:prstGeom prst="rect">
                    <a:avLst/>
                  </a:prstGeom>
                  <a:noFill/>
                </p:spPr>
                <p:txBody>
                  <a:bodyPr wrap="none" rtlCol="0">
                    <a:spAutoFit/>
                  </a:bodyPr>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anose="020F0502020204030204"/>
                        <a:ea typeface="+mn-ea"/>
                        <a:cs typeface="+mn-cs"/>
                      </a:rPr>
                      <a:t>Secure Cloud Services</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anose="020F0502020204030204"/>
                        <a:ea typeface="+mn-ea"/>
                        <a:cs typeface="+mn-cs"/>
                      </a:rPr>
                      <a:t>(AWS, GCP, Azure)</a:t>
                    </a:r>
                  </a:p>
                </p:txBody>
              </p:sp>
            </p:grpSp>
            <p:pic>
              <p:nvPicPr>
                <p:cNvPr id="38" name="Picture 37">
                  <a:extLst>
                    <a:ext uri="{FF2B5EF4-FFF2-40B4-BE49-F238E27FC236}">
                      <a16:creationId xmlns:a16="http://schemas.microsoft.com/office/drawing/2014/main" id="{6B02077B-A1FF-A8AF-AE38-BE61F3F9CA9D}"/>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2266" t="12818" r="10028" b="29671"/>
                <a:stretch/>
              </p:blipFill>
              <p:spPr>
                <a:xfrm>
                  <a:off x="8659922" y="13891987"/>
                  <a:ext cx="2808319" cy="1557796"/>
                </a:xfrm>
                <a:prstGeom prst="rect">
                  <a:avLst/>
                </a:prstGeom>
              </p:spPr>
            </p:pic>
          </p:grpSp>
          <p:sp>
            <p:nvSpPr>
              <p:cNvPr id="21" name="Left-Right Arrow 18">
                <a:extLst>
                  <a:ext uri="{FF2B5EF4-FFF2-40B4-BE49-F238E27FC236}">
                    <a16:creationId xmlns:a16="http://schemas.microsoft.com/office/drawing/2014/main" id="{6EE77051-DC0A-5D7C-2451-B0044E31EA19}"/>
                  </a:ext>
                </a:extLst>
              </p:cNvPr>
              <p:cNvSpPr/>
              <p:nvPr/>
            </p:nvSpPr>
            <p:spPr>
              <a:xfrm rot="10800000">
                <a:off x="14775469" y="11121141"/>
                <a:ext cx="766526" cy="467984"/>
              </a:xfrm>
              <a:prstGeom prst="leftRightArrow">
                <a:avLst>
                  <a:gd name="adj1" fmla="val 32444"/>
                  <a:gd name="adj2" fmla="val 42476"/>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72"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 name="Rounded Rectangle 20">
                <a:extLst>
                  <a:ext uri="{FF2B5EF4-FFF2-40B4-BE49-F238E27FC236}">
                    <a16:creationId xmlns:a16="http://schemas.microsoft.com/office/drawing/2014/main" id="{793C2779-FE31-C7BD-43F3-B0C6830A8219}"/>
                  </a:ext>
                </a:extLst>
              </p:cNvPr>
              <p:cNvSpPr/>
              <p:nvPr/>
            </p:nvSpPr>
            <p:spPr>
              <a:xfrm>
                <a:off x="15780114" y="6101209"/>
                <a:ext cx="6320970" cy="6662233"/>
              </a:xfrm>
              <a:prstGeom prst="round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23" name="Group 22">
                <a:extLst>
                  <a:ext uri="{FF2B5EF4-FFF2-40B4-BE49-F238E27FC236}">
                    <a16:creationId xmlns:a16="http://schemas.microsoft.com/office/drawing/2014/main" id="{F46991C2-970C-BF0A-FD50-08C126AB5F44}"/>
                  </a:ext>
                </a:extLst>
              </p:cNvPr>
              <p:cNvGrpSpPr/>
              <p:nvPr/>
            </p:nvGrpSpPr>
            <p:grpSpPr>
              <a:xfrm>
                <a:off x="16105956" y="6387231"/>
                <a:ext cx="5669280" cy="5970184"/>
                <a:chOff x="17681115" y="10804261"/>
                <a:chExt cx="5669280" cy="5970184"/>
              </a:xfrm>
            </p:grpSpPr>
            <p:sp>
              <p:nvSpPr>
                <p:cNvPr id="34" name="Rounded Rectangle 22">
                  <a:extLst>
                    <a:ext uri="{FF2B5EF4-FFF2-40B4-BE49-F238E27FC236}">
                      <a16:creationId xmlns:a16="http://schemas.microsoft.com/office/drawing/2014/main" id="{37BA1FC4-CFB3-F11D-96E1-F0E7EFBC26C4}"/>
                    </a:ext>
                  </a:extLst>
                </p:cNvPr>
                <p:cNvSpPr/>
                <p:nvPr/>
              </p:nvSpPr>
              <p:spPr>
                <a:xfrm>
                  <a:off x="17681115" y="10804261"/>
                  <a:ext cx="5669280" cy="1598221"/>
                </a:xfrm>
                <a:prstGeom prst="roundRect">
                  <a:avLst/>
                </a:prstGeom>
                <a:solidFill>
                  <a:schemeClr val="accent6">
                    <a:lumMod val="40000"/>
                    <a:lumOff val="6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041"/>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Data Extraction &amp; </a:t>
                  </a:r>
                </a:p>
                <a:p>
                  <a:pPr marL="0" marR="0" lvl="0" indent="0" algn="ctr" defTabSz="914400" rtl="0" eaLnBrk="1" fontAlgn="auto" latinLnBrk="0" hangingPunct="1">
                    <a:lnSpc>
                      <a:spcPts val="1041"/>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ts val="1041"/>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 Transformation</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5" name="Rounded Rectangle 23">
                  <a:extLst>
                    <a:ext uri="{FF2B5EF4-FFF2-40B4-BE49-F238E27FC236}">
                      <a16:creationId xmlns:a16="http://schemas.microsoft.com/office/drawing/2014/main" id="{8644C311-FAC9-530F-72B8-4068506D8DEA}"/>
                    </a:ext>
                  </a:extLst>
                </p:cNvPr>
                <p:cNvSpPr/>
                <p:nvPr/>
              </p:nvSpPr>
              <p:spPr>
                <a:xfrm>
                  <a:off x="17681115" y="13250459"/>
                  <a:ext cx="5669280" cy="1379149"/>
                </a:xfrm>
                <a:prstGeom prst="roundRect">
                  <a:avLst/>
                </a:prstGeom>
                <a:solidFill>
                  <a:schemeClr val="accent1">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833"/>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alibri" panose="020F0502020204030204"/>
                      <a:ea typeface="+mn-ea"/>
                      <a:cs typeface="+mn-cs"/>
                    </a:rPr>
                    <a:t>Data Storage</a:t>
                  </a:r>
                </a:p>
              </p:txBody>
            </p:sp>
            <p:sp>
              <p:nvSpPr>
                <p:cNvPr id="36" name="Rounded Rectangle 24">
                  <a:extLst>
                    <a:ext uri="{FF2B5EF4-FFF2-40B4-BE49-F238E27FC236}">
                      <a16:creationId xmlns:a16="http://schemas.microsoft.com/office/drawing/2014/main" id="{BF9E8C66-2C6A-1877-C792-CC5F001F98AC}"/>
                    </a:ext>
                  </a:extLst>
                </p:cNvPr>
                <p:cNvSpPr/>
                <p:nvPr/>
              </p:nvSpPr>
              <p:spPr>
                <a:xfrm>
                  <a:off x="17681115" y="15395297"/>
                  <a:ext cx="5669280" cy="1379148"/>
                </a:xfrm>
                <a:prstGeom prst="round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041"/>
                    </a:lnSpc>
                    <a:spcBef>
                      <a:spcPts val="0"/>
                    </a:spcBef>
                    <a:spcAft>
                      <a:spcPts val="0"/>
                    </a:spcAft>
                    <a:buClrTx/>
                    <a:buSzTx/>
                    <a:buFontTx/>
                    <a:buNone/>
                    <a:tabLst/>
                    <a:defRPr/>
                  </a:pPr>
                  <a:r>
                    <a:rPr lang="en-US" sz="1600" b="1" dirty="0">
                      <a:solidFill>
                        <a:prstClr val="black"/>
                      </a:solidFill>
                      <a:latin typeface="Calibri" panose="020F0502020204030204"/>
                    </a:rPr>
                    <a:t>Analytics and Indexing</a:t>
                  </a:r>
                  <a:endPar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4" name="TextBox 23">
                <a:extLst>
                  <a:ext uri="{FF2B5EF4-FFF2-40B4-BE49-F238E27FC236}">
                    <a16:creationId xmlns:a16="http://schemas.microsoft.com/office/drawing/2014/main" id="{BC4618C7-E0CB-A668-AE69-EFFEE7B32DDB}"/>
                  </a:ext>
                </a:extLst>
              </p:cNvPr>
              <p:cNvSpPr txBox="1"/>
              <p:nvPr/>
            </p:nvSpPr>
            <p:spPr>
              <a:xfrm>
                <a:off x="16013918" y="13051129"/>
                <a:ext cx="6346993" cy="1165638"/>
              </a:xfrm>
              <a:prstGeom prst="rect">
                <a:avLst/>
              </a:prstGeom>
              <a:noFill/>
            </p:spPr>
            <p:txBody>
              <a:bodyPr wrap="square" rtlCol="0">
                <a:spAutoFit/>
              </a:bodyPr>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sz="1459" b="1" i="0" u="none" strike="noStrike" kern="1200" cap="none" spc="0" normalizeH="0" baseline="0" noProof="0" dirty="0">
                    <a:ln>
                      <a:noFill/>
                    </a:ln>
                    <a:solidFill>
                      <a:srgbClr val="000000"/>
                    </a:solidFill>
                    <a:effectLst/>
                    <a:uLnTx/>
                    <a:uFillTx/>
                    <a:latin typeface="Calibri" panose="020F0502020204030204"/>
                    <a:ea typeface="+mn-ea"/>
                    <a:cs typeface="+mn-cs"/>
                  </a:rPr>
                  <a:t>Clinical Research Data Warehouse</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sz="1459" b="1" i="0" u="none" strike="noStrike" kern="1200" cap="none" spc="0" normalizeH="0" baseline="0" noProof="0" dirty="0">
                    <a:ln>
                      <a:noFill/>
                    </a:ln>
                    <a:solidFill>
                      <a:srgbClr val="000000"/>
                    </a:solidFill>
                    <a:effectLst/>
                    <a:uLnTx/>
                    <a:uFillTx/>
                    <a:latin typeface="Calibri" panose="020F0502020204030204"/>
                    <a:ea typeface="+mn-ea"/>
                    <a:cs typeface="+mn-cs"/>
                  </a:rPr>
                  <a:t>(CRDW)</a:t>
                </a:r>
              </a:p>
            </p:txBody>
          </p:sp>
          <p:sp>
            <p:nvSpPr>
              <p:cNvPr id="25" name="Down Arrow 26">
                <a:extLst>
                  <a:ext uri="{FF2B5EF4-FFF2-40B4-BE49-F238E27FC236}">
                    <a16:creationId xmlns:a16="http://schemas.microsoft.com/office/drawing/2014/main" id="{3014C3FE-325C-EEEB-00B4-6E314E594F6C}"/>
                  </a:ext>
                </a:extLst>
              </p:cNvPr>
              <p:cNvSpPr/>
              <p:nvPr/>
            </p:nvSpPr>
            <p:spPr>
              <a:xfrm>
                <a:off x="18094948" y="7867588"/>
                <a:ext cx="1691291" cy="1088818"/>
              </a:xfrm>
              <a:prstGeom prst="downArrow">
                <a:avLst/>
              </a:prstGeom>
              <a:solidFill>
                <a:schemeClr val="accent6">
                  <a:lumMod val="40000"/>
                  <a:lumOff val="6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84" b="1"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6" name="Down Arrow 27">
                <a:extLst>
                  <a:ext uri="{FF2B5EF4-FFF2-40B4-BE49-F238E27FC236}">
                    <a16:creationId xmlns:a16="http://schemas.microsoft.com/office/drawing/2014/main" id="{259C127E-3CA0-6C26-3727-5EA13EC9F7C7}"/>
                  </a:ext>
                </a:extLst>
              </p:cNvPr>
              <p:cNvSpPr/>
              <p:nvPr/>
            </p:nvSpPr>
            <p:spPr>
              <a:xfrm>
                <a:off x="18231460" y="9991859"/>
                <a:ext cx="1691291" cy="1082096"/>
              </a:xfrm>
              <a:prstGeom prst="downArrow">
                <a:avLst/>
              </a:prstGeom>
              <a:solidFill>
                <a:schemeClr val="accent1">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833"/>
                  </a:lnSpc>
                  <a:spcBef>
                    <a:spcPts val="0"/>
                  </a:spcBef>
                  <a:spcAft>
                    <a:spcPts val="0"/>
                  </a:spcAft>
                  <a:buClrTx/>
                  <a:buSzTx/>
                  <a:buFontTx/>
                  <a:buNone/>
                  <a:tabLst/>
                  <a:defRPr/>
                </a:pPr>
                <a:endParaRPr kumimoji="0" lang="en-US" sz="833" b="1"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C03F7589-A3F0-7B64-FD1E-C5A3E93ECBD5}"/>
                  </a:ext>
                </a:extLst>
              </p:cNvPr>
              <p:cNvSpPr txBox="1"/>
              <p:nvPr/>
            </p:nvSpPr>
            <p:spPr>
              <a:xfrm>
                <a:off x="15359143" y="4940920"/>
                <a:ext cx="6980956" cy="813523"/>
              </a:xfrm>
              <a:prstGeom prst="rect">
                <a:avLst/>
              </a:prstGeom>
              <a:noFill/>
            </p:spPr>
            <p:txBody>
              <a:bodyPr wrap="square" rtlCol="0">
                <a:spAutoFit/>
              </a:bodyPr>
              <a:lstStyle/>
              <a:p>
                <a:pPr marL="0" marR="0" lvl="0" indent="0" algn="ctr" defTabSz="914400" rtl="0" eaLnBrk="1" fontAlgn="auto" latinLnBrk="0" hangingPunct="1">
                  <a:lnSpc>
                    <a:spcPts val="1667"/>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00000"/>
                    </a:solidFill>
                    <a:effectLst/>
                    <a:uLnTx/>
                    <a:uFillTx/>
                    <a:latin typeface="Calibri" panose="020F0502020204030204"/>
                    <a:ea typeface="+mn-ea"/>
                    <a:cs typeface="+mn-cs"/>
                  </a:rPr>
                  <a:t>Rutgers Protected Environment</a:t>
                </a:r>
              </a:p>
            </p:txBody>
          </p:sp>
          <p:sp>
            <p:nvSpPr>
              <p:cNvPr id="28" name="Rounded Rectangle 35">
                <a:extLst>
                  <a:ext uri="{FF2B5EF4-FFF2-40B4-BE49-F238E27FC236}">
                    <a16:creationId xmlns:a16="http://schemas.microsoft.com/office/drawing/2014/main" id="{1906B90D-B36A-EBFE-C980-F09B442AC7EA}"/>
                  </a:ext>
                </a:extLst>
              </p:cNvPr>
              <p:cNvSpPr/>
              <p:nvPr/>
            </p:nvSpPr>
            <p:spPr>
              <a:xfrm>
                <a:off x="4862316" y="4748138"/>
                <a:ext cx="4343399" cy="1420105"/>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00000"/>
                    </a:solidFill>
                    <a:effectLst/>
                    <a:uLnTx/>
                    <a:uFillTx/>
                    <a:latin typeface="Calibri" panose="020F0502020204030204"/>
                    <a:ea typeface="+mn-ea"/>
                    <a:cs typeface="+mn-cs"/>
                  </a:rPr>
                  <a:t>Unstructured Data</a:t>
                </a:r>
              </a:p>
            </p:txBody>
          </p:sp>
          <p:sp>
            <p:nvSpPr>
              <p:cNvPr id="29" name="Rounded Rectangle 47">
                <a:extLst>
                  <a:ext uri="{FF2B5EF4-FFF2-40B4-BE49-F238E27FC236}">
                    <a16:creationId xmlns:a16="http://schemas.microsoft.com/office/drawing/2014/main" id="{362411DB-FFA9-9719-7B5F-207819414D8E}"/>
                  </a:ext>
                </a:extLst>
              </p:cNvPr>
              <p:cNvSpPr/>
              <p:nvPr/>
            </p:nvSpPr>
            <p:spPr>
              <a:xfrm>
                <a:off x="4862316" y="6554441"/>
                <a:ext cx="4343399" cy="1420105"/>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00000"/>
                    </a:solidFill>
                    <a:effectLst/>
                    <a:uLnTx/>
                    <a:uFillTx/>
                    <a:latin typeface="Calibri" panose="020F0502020204030204"/>
                    <a:ea typeface="+mn-ea"/>
                    <a:cs typeface="+mn-cs"/>
                  </a:rPr>
                  <a:t>Radiology Images</a:t>
                </a:r>
              </a:p>
            </p:txBody>
          </p:sp>
          <p:sp>
            <p:nvSpPr>
              <p:cNvPr id="30" name="Rounded Rectangle 49">
                <a:extLst>
                  <a:ext uri="{FF2B5EF4-FFF2-40B4-BE49-F238E27FC236}">
                    <a16:creationId xmlns:a16="http://schemas.microsoft.com/office/drawing/2014/main" id="{FC0DD34B-C078-9071-4811-FBB5C2D3C063}"/>
                  </a:ext>
                </a:extLst>
              </p:cNvPr>
              <p:cNvSpPr/>
              <p:nvPr/>
            </p:nvSpPr>
            <p:spPr>
              <a:xfrm>
                <a:off x="4845304" y="8439791"/>
                <a:ext cx="4343399" cy="1420105"/>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b="1" dirty="0">
                    <a:solidFill>
                      <a:srgbClr val="000000"/>
                    </a:solidFill>
                    <a:latin typeface="Calibri" panose="020F0502020204030204"/>
                  </a:rPr>
                  <a:t>Digital Pathology</a:t>
                </a:r>
                <a:endParaRPr kumimoji="0" lang="en-US" sz="1500" b="1"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1" name="Right Arrow 51">
                <a:extLst>
                  <a:ext uri="{FF2B5EF4-FFF2-40B4-BE49-F238E27FC236}">
                    <a16:creationId xmlns:a16="http://schemas.microsoft.com/office/drawing/2014/main" id="{D24D2520-0198-AEEB-377E-7A8425ACE197}"/>
                  </a:ext>
                </a:extLst>
              </p:cNvPr>
              <p:cNvSpPr/>
              <p:nvPr/>
            </p:nvSpPr>
            <p:spPr>
              <a:xfrm>
                <a:off x="9278327" y="8901065"/>
                <a:ext cx="1554481"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72"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 name="Rounded Rectangle 53">
                <a:extLst>
                  <a:ext uri="{FF2B5EF4-FFF2-40B4-BE49-F238E27FC236}">
                    <a16:creationId xmlns:a16="http://schemas.microsoft.com/office/drawing/2014/main" id="{AAA3B978-70DE-71D3-34C1-DF03D22D9B1F}"/>
                  </a:ext>
                </a:extLst>
              </p:cNvPr>
              <p:cNvSpPr/>
              <p:nvPr/>
            </p:nvSpPr>
            <p:spPr>
              <a:xfrm>
                <a:off x="4835759" y="10406099"/>
                <a:ext cx="4343399" cy="1420105"/>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00000"/>
                    </a:solidFill>
                    <a:effectLst/>
                    <a:uLnTx/>
                    <a:uFillTx/>
                    <a:latin typeface="Calibri" panose="020F0502020204030204"/>
                    <a:ea typeface="+mn-ea"/>
                    <a:cs typeface="+mn-cs"/>
                  </a:rPr>
                  <a:t>Genomics </a:t>
                </a:r>
                <a:r>
                  <a:rPr lang="en-US" sz="1500" b="1" dirty="0">
                    <a:solidFill>
                      <a:srgbClr val="000000"/>
                    </a:solidFill>
                    <a:latin typeface="Calibri" panose="020F0502020204030204"/>
                  </a:rPr>
                  <a:t>Profiles</a:t>
                </a:r>
                <a:endParaRPr kumimoji="0" lang="en-US" sz="1500" b="1"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3" name="Rounded Rectangle 58">
                <a:extLst>
                  <a:ext uri="{FF2B5EF4-FFF2-40B4-BE49-F238E27FC236}">
                    <a16:creationId xmlns:a16="http://schemas.microsoft.com/office/drawing/2014/main" id="{AB5F1F0B-02CA-FB32-019C-0E08084664ED}"/>
                  </a:ext>
                </a:extLst>
              </p:cNvPr>
              <p:cNvSpPr/>
              <p:nvPr/>
            </p:nvSpPr>
            <p:spPr>
              <a:xfrm>
                <a:off x="4884916" y="12308068"/>
                <a:ext cx="4343399" cy="1420105"/>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b="1" dirty="0">
                    <a:solidFill>
                      <a:srgbClr val="000000"/>
                    </a:solidFill>
                    <a:latin typeface="Calibri" panose="020F0502020204030204"/>
                  </a:rPr>
                  <a:t>Correlated Clinical</a:t>
                </a:r>
                <a:r>
                  <a:rPr kumimoji="0" lang="en-US" sz="1500" b="1" i="0" u="none" strike="noStrike" kern="1200" cap="none" spc="0" normalizeH="0" baseline="0" noProof="0" dirty="0">
                    <a:ln>
                      <a:noFill/>
                    </a:ln>
                    <a:solidFill>
                      <a:srgbClr val="000000"/>
                    </a:solidFill>
                    <a:effectLst/>
                    <a:uLnTx/>
                    <a:uFillTx/>
                    <a:latin typeface="Calibri" panose="020F0502020204030204"/>
                    <a:ea typeface="+mn-ea"/>
                    <a:cs typeface="+mn-cs"/>
                  </a:rPr>
                  <a:t> </a:t>
                </a:r>
                <a:r>
                  <a:rPr lang="en-US" sz="1500" b="1" dirty="0">
                    <a:solidFill>
                      <a:srgbClr val="000000"/>
                    </a:solidFill>
                    <a:latin typeface="Calibri" panose="020F0502020204030204"/>
                  </a:rPr>
                  <a:t>EHR </a:t>
                </a:r>
                <a:r>
                  <a:rPr kumimoji="0" lang="en-US" sz="1500" b="1" i="0" u="none" strike="noStrike" kern="1200" cap="none" spc="0" normalizeH="0" baseline="0" noProof="0" dirty="0">
                    <a:ln>
                      <a:noFill/>
                    </a:ln>
                    <a:solidFill>
                      <a:srgbClr val="000000"/>
                    </a:solidFill>
                    <a:effectLst/>
                    <a:uLnTx/>
                    <a:uFillTx/>
                    <a:latin typeface="Calibri" panose="020F0502020204030204"/>
                    <a:ea typeface="+mn-ea"/>
                    <a:cs typeface="+mn-cs"/>
                  </a:rPr>
                  <a:t>Data</a:t>
                </a:r>
              </a:p>
            </p:txBody>
          </p:sp>
        </p:grpSp>
        <p:sp>
          <p:nvSpPr>
            <p:cNvPr id="12" name="Left-Right Arrow 44">
              <a:extLst>
                <a:ext uri="{FF2B5EF4-FFF2-40B4-BE49-F238E27FC236}">
                  <a16:creationId xmlns:a16="http://schemas.microsoft.com/office/drawing/2014/main" id="{67BE864B-9EA3-7C4A-07A9-92E53F916F42}"/>
                </a:ext>
              </a:extLst>
            </p:cNvPr>
            <p:cNvSpPr/>
            <p:nvPr/>
          </p:nvSpPr>
          <p:spPr>
            <a:xfrm rot="5400000">
              <a:off x="3443073" y="2644601"/>
              <a:ext cx="454976" cy="100341"/>
            </a:xfrm>
            <a:prstGeom prst="leftRightArrow">
              <a:avLst>
                <a:gd name="adj1" fmla="val 32444"/>
                <a:gd name="adj2" fmla="val 42476"/>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72"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 name="Left-Right Arrow 45">
              <a:extLst>
                <a:ext uri="{FF2B5EF4-FFF2-40B4-BE49-F238E27FC236}">
                  <a16:creationId xmlns:a16="http://schemas.microsoft.com/office/drawing/2014/main" id="{ED1561C2-001B-CC2B-1CEF-6522BC8031FB}"/>
                </a:ext>
              </a:extLst>
            </p:cNvPr>
            <p:cNvSpPr/>
            <p:nvPr/>
          </p:nvSpPr>
          <p:spPr>
            <a:xfrm rot="10800000">
              <a:off x="4336997" y="1966357"/>
              <a:ext cx="274320" cy="149197"/>
            </a:xfrm>
            <a:prstGeom prst="leftRightArrow">
              <a:avLst>
                <a:gd name="adj1" fmla="val 32444"/>
                <a:gd name="adj2" fmla="val 42476"/>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72"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Right Arrow 48">
              <a:extLst>
                <a:ext uri="{FF2B5EF4-FFF2-40B4-BE49-F238E27FC236}">
                  <a16:creationId xmlns:a16="http://schemas.microsoft.com/office/drawing/2014/main" id="{28CF4DF4-26AD-F16E-03C6-724B614B0FAC}"/>
                </a:ext>
              </a:extLst>
            </p:cNvPr>
            <p:cNvSpPr/>
            <p:nvPr/>
          </p:nvSpPr>
          <p:spPr>
            <a:xfrm>
              <a:off x="2339760" y="1335450"/>
              <a:ext cx="556309" cy="1457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72"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ight Arrow 50">
              <a:extLst>
                <a:ext uri="{FF2B5EF4-FFF2-40B4-BE49-F238E27FC236}">
                  <a16:creationId xmlns:a16="http://schemas.microsoft.com/office/drawing/2014/main" id="{6F8EA096-93BE-8F2C-6233-9859924C7A66}"/>
                </a:ext>
              </a:extLst>
            </p:cNvPr>
            <p:cNvSpPr/>
            <p:nvPr/>
          </p:nvSpPr>
          <p:spPr>
            <a:xfrm>
              <a:off x="2336003" y="1927261"/>
              <a:ext cx="556309" cy="1457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72"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Right Arrow 57">
              <a:extLst>
                <a:ext uri="{FF2B5EF4-FFF2-40B4-BE49-F238E27FC236}">
                  <a16:creationId xmlns:a16="http://schemas.microsoft.com/office/drawing/2014/main" id="{2F49B61D-576E-FBBF-FE4C-BB06F01A691E}"/>
                </a:ext>
              </a:extLst>
            </p:cNvPr>
            <p:cNvSpPr/>
            <p:nvPr/>
          </p:nvSpPr>
          <p:spPr>
            <a:xfrm>
              <a:off x="2343041" y="3736485"/>
              <a:ext cx="556309" cy="1457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72"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ight Arrow 59">
              <a:extLst>
                <a:ext uri="{FF2B5EF4-FFF2-40B4-BE49-F238E27FC236}">
                  <a16:creationId xmlns:a16="http://schemas.microsoft.com/office/drawing/2014/main" id="{B54D9523-DFB4-FC53-A9D2-1F636DA4B2C6}"/>
                </a:ext>
              </a:extLst>
            </p:cNvPr>
            <p:cNvSpPr/>
            <p:nvPr/>
          </p:nvSpPr>
          <p:spPr>
            <a:xfrm>
              <a:off x="2341288" y="3154301"/>
              <a:ext cx="556309" cy="1457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72"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3" name="TextBox 2">
            <a:extLst>
              <a:ext uri="{FF2B5EF4-FFF2-40B4-BE49-F238E27FC236}">
                <a16:creationId xmlns:a16="http://schemas.microsoft.com/office/drawing/2014/main" id="{2A884450-22BF-1D04-8011-4E883E6B29AE}"/>
              </a:ext>
            </a:extLst>
          </p:cNvPr>
          <p:cNvSpPr txBox="1"/>
          <p:nvPr/>
        </p:nvSpPr>
        <p:spPr>
          <a:xfrm>
            <a:off x="719961" y="4307264"/>
            <a:ext cx="8078047" cy="1446550"/>
          </a:xfrm>
          <a:prstGeom prst="rect">
            <a:avLst/>
          </a:prstGeom>
          <a:noFill/>
        </p:spPr>
        <p:txBody>
          <a:bodyPr wrap="square">
            <a:spAutoFit/>
          </a:bodyPr>
          <a:lstStyle/>
          <a:p>
            <a:pPr marL="285750" indent="-285750">
              <a:buFont typeface="Wingdings" panose="05000000000000000000" pitchFamily="2" charset="2"/>
              <a:buChar char="ü"/>
            </a:pPr>
            <a:r>
              <a:rPr lang="en-US" dirty="0">
                <a:solidFill>
                  <a:srgbClr val="000000"/>
                </a:solidFill>
                <a:latin typeface="Arial" panose="020B0604020202020204" pitchFamily="34" charset="0"/>
                <a:ea typeface="Calibri" panose="020F0502020204030204" pitchFamily="34" charset="0"/>
              </a:rPr>
              <a:t>Optimize and maintain the CRDW as a robust informatics platform that supports </a:t>
            </a:r>
            <a:r>
              <a:rPr lang="en-US" b="1" dirty="0">
                <a:solidFill>
                  <a:srgbClr val="000000"/>
                </a:solidFill>
                <a:latin typeface="Arial" panose="020B0604020202020204" pitchFamily="34" charset="0"/>
                <a:ea typeface="Calibri" panose="020F0502020204030204" pitchFamily="34" charset="0"/>
              </a:rPr>
              <a:t>multimodal (genomics, digital pathology, radiology) data management </a:t>
            </a:r>
            <a:r>
              <a:rPr lang="en-US" dirty="0">
                <a:solidFill>
                  <a:srgbClr val="000000"/>
                </a:solidFill>
                <a:latin typeface="Arial" panose="020B0604020202020204" pitchFamily="34" charset="0"/>
                <a:ea typeface="Calibri" panose="020F0502020204030204" pitchFamily="34" charset="0"/>
              </a:rPr>
              <a:t>and data-mining capabilities that advance translational research and clinical investigations. </a:t>
            </a:r>
          </a:p>
          <a:p>
            <a:pPr marL="0" marR="0">
              <a:buNone/>
            </a:pPr>
            <a:endParaRPr lang="en-US" sz="1600" dirty="0">
              <a:solidFill>
                <a:srgbClr val="000000"/>
              </a:solidFill>
              <a:effectLst/>
              <a:latin typeface="Arial" panose="020B0604020202020204" pitchFamily="34" charset="0"/>
              <a:ea typeface="Calibri" panose="020F0502020204030204" pitchFamily="34" charset="0"/>
            </a:endParaRPr>
          </a:p>
        </p:txBody>
      </p:sp>
      <p:sp>
        <p:nvSpPr>
          <p:cNvPr id="8" name="TextBox 7">
            <a:extLst>
              <a:ext uri="{FF2B5EF4-FFF2-40B4-BE49-F238E27FC236}">
                <a16:creationId xmlns:a16="http://schemas.microsoft.com/office/drawing/2014/main" id="{7024A9CF-8CDE-9C62-CFA2-37653B3ADD69}"/>
              </a:ext>
            </a:extLst>
          </p:cNvPr>
          <p:cNvSpPr txBox="1"/>
          <p:nvPr/>
        </p:nvSpPr>
        <p:spPr>
          <a:xfrm>
            <a:off x="347341" y="374113"/>
            <a:ext cx="11008160" cy="584775"/>
          </a:xfrm>
          <a:prstGeom prst="rect">
            <a:avLst/>
          </a:prstGeom>
          <a:noFill/>
        </p:spPr>
        <p:txBody>
          <a:bodyPr wrap="square">
            <a:spAutoFit/>
          </a:bodyPr>
          <a:lstStyle/>
          <a:p>
            <a:r>
              <a:rPr lang="en-US" sz="3200" b="1" dirty="0"/>
              <a:t>Clinical and Research Data Warehouse (CRDW)</a:t>
            </a:r>
            <a:endParaRPr lang="en-US" sz="3200" dirty="0"/>
          </a:p>
        </p:txBody>
      </p:sp>
      <p:sp>
        <p:nvSpPr>
          <p:cNvPr id="2" name="TextBox 1">
            <a:extLst>
              <a:ext uri="{FF2B5EF4-FFF2-40B4-BE49-F238E27FC236}">
                <a16:creationId xmlns:a16="http://schemas.microsoft.com/office/drawing/2014/main" id="{1CC61CF7-DE3A-9F90-D2D8-9034CFC71C71}"/>
              </a:ext>
            </a:extLst>
          </p:cNvPr>
          <p:cNvSpPr txBox="1"/>
          <p:nvPr/>
        </p:nvSpPr>
        <p:spPr>
          <a:xfrm>
            <a:off x="8798008" y="1987255"/>
            <a:ext cx="3314946" cy="3416320"/>
          </a:xfrm>
          <a:prstGeom prst="rect">
            <a:avLst/>
          </a:prstGeom>
          <a:noFill/>
        </p:spPr>
        <p:txBody>
          <a:bodyPr wrap="none" rtlCol="0">
            <a:spAutoFit/>
          </a:bodyPr>
          <a:lstStyle/>
          <a:p>
            <a:r>
              <a:rPr lang="en-US" sz="3600" dirty="0"/>
              <a:t>Coming soon:</a:t>
            </a:r>
          </a:p>
          <a:p>
            <a:r>
              <a:rPr lang="en-US" sz="3600" dirty="0"/>
              <a:t>CDRW 2.0</a:t>
            </a:r>
            <a:br>
              <a:rPr lang="en-US" sz="3600" dirty="0"/>
            </a:br>
            <a:br>
              <a:rPr lang="en-US" sz="3600" dirty="0"/>
            </a:br>
            <a:r>
              <a:rPr lang="en-US" sz="3600" i="1" dirty="0"/>
              <a:t>Improving </a:t>
            </a:r>
            <a:br>
              <a:rPr lang="en-US" sz="3600" i="1" dirty="0"/>
            </a:br>
            <a:r>
              <a:rPr lang="en-US" sz="3600" i="1" dirty="0"/>
              <a:t>Access to</a:t>
            </a:r>
            <a:br>
              <a:rPr lang="en-US" sz="3600" i="1" dirty="0"/>
            </a:br>
            <a:r>
              <a:rPr lang="en-US" sz="3600" i="1" dirty="0"/>
              <a:t>healthcare data</a:t>
            </a:r>
          </a:p>
        </p:txBody>
      </p:sp>
      <p:pic>
        <p:nvPicPr>
          <p:cNvPr id="7" name="Picture 5" descr="David J. Foran, PhD">
            <a:extLst>
              <a:ext uri="{FF2B5EF4-FFF2-40B4-BE49-F238E27FC236}">
                <a16:creationId xmlns:a16="http://schemas.microsoft.com/office/drawing/2014/main" id="{E12BEC01-492B-D92F-900B-AFFCA684EBF5}"/>
              </a:ext>
            </a:extLst>
          </p:cNvPr>
          <p:cNvPicPr>
            <a:picLocks noChangeAspect="1" noChangeArrowheads="1"/>
          </p:cNvPicPr>
          <p:nvPr/>
        </p:nvPicPr>
        <p:blipFill rotWithShape="1">
          <a:blip r:embed="rId8" cstate="print">
            <a:extLst>
              <a:ext uri="{28A0092B-C50C-407E-A947-70E740481C1C}">
                <a14:useLocalDpi xmlns:a14="http://schemas.microsoft.com/office/drawing/2010/main"/>
              </a:ext>
            </a:extLst>
          </a:blip>
          <a:srcRect/>
          <a:stretch>
            <a:fillRect/>
          </a:stretch>
        </p:blipFill>
        <p:spPr bwMode="auto">
          <a:xfrm>
            <a:off x="7082221" y="5267359"/>
            <a:ext cx="1000922" cy="110241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983401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CC0033"/>
          </a:solidFill>
          <a:ln/>
        </p:spPr>
        <p:txBody>
          <a:bodyPr/>
          <a:lstStyle/>
          <a:p>
            <a:endParaRPr lang="en-US"/>
          </a:p>
        </p:txBody>
      </p:sp>
      <p:sp>
        <p:nvSpPr>
          <p:cNvPr id="3" name="Text 1"/>
          <p:cNvSpPr/>
          <p:nvPr/>
        </p:nvSpPr>
        <p:spPr>
          <a:xfrm>
            <a:off x="548640" y="384048"/>
            <a:ext cx="10058400" cy="274320"/>
          </a:xfrm>
          <a:prstGeom prst="rect">
            <a:avLst/>
          </a:prstGeom>
          <a:noFill/>
          <a:ln/>
        </p:spPr>
        <p:txBody>
          <a:bodyPr wrap="square" lIns="0" tIns="0" rIns="0" bIns="0" rtlCol="0" anchor="ctr"/>
          <a:lstStyle/>
          <a:p>
            <a:pPr marL="0" indent="0">
              <a:buNone/>
            </a:pPr>
            <a:r>
              <a:rPr lang="en-US" sz="1200" b="1" kern="0" spc="300" dirty="0">
                <a:solidFill>
                  <a:srgbClr val="CC0033"/>
                </a:solidFill>
                <a:latin typeface="Calibri" pitchFamily="34" charset="0"/>
                <a:ea typeface="Calibri" pitchFamily="34" charset="-122"/>
                <a:cs typeface="Calibri" pitchFamily="34" charset="-120"/>
              </a:rPr>
              <a:t>HUB ONE</a:t>
            </a:r>
            <a:endParaRPr lang="en-US" sz="1200" dirty="0"/>
          </a:p>
        </p:txBody>
      </p:sp>
      <p:sp>
        <p:nvSpPr>
          <p:cNvPr id="4" name="Text 2"/>
          <p:cNvSpPr/>
          <p:nvPr/>
        </p:nvSpPr>
        <p:spPr>
          <a:xfrm>
            <a:off x="548640" y="640080"/>
            <a:ext cx="11064240" cy="640080"/>
          </a:xfrm>
          <a:prstGeom prst="rect">
            <a:avLst/>
          </a:prstGeom>
          <a:noFill/>
          <a:ln/>
        </p:spPr>
        <p:txBody>
          <a:bodyPr wrap="square" lIns="0" tIns="0" rIns="0" bIns="0" rtlCol="0" anchor="ctr"/>
          <a:lstStyle/>
          <a:p>
            <a:pPr marL="0" indent="0">
              <a:buNone/>
            </a:pPr>
            <a:r>
              <a:rPr lang="en-US" sz="3000" b="1" dirty="0">
                <a:solidFill>
                  <a:srgbClr val="1E2329"/>
                </a:solidFill>
                <a:latin typeface="Georgia" pitchFamily="34" charset="0"/>
                <a:ea typeface="Georgia" pitchFamily="34" charset="-122"/>
                <a:cs typeface="Georgia" pitchFamily="34" charset="-120"/>
              </a:rPr>
              <a:t>Data Science Hub</a:t>
            </a:r>
            <a:endParaRPr lang="en-US" sz="3000" dirty="0"/>
          </a:p>
        </p:txBody>
      </p:sp>
      <p:sp>
        <p:nvSpPr>
          <p:cNvPr id="5" name="Text 3"/>
          <p:cNvSpPr/>
          <p:nvPr/>
        </p:nvSpPr>
        <p:spPr>
          <a:xfrm>
            <a:off x="548640" y="1508760"/>
            <a:ext cx="5486400" cy="274320"/>
          </a:xfrm>
          <a:prstGeom prst="rect">
            <a:avLst/>
          </a:prstGeom>
          <a:noFill/>
          <a:ln/>
        </p:spPr>
        <p:txBody>
          <a:bodyPr wrap="square" lIns="0" tIns="0" rIns="0" bIns="0" rtlCol="0" anchor="ctr"/>
          <a:lstStyle/>
          <a:p>
            <a:pPr marL="0" indent="0">
              <a:buNone/>
            </a:pPr>
            <a:r>
              <a:rPr lang="en-US" sz="1600" b="1" kern="0" spc="200" dirty="0">
                <a:solidFill>
                  <a:srgbClr val="CC0033"/>
                </a:solidFill>
                <a:latin typeface="Calibri" pitchFamily="34" charset="0"/>
                <a:ea typeface="Calibri" pitchFamily="34" charset="-122"/>
                <a:cs typeface="Calibri" pitchFamily="34" charset="-120"/>
              </a:rPr>
              <a:t>VISION</a:t>
            </a:r>
            <a:endParaRPr lang="en-US" sz="1600" dirty="0"/>
          </a:p>
        </p:txBody>
      </p:sp>
      <p:sp>
        <p:nvSpPr>
          <p:cNvPr id="6" name="Text 4"/>
          <p:cNvSpPr/>
          <p:nvPr/>
        </p:nvSpPr>
        <p:spPr>
          <a:xfrm>
            <a:off x="548640" y="2195576"/>
            <a:ext cx="5486400" cy="1051560"/>
          </a:xfrm>
          <a:prstGeom prst="rect">
            <a:avLst/>
          </a:prstGeom>
          <a:noFill/>
          <a:ln/>
        </p:spPr>
        <p:txBody>
          <a:bodyPr wrap="square" lIns="0" tIns="0" rIns="0" bIns="0" rtlCol="0" anchor="ctr"/>
          <a:lstStyle/>
          <a:p>
            <a:pPr marL="0" indent="0">
              <a:buNone/>
            </a:pPr>
            <a:r>
              <a:rPr lang="en-US" dirty="0">
                <a:solidFill>
                  <a:srgbClr val="1E2329"/>
                </a:solidFill>
                <a:latin typeface="Calibri" pitchFamily="34" charset="0"/>
                <a:ea typeface="Calibri" pitchFamily="34" charset="-122"/>
                <a:cs typeface="Calibri" pitchFamily="34" charset="-120"/>
              </a:rPr>
              <a:t>A complement to our analytical core facilities for projects needing long-term computational collaboration, novel analyses, and specialized scientific expertise — pairing experimental and clinical investigators with embedded data scientists.</a:t>
            </a:r>
            <a:endParaRPr lang="en-US" dirty="0"/>
          </a:p>
        </p:txBody>
      </p:sp>
      <p:sp>
        <p:nvSpPr>
          <p:cNvPr id="7" name="Text 5"/>
          <p:cNvSpPr/>
          <p:nvPr/>
        </p:nvSpPr>
        <p:spPr>
          <a:xfrm>
            <a:off x="548640" y="3785616"/>
            <a:ext cx="5486400" cy="274320"/>
          </a:xfrm>
          <a:prstGeom prst="rect">
            <a:avLst/>
          </a:prstGeom>
          <a:noFill/>
          <a:ln/>
        </p:spPr>
        <p:txBody>
          <a:bodyPr wrap="square" lIns="0" tIns="0" rIns="0" bIns="0" rtlCol="0" anchor="ctr"/>
          <a:lstStyle/>
          <a:p>
            <a:pPr marL="0" indent="0">
              <a:buNone/>
            </a:pPr>
            <a:r>
              <a:rPr lang="en-US" sz="1600" b="1" kern="0" spc="200" dirty="0">
                <a:solidFill>
                  <a:srgbClr val="CC0033"/>
                </a:solidFill>
                <a:latin typeface="Calibri" pitchFamily="34" charset="0"/>
                <a:ea typeface="Calibri" pitchFamily="34" charset="-122"/>
                <a:cs typeface="Calibri" pitchFamily="34" charset="-120"/>
              </a:rPr>
              <a:t>STRUCTURE</a:t>
            </a:r>
            <a:endParaRPr lang="en-US" sz="1600" dirty="0"/>
          </a:p>
        </p:txBody>
      </p:sp>
      <p:sp>
        <p:nvSpPr>
          <p:cNvPr id="8" name="Text 6"/>
          <p:cNvSpPr/>
          <p:nvPr/>
        </p:nvSpPr>
        <p:spPr>
          <a:xfrm>
            <a:off x="548640" y="4370832"/>
            <a:ext cx="5486400" cy="1554480"/>
          </a:xfrm>
          <a:prstGeom prst="rect">
            <a:avLst/>
          </a:prstGeom>
          <a:noFill/>
          <a:ln/>
        </p:spPr>
        <p:txBody>
          <a:bodyPr wrap="square" lIns="0" tIns="0" rIns="0" bIns="0" rtlCol="0" anchor="ctr"/>
          <a:lstStyle/>
          <a:p>
            <a:pPr marL="342900" indent="-342900">
              <a:spcAft>
                <a:spcPts val="800"/>
              </a:spcAft>
              <a:buSzPct val="100000"/>
              <a:buChar char="•"/>
            </a:pPr>
            <a:r>
              <a:rPr lang="en-US" dirty="0">
                <a:solidFill>
                  <a:srgbClr val="1E2329"/>
                </a:solidFill>
                <a:latin typeface="Calibri" pitchFamily="34" charset="0"/>
                <a:ea typeface="Calibri" pitchFamily="34" charset="-122"/>
                <a:cs typeface="Calibri" pitchFamily="34" charset="-120"/>
              </a:rPr>
              <a:t>Rutgers computational faculty + dedicated Hub research scientists</a:t>
            </a:r>
            <a:endParaRPr lang="en-US" dirty="0"/>
          </a:p>
          <a:p>
            <a:pPr marL="342900" indent="-342900">
              <a:spcAft>
                <a:spcPts val="800"/>
              </a:spcAft>
              <a:buSzPct val="100000"/>
              <a:buChar char="•"/>
            </a:pPr>
            <a:r>
              <a:rPr lang="en-US" dirty="0">
                <a:solidFill>
                  <a:srgbClr val="1E2329"/>
                </a:solidFill>
                <a:latin typeface="Calibri" pitchFamily="34" charset="0"/>
                <a:ea typeface="Calibri" pitchFamily="34" charset="-122"/>
                <a:cs typeface="Calibri" pitchFamily="34" charset="-120"/>
              </a:rPr>
              <a:t>Engaged on a %-effort basis as full collaborators on your team</a:t>
            </a:r>
            <a:endParaRPr lang="en-US" dirty="0"/>
          </a:p>
          <a:p>
            <a:pPr marL="342900" indent="-342900">
              <a:spcAft>
                <a:spcPts val="800"/>
              </a:spcAft>
              <a:buSzPct val="100000"/>
              <a:buChar char="•"/>
            </a:pPr>
            <a:r>
              <a:rPr lang="en-US" dirty="0">
                <a:solidFill>
                  <a:srgbClr val="1E2329"/>
                </a:solidFill>
                <a:latin typeface="Calibri" pitchFamily="34" charset="0"/>
                <a:ea typeface="Calibri" pitchFamily="34" charset="-122"/>
                <a:cs typeface="Calibri" pitchFamily="34" charset="-120"/>
              </a:rPr>
              <a:t>Membership and skills grow continuously with new investigators</a:t>
            </a:r>
            <a:endParaRPr lang="en-US" dirty="0"/>
          </a:p>
        </p:txBody>
      </p:sp>
      <p:sp>
        <p:nvSpPr>
          <p:cNvPr id="9" name="Shape 7"/>
          <p:cNvSpPr/>
          <p:nvPr/>
        </p:nvSpPr>
        <p:spPr>
          <a:xfrm>
            <a:off x="6400800" y="1948599"/>
            <a:ext cx="5239512" cy="4754880"/>
          </a:xfrm>
          <a:prstGeom prst="rect">
            <a:avLst/>
          </a:prstGeom>
          <a:solidFill>
            <a:srgbClr val="FFFFFF"/>
          </a:solidFill>
          <a:ln w="12700">
            <a:solidFill>
              <a:srgbClr val="E3DDD8"/>
            </a:solidFill>
            <a:prstDash val="solid"/>
          </a:ln>
          <a:effectLst>
            <a:outerShdw blurRad="88900" dist="38100" dir="8100000" algn="bl" rotWithShape="0">
              <a:srgbClr val="000000">
                <a:alpha val="12000"/>
              </a:srgbClr>
            </a:outerShdw>
          </a:effectLst>
        </p:spPr>
        <p:txBody>
          <a:bodyPr/>
          <a:lstStyle/>
          <a:p>
            <a:endParaRPr lang="en-US"/>
          </a:p>
        </p:txBody>
      </p:sp>
      <p:sp>
        <p:nvSpPr>
          <p:cNvPr id="10" name="Shape 8"/>
          <p:cNvSpPr/>
          <p:nvPr/>
        </p:nvSpPr>
        <p:spPr>
          <a:xfrm>
            <a:off x="6400800" y="1948599"/>
            <a:ext cx="5239512" cy="548640"/>
          </a:xfrm>
          <a:prstGeom prst="rect">
            <a:avLst/>
          </a:prstGeom>
          <a:solidFill>
            <a:srgbClr val="CC0033"/>
          </a:solidFill>
          <a:ln/>
        </p:spPr>
        <p:txBody>
          <a:bodyPr/>
          <a:lstStyle/>
          <a:p>
            <a:endParaRPr lang="en-US"/>
          </a:p>
        </p:txBody>
      </p:sp>
      <p:sp>
        <p:nvSpPr>
          <p:cNvPr id="11" name="Text 9"/>
          <p:cNvSpPr/>
          <p:nvPr/>
        </p:nvSpPr>
        <p:spPr>
          <a:xfrm>
            <a:off x="6675120" y="1948599"/>
            <a:ext cx="4690872" cy="548640"/>
          </a:xfrm>
          <a:prstGeom prst="rect">
            <a:avLst/>
          </a:prstGeom>
          <a:noFill/>
          <a:ln/>
        </p:spPr>
        <p:txBody>
          <a:bodyPr wrap="square" lIns="0" tIns="0" rIns="0" bIns="0" rtlCol="0" anchor="ctr"/>
          <a:lstStyle/>
          <a:p>
            <a:pPr marL="0" indent="0">
              <a:buNone/>
            </a:pPr>
            <a:r>
              <a:rPr lang="en-US" sz="1400" b="1" kern="0" spc="200" dirty="0">
                <a:solidFill>
                  <a:srgbClr val="FFFFFF"/>
                </a:solidFill>
                <a:latin typeface="Calibri" pitchFamily="34" charset="0"/>
                <a:ea typeface="Calibri" pitchFamily="34" charset="-122"/>
                <a:cs typeface="Calibri" pitchFamily="34" charset="-120"/>
              </a:rPr>
              <a:t>CURRENT HUB EXPERTISE</a:t>
            </a:r>
            <a:endParaRPr lang="en-US" sz="1400" dirty="0"/>
          </a:p>
        </p:txBody>
      </p:sp>
      <p:sp>
        <p:nvSpPr>
          <p:cNvPr id="12" name="Shape 10"/>
          <p:cNvSpPr/>
          <p:nvPr/>
        </p:nvSpPr>
        <p:spPr>
          <a:xfrm>
            <a:off x="6675120" y="2725839"/>
            <a:ext cx="2253996" cy="457200"/>
          </a:xfrm>
          <a:prstGeom prst="roundRect">
            <a:avLst>
              <a:gd name="adj" fmla="val 12000"/>
            </a:avLst>
          </a:prstGeom>
          <a:solidFill>
            <a:srgbClr val="FBEEF1"/>
          </a:solidFill>
          <a:ln w="12700">
            <a:solidFill>
              <a:srgbClr val="F0CAD3"/>
            </a:solidFill>
            <a:prstDash val="solid"/>
          </a:ln>
        </p:spPr>
        <p:txBody>
          <a:bodyPr/>
          <a:lstStyle/>
          <a:p>
            <a:endParaRPr lang="en-US"/>
          </a:p>
        </p:txBody>
      </p:sp>
      <p:sp>
        <p:nvSpPr>
          <p:cNvPr id="13" name="Text 11"/>
          <p:cNvSpPr/>
          <p:nvPr/>
        </p:nvSpPr>
        <p:spPr>
          <a:xfrm>
            <a:off x="6784848" y="2725839"/>
            <a:ext cx="2052828" cy="457200"/>
          </a:xfrm>
          <a:prstGeom prst="rect">
            <a:avLst/>
          </a:prstGeom>
          <a:noFill/>
          <a:ln/>
        </p:spPr>
        <p:txBody>
          <a:bodyPr wrap="square" lIns="0" tIns="0" rIns="0" bIns="0" rtlCol="0" anchor="ctr"/>
          <a:lstStyle/>
          <a:p>
            <a:pPr marL="0" indent="0">
              <a:buNone/>
            </a:pPr>
            <a:r>
              <a:rPr lang="en-US" sz="1200" b="1" dirty="0">
                <a:solidFill>
                  <a:srgbClr val="8A0022"/>
                </a:solidFill>
                <a:latin typeface="Calibri" pitchFamily="34" charset="0"/>
                <a:ea typeface="Calibri" pitchFamily="34" charset="-122"/>
                <a:cs typeface="Calibri" pitchFamily="34" charset="-120"/>
              </a:rPr>
              <a:t>AI / Machine Learning</a:t>
            </a:r>
            <a:endParaRPr lang="en-US" sz="1200" dirty="0"/>
          </a:p>
        </p:txBody>
      </p:sp>
      <p:sp>
        <p:nvSpPr>
          <p:cNvPr id="14" name="Shape 12"/>
          <p:cNvSpPr/>
          <p:nvPr/>
        </p:nvSpPr>
        <p:spPr>
          <a:xfrm>
            <a:off x="9111996" y="2725839"/>
            <a:ext cx="2253996" cy="457200"/>
          </a:xfrm>
          <a:prstGeom prst="roundRect">
            <a:avLst>
              <a:gd name="adj" fmla="val 12000"/>
            </a:avLst>
          </a:prstGeom>
          <a:solidFill>
            <a:srgbClr val="FBEEF1"/>
          </a:solidFill>
          <a:ln w="12700">
            <a:solidFill>
              <a:srgbClr val="F0CAD3"/>
            </a:solidFill>
            <a:prstDash val="solid"/>
          </a:ln>
        </p:spPr>
        <p:txBody>
          <a:bodyPr/>
          <a:lstStyle/>
          <a:p>
            <a:endParaRPr lang="en-US"/>
          </a:p>
        </p:txBody>
      </p:sp>
      <p:sp>
        <p:nvSpPr>
          <p:cNvPr id="15" name="Text 13"/>
          <p:cNvSpPr/>
          <p:nvPr/>
        </p:nvSpPr>
        <p:spPr>
          <a:xfrm>
            <a:off x="9221724" y="2725839"/>
            <a:ext cx="2052828" cy="457200"/>
          </a:xfrm>
          <a:prstGeom prst="rect">
            <a:avLst/>
          </a:prstGeom>
          <a:noFill/>
          <a:ln/>
        </p:spPr>
        <p:txBody>
          <a:bodyPr wrap="square" lIns="0" tIns="0" rIns="0" bIns="0" rtlCol="0" anchor="ctr"/>
          <a:lstStyle/>
          <a:p>
            <a:pPr marL="0" indent="0">
              <a:buNone/>
            </a:pPr>
            <a:r>
              <a:rPr lang="en-US" sz="1200" b="1" dirty="0">
                <a:solidFill>
                  <a:srgbClr val="8A0022"/>
                </a:solidFill>
                <a:latin typeface="Calibri" pitchFamily="34" charset="0"/>
                <a:ea typeface="Calibri" pitchFamily="34" charset="-122"/>
                <a:cs typeface="Calibri" pitchFamily="34" charset="-120"/>
              </a:rPr>
              <a:t>Bioinformatics</a:t>
            </a:r>
            <a:endParaRPr lang="en-US" sz="1200" dirty="0"/>
          </a:p>
        </p:txBody>
      </p:sp>
      <p:sp>
        <p:nvSpPr>
          <p:cNvPr id="16" name="Shape 14"/>
          <p:cNvSpPr/>
          <p:nvPr/>
        </p:nvSpPr>
        <p:spPr>
          <a:xfrm>
            <a:off x="6675120" y="3247047"/>
            <a:ext cx="2253996" cy="457200"/>
          </a:xfrm>
          <a:prstGeom prst="roundRect">
            <a:avLst>
              <a:gd name="adj" fmla="val 12000"/>
            </a:avLst>
          </a:prstGeom>
          <a:solidFill>
            <a:srgbClr val="FBEEF1"/>
          </a:solidFill>
          <a:ln w="12700">
            <a:solidFill>
              <a:srgbClr val="F0CAD3"/>
            </a:solidFill>
            <a:prstDash val="solid"/>
          </a:ln>
        </p:spPr>
        <p:txBody>
          <a:bodyPr/>
          <a:lstStyle/>
          <a:p>
            <a:endParaRPr lang="en-US"/>
          </a:p>
        </p:txBody>
      </p:sp>
      <p:sp>
        <p:nvSpPr>
          <p:cNvPr id="17" name="Text 15"/>
          <p:cNvSpPr/>
          <p:nvPr/>
        </p:nvSpPr>
        <p:spPr>
          <a:xfrm>
            <a:off x="6784848" y="3247047"/>
            <a:ext cx="2052828" cy="457200"/>
          </a:xfrm>
          <a:prstGeom prst="rect">
            <a:avLst/>
          </a:prstGeom>
          <a:noFill/>
          <a:ln/>
        </p:spPr>
        <p:txBody>
          <a:bodyPr wrap="square" lIns="0" tIns="0" rIns="0" bIns="0" rtlCol="0" anchor="ctr"/>
          <a:lstStyle/>
          <a:p>
            <a:pPr marL="0" indent="0">
              <a:buNone/>
            </a:pPr>
            <a:r>
              <a:rPr lang="en-US" sz="1200" b="1" dirty="0">
                <a:solidFill>
                  <a:srgbClr val="8A0022"/>
                </a:solidFill>
                <a:latin typeface="Calibri" pitchFamily="34" charset="0"/>
                <a:ea typeface="Calibri" pitchFamily="34" charset="-122"/>
                <a:cs typeface="Calibri" pitchFamily="34" charset="-120"/>
              </a:rPr>
              <a:t>Statistics</a:t>
            </a:r>
            <a:endParaRPr lang="en-US" sz="1200" dirty="0"/>
          </a:p>
        </p:txBody>
      </p:sp>
      <p:sp>
        <p:nvSpPr>
          <p:cNvPr id="18" name="Shape 16"/>
          <p:cNvSpPr/>
          <p:nvPr/>
        </p:nvSpPr>
        <p:spPr>
          <a:xfrm>
            <a:off x="9111996" y="3247047"/>
            <a:ext cx="2253996" cy="457200"/>
          </a:xfrm>
          <a:prstGeom prst="roundRect">
            <a:avLst>
              <a:gd name="adj" fmla="val 12000"/>
            </a:avLst>
          </a:prstGeom>
          <a:solidFill>
            <a:srgbClr val="FBEEF1"/>
          </a:solidFill>
          <a:ln w="12700">
            <a:solidFill>
              <a:srgbClr val="F0CAD3"/>
            </a:solidFill>
            <a:prstDash val="solid"/>
          </a:ln>
        </p:spPr>
        <p:txBody>
          <a:bodyPr/>
          <a:lstStyle/>
          <a:p>
            <a:endParaRPr lang="en-US"/>
          </a:p>
        </p:txBody>
      </p:sp>
      <p:sp>
        <p:nvSpPr>
          <p:cNvPr id="19" name="Text 17"/>
          <p:cNvSpPr/>
          <p:nvPr/>
        </p:nvSpPr>
        <p:spPr>
          <a:xfrm>
            <a:off x="9221724" y="3247047"/>
            <a:ext cx="2052828" cy="457200"/>
          </a:xfrm>
          <a:prstGeom prst="rect">
            <a:avLst/>
          </a:prstGeom>
          <a:noFill/>
          <a:ln/>
        </p:spPr>
        <p:txBody>
          <a:bodyPr wrap="square" lIns="0" tIns="0" rIns="0" bIns="0" rtlCol="0" anchor="ctr"/>
          <a:lstStyle/>
          <a:p>
            <a:pPr marL="0" indent="0">
              <a:buNone/>
            </a:pPr>
            <a:r>
              <a:rPr lang="en-US" sz="1200" b="1" dirty="0">
                <a:solidFill>
                  <a:srgbClr val="8A0022"/>
                </a:solidFill>
                <a:latin typeface="Calibri" pitchFamily="34" charset="0"/>
                <a:ea typeface="Calibri" pitchFamily="34" charset="-122"/>
                <a:cs typeface="Calibri" pitchFamily="34" charset="-120"/>
              </a:rPr>
              <a:t>RNA-seq / scRNA-seq</a:t>
            </a:r>
            <a:endParaRPr lang="en-US" sz="1200" dirty="0"/>
          </a:p>
        </p:txBody>
      </p:sp>
      <p:sp>
        <p:nvSpPr>
          <p:cNvPr id="20" name="Shape 18"/>
          <p:cNvSpPr/>
          <p:nvPr/>
        </p:nvSpPr>
        <p:spPr>
          <a:xfrm>
            <a:off x="6675120" y="3768255"/>
            <a:ext cx="2253996" cy="457200"/>
          </a:xfrm>
          <a:prstGeom prst="roundRect">
            <a:avLst>
              <a:gd name="adj" fmla="val 12000"/>
            </a:avLst>
          </a:prstGeom>
          <a:solidFill>
            <a:srgbClr val="FBEEF1"/>
          </a:solidFill>
          <a:ln w="12700">
            <a:solidFill>
              <a:srgbClr val="F0CAD3"/>
            </a:solidFill>
            <a:prstDash val="solid"/>
          </a:ln>
        </p:spPr>
        <p:txBody>
          <a:bodyPr/>
          <a:lstStyle/>
          <a:p>
            <a:endParaRPr lang="en-US"/>
          </a:p>
        </p:txBody>
      </p:sp>
      <p:sp>
        <p:nvSpPr>
          <p:cNvPr id="21" name="Text 19"/>
          <p:cNvSpPr/>
          <p:nvPr/>
        </p:nvSpPr>
        <p:spPr>
          <a:xfrm>
            <a:off x="6784848" y="3768255"/>
            <a:ext cx="2052828" cy="457200"/>
          </a:xfrm>
          <a:prstGeom prst="rect">
            <a:avLst/>
          </a:prstGeom>
          <a:noFill/>
          <a:ln/>
        </p:spPr>
        <p:txBody>
          <a:bodyPr wrap="square" lIns="0" tIns="0" rIns="0" bIns="0" rtlCol="0" anchor="ctr"/>
          <a:lstStyle/>
          <a:p>
            <a:pPr marL="0" indent="0">
              <a:buNone/>
            </a:pPr>
            <a:r>
              <a:rPr lang="en-US" sz="1200" b="1" dirty="0">
                <a:solidFill>
                  <a:srgbClr val="8A0022"/>
                </a:solidFill>
                <a:latin typeface="Calibri" pitchFamily="34" charset="0"/>
                <a:ea typeface="Calibri" pitchFamily="34" charset="-122"/>
                <a:cs typeface="Calibri" pitchFamily="34" charset="-120"/>
              </a:rPr>
              <a:t>Human &amp; microbial genetics</a:t>
            </a:r>
            <a:endParaRPr lang="en-US" sz="1200" dirty="0"/>
          </a:p>
        </p:txBody>
      </p:sp>
      <p:sp>
        <p:nvSpPr>
          <p:cNvPr id="22" name="Shape 20"/>
          <p:cNvSpPr/>
          <p:nvPr/>
        </p:nvSpPr>
        <p:spPr>
          <a:xfrm>
            <a:off x="9111996" y="3768255"/>
            <a:ext cx="2253996" cy="457200"/>
          </a:xfrm>
          <a:prstGeom prst="roundRect">
            <a:avLst>
              <a:gd name="adj" fmla="val 12000"/>
            </a:avLst>
          </a:prstGeom>
          <a:solidFill>
            <a:srgbClr val="FBEEF1"/>
          </a:solidFill>
          <a:ln w="12700">
            <a:solidFill>
              <a:srgbClr val="F0CAD3"/>
            </a:solidFill>
            <a:prstDash val="solid"/>
          </a:ln>
        </p:spPr>
        <p:txBody>
          <a:bodyPr/>
          <a:lstStyle/>
          <a:p>
            <a:endParaRPr lang="en-US"/>
          </a:p>
        </p:txBody>
      </p:sp>
      <p:sp>
        <p:nvSpPr>
          <p:cNvPr id="23" name="Text 21"/>
          <p:cNvSpPr/>
          <p:nvPr/>
        </p:nvSpPr>
        <p:spPr>
          <a:xfrm>
            <a:off x="9221724" y="3768255"/>
            <a:ext cx="2052828" cy="457200"/>
          </a:xfrm>
          <a:prstGeom prst="rect">
            <a:avLst/>
          </a:prstGeom>
          <a:noFill/>
          <a:ln/>
        </p:spPr>
        <p:txBody>
          <a:bodyPr wrap="square" lIns="0" tIns="0" rIns="0" bIns="0" rtlCol="0" anchor="ctr"/>
          <a:lstStyle/>
          <a:p>
            <a:pPr marL="0" indent="0">
              <a:buNone/>
            </a:pPr>
            <a:r>
              <a:rPr lang="en-US" sz="1200" b="1" dirty="0">
                <a:solidFill>
                  <a:srgbClr val="8A0022"/>
                </a:solidFill>
                <a:latin typeface="Calibri" pitchFamily="34" charset="0"/>
                <a:ea typeface="Calibri" pitchFamily="34" charset="-122"/>
                <a:cs typeface="Calibri" pitchFamily="34" charset="-120"/>
              </a:rPr>
              <a:t>R Shiny development</a:t>
            </a:r>
            <a:endParaRPr lang="en-US" sz="1200" dirty="0"/>
          </a:p>
        </p:txBody>
      </p:sp>
      <p:sp>
        <p:nvSpPr>
          <p:cNvPr id="24" name="Shape 22"/>
          <p:cNvSpPr/>
          <p:nvPr/>
        </p:nvSpPr>
        <p:spPr>
          <a:xfrm>
            <a:off x="6675120" y="4289463"/>
            <a:ext cx="2253996" cy="457200"/>
          </a:xfrm>
          <a:prstGeom prst="roundRect">
            <a:avLst>
              <a:gd name="adj" fmla="val 12000"/>
            </a:avLst>
          </a:prstGeom>
          <a:solidFill>
            <a:srgbClr val="FBEEF1"/>
          </a:solidFill>
          <a:ln w="12700">
            <a:solidFill>
              <a:srgbClr val="F0CAD3"/>
            </a:solidFill>
            <a:prstDash val="solid"/>
          </a:ln>
        </p:spPr>
        <p:txBody>
          <a:bodyPr/>
          <a:lstStyle/>
          <a:p>
            <a:endParaRPr lang="en-US"/>
          </a:p>
        </p:txBody>
      </p:sp>
      <p:sp>
        <p:nvSpPr>
          <p:cNvPr id="25" name="Text 23"/>
          <p:cNvSpPr/>
          <p:nvPr/>
        </p:nvSpPr>
        <p:spPr>
          <a:xfrm>
            <a:off x="6784848" y="4289463"/>
            <a:ext cx="2052828" cy="457200"/>
          </a:xfrm>
          <a:prstGeom prst="rect">
            <a:avLst/>
          </a:prstGeom>
          <a:noFill/>
          <a:ln/>
        </p:spPr>
        <p:txBody>
          <a:bodyPr wrap="square" lIns="0" tIns="0" rIns="0" bIns="0" rtlCol="0" anchor="ctr"/>
          <a:lstStyle/>
          <a:p>
            <a:pPr marL="0" indent="0">
              <a:buNone/>
            </a:pPr>
            <a:r>
              <a:rPr lang="en-US" sz="1200" b="1" dirty="0">
                <a:solidFill>
                  <a:srgbClr val="8A0022"/>
                </a:solidFill>
                <a:latin typeface="Calibri" pitchFamily="34" charset="0"/>
                <a:ea typeface="Calibri" pitchFamily="34" charset="-122"/>
                <a:cs typeface="Calibri" pitchFamily="34" charset="-120"/>
              </a:rPr>
              <a:t>Batch-effect correction</a:t>
            </a:r>
            <a:endParaRPr lang="en-US" sz="1200" dirty="0"/>
          </a:p>
        </p:txBody>
      </p:sp>
      <p:sp>
        <p:nvSpPr>
          <p:cNvPr id="26" name="Shape 24"/>
          <p:cNvSpPr/>
          <p:nvPr/>
        </p:nvSpPr>
        <p:spPr>
          <a:xfrm>
            <a:off x="9111996" y="4289463"/>
            <a:ext cx="2253996" cy="457200"/>
          </a:xfrm>
          <a:prstGeom prst="roundRect">
            <a:avLst>
              <a:gd name="adj" fmla="val 12000"/>
            </a:avLst>
          </a:prstGeom>
          <a:solidFill>
            <a:srgbClr val="FBEEF1"/>
          </a:solidFill>
          <a:ln w="12700">
            <a:solidFill>
              <a:srgbClr val="F0CAD3"/>
            </a:solidFill>
            <a:prstDash val="solid"/>
          </a:ln>
        </p:spPr>
        <p:txBody>
          <a:bodyPr/>
          <a:lstStyle/>
          <a:p>
            <a:endParaRPr lang="en-US"/>
          </a:p>
        </p:txBody>
      </p:sp>
      <p:sp>
        <p:nvSpPr>
          <p:cNvPr id="27" name="Text 25"/>
          <p:cNvSpPr/>
          <p:nvPr/>
        </p:nvSpPr>
        <p:spPr>
          <a:xfrm>
            <a:off x="9221724" y="4289463"/>
            <a:ext cx="2052828" cy="457200"/>
          </a:xfrm>
          <a:prstGeom prst="rect">
            <a:avLst/>
          </a:prstGeom>
          <a:noFill/>
          <a:ln/>
        </p:spPr>
        <p:txBody>
          <a:bodyPr wrap="square" lIns="0" tIns="0" rIns="0" bIns="0" rtlCol="0" anchor="ctr"/>
          <a:lstStyle/>
          <a:p>
            <a:pPr marL="0" indent="0">
              <a:buNone/>
            </a:pPr>
            <a:r>
              <a:rPr lang="en-US" sz="1200" b="1" dirty="0">
                <a:solidFill>
                  <a:srgbClr val="8A0022"/>
                </a:solidFill>
                <a:latin typeface="Calibri" pitchFamily="34" charset="0"/>
                <a:ea typeface="Calibri" pitchFamily="34" charset="-122"/>
                <a:cs typeface="Calibri" pitchFamily="34" charset="-120"/>
              </a:rPr>
              <a:t>Metagenomics</a:t>
            </a:r>
            <a:endParaRPr lang="en-US" sz="1200" dirty="0"/>
          </a:p>
        </p:txBody>
      </p:sp>
      <p:sp>
        <p:nvSpPr>
          <p:cNvPr id="28" name="Shape 26"/>
          <p:cNvSpPr/>
          <p:nvPr/>
        </p:nvSpPr>
        <p:spPr>
          <a:xfrm>
            <a:off x="6675120" y="4810671"/>
            <a:ext cx="2253996" cy="457200"/>
          </a:xfrm>
          <a:prstGeom prst="roundRect">
            <a:avLst>
              <a:gd name="adj" fmla="val 12000"/>
            </a:avLst>
          </a:prstGeom>
          <a:solidFill>
            <a:srgbClr val="FBEEF1"/>
          </a:solidFill>
          <a:ln w="12700">
            <a:solidFill>
              <a:srgbClr val="F0CAD3"/>
            </a:solidFill>
            <a:prstDash val="solid"/>
          </a:ln>
        </p:spPr>
        <p:txBody>
          <a:bodyPr/>
          <a:lstStyle/>
          <a:p>
            <a:endParaRPr lang="en-US"/>
          </a:p>
        </p:txBody>
      </p:sp>
      <p:sp>
        <p:nvSpPr>
          <p:cNvPr id="29" name="Text 27"/>
          <p:cNvSpPr/>
          <p:nvPr/>
        </p:nvSpPr>
        <p:spPr>
          <a:xfrm>
            <a:off x="6784848" y="4810671"/>
            <a:ext cx="2052828" cy="457200"/>
          </a:xfrm>
          <a:prstGeom prst="rect">
            <a:avLst/>
          </a:prstGeom>
          <a:noFill/>
          <a:ln/>
        </p:spPr>
        <p:txBody>
          <a:bodyPr wrap="square" lIns="0" tIns="0" rIns="0" bIns="0" rtlCol="0" anchor="ctr"/>
          <a:lstStyle/>
          <a:p>
            <a:pPr marL="0" indent="0">
              <a:buNone/>
            </a:pPr>
            <a:r>
              <a:rPr lang="en-US" sz="1200" b="1" dirty="0">
                <a:solidFill>
                  <a:srgbClr val="8A0022"/>
                </a:solidFill>
                <a:latin typeface="Calibri" pitchFamily="34" charset="0"/>
                <a:ea typeface="Calibri" pitchFamily="34" charset="-122"/>
                <a:cs typeface="Calibri" pitchFamily="34" charset="-120"/>
              </a:rPr>
              <a:t>Immunology</a:t>
            </a:r>
            <a:endParaRPr lang="en-US" sz="1200" dirty="0"/>
          </a:p>
        </p:txBody>
      </p:sp>
      <p:sp>
        <p:nvSpPr>
          <p:cNvPr id="30" name="Shape 28"/>
          <p:cNvSpPr/>
          <p:nvPr/>
        </p:nvSpPr>
        <p:spPr>
          <a:xfrm>
            <a:off x="9111996" y="4810671"/>
            <a:ext cx="2253996" cy="457200"/>
          </a:xfrm>
          <a:prstGeom prst="roundRect">
            <a:avLst>
              <a:gd name="adj" fmla="val 12000"/>
            </a:avLst>
          </a:prstGeom>
          <a:solidFill>
            <a:srgbClr val="FBEEF1"/>
          </a:solidFill>
          <a:ln w="12700">
            <a:solidFill>
              <a:srgbClr val="F0CAD3"/>
            </a:solidFill>
            <a:prstDash val="solid"/>
          </a:ln>
        </p:spPr>
        <p:txBody>
          <a:bodyPr/>
          <a:lstStyle/>
          <a:p>
            <a:endParaRPr lang="en-US"/>
          </a:p>
        </p:txBody>
      </p:sp>
      <p:sp>
        <p:nvSpPr>
          <p:cNvPr id="31" name="Text 29"/>
          <p:cNvSpPr/>
          <p:nvPr/>
        </p:nvSpPr>
        <p:spPr>
          <a:xfrm>
            <a:off x="9221724" y="4810671"/>
            <a:ext cx="2052828" cy="457200"/>
          </a:xfrm>
          <a:prstGeom prst="rect">
            <a:avLst/>
          </a:prstGeom>
          <a:noFill/>
          <a:ln/>
        </p:spPr>
        <p:txBody>
          <a:bodyPr wrap="square" lIns="0" tIns="0" rIns="0" bIns="0" rtlCol="0" anchor="ctr"/>
          <a:lstStyle/>
          <a:p>
            <a:pPr marL="0" indent="0">
              <a:buNone/>
            </a:pPr>
            <a:r>
              <a:rPr lang="en-US" sz="1200" b="1" dirty="0">
                <a:solidFill>
                  <a:srgbClr val="8A0022"/>
                </a:solidFill>
                <a:latin typeface="Calibri" pitchFamily="34" charset="0"/>
                <a:ea typeface="Calibri" pitchFamily="34" charset="-122"/>
                <a:cs typeface="Calibri" pitchFamily="34" charset="-120"/>
              </a:rPr>
              <a:t>Infectious disease (HIV/TB)</a:t>
            </a:r>
            <a:endParaRPr lang="en-US" sz="1200" dirty="0"/>
          </a:p>
        </p:txBody>
      </p:sp>
      <p:sp>
        <p:nvSpPr>
          <p:cNvPr id="32" name="Shape 30"/>
          <p:cNvSpPr/>
          <p:nvPr/>
        </p:nvSpPr>
        <p:spPr>
          <a:xfrm>
            <a:off x="6675120" y="5331879"/>
            <a:ext cx="2253996" cy="457200"/>
          </a:xfrm>
          <a:prstGeom prst="roundRect">
            <a:avLst>
              <a:gd name="adj" fmla="val 12000"/>
            </a:avLst>
          </a:prstGeom>
          <a:solidFill>
            <a:srgbClr val="FBEEF1"/>
          </a:solidFill>
          <a:ln w="12700">
            <a:solidFill>
              <a:srgbClr val="F0CAD3"/>
            </a:solidFill>
            <a:prstDash val="solid"/>
          </a:ln>
        </p:spPr>
        <p:txBody>
          <a:bodyPr/>
          <a:lstStyle/>
          <a:p>
            <a:endParaRPr lang="en-US"/>
          </a:p>
        </p:txBody>
      </p:sp>
      <p:sp>
        <p:nvSpPr>
          <p:cNvPr id="33" name="Text 31"/>
          <p:cNvSpPr/>
          <p:nvPr/>
        </p:nvSpPr>
        <p:spPr>
          <a:xfrm>
            <a:off x="6784848" y="5331879"/>
            <a:ext cx="2052828" cy="457200"/>
          </a:xfrm>
          <a:prstGeom prst="rect">
            <a:avLst/>
          </a:prstGeom>
          <a:noFill/>
          <a:ln/>
        </p:spPr>
        <p:txBody>
          <a:bodyPr wrap="square" lIns="0" tIns="0" rIns="0" bIns="0" rtlCol="0" anchor="ctr"/>
          <a:lstStyle/>
          <a:p>
            <a:pPr marL="0" indent="0">
              <a:buNone/>
            </a:pPr>
            <a:r>
              <a:rPr lang="en-US" sz="1200" b="1" dirty="0">
                <a:solidFill>
                  <a:srgbClr val="8A0022"/>
                </a:solidFill>
                <a:latin typeface="Calibri" pitchFamily="34" charset="0"/>
                <a:ea typeface="Calibri" pitchFamily="34" charset="-122"/>
                <a:cs typeface="Calibri" pitchFamily="34" charset="-120"/>
              </a:rPr>
              <a:t>Cancer genomics</a:t>
            </a:r>
            <a:endParaRPr lang="en-US" sz="1200" dirty="0"/>
          </a:p>
        </p:txBody>
      </p:sp>
      <p:sp>
        <p:nvSpPr>
          <p:cNvPr id="34" name="Shape 32"/>
          <p:cNvSpPr/>
          <p:nvPr/>
        </p:nvSpPr>
        <p:spPr>
          <a:xfrm>
            <a:off x="9111996" y="5331879"/>
            <a:ext cx="2253996" cy="457200"/>
          </a:xfrm>
          <a:prstGeom prst="roundRect">
            <a:avLst>
              <a:gd name="adj" fmla="val 12000"/>
            </a:avLst>
          </a:prstGeom>
          <a:solidFill>
            <a:srgbClr val="FBEEF1"/>
          </a:solidFill>
          <a:ln w="12700">
            <a:solidFill>
              <a:srgbClr val="F0CAD3"/>
            </a:solidFill>
            <a:prstDash val="solid"/>
          </a:ln>
        </p:spPr>
        <p:txBody>
          <a:bodyPr/>
          <a:lstStyle/>
          <a:p>
            <a:endParaRPr lang="en-US"/>
          </a:p>
        </p:txBody>
      </p:sp>
      <p:sp>
        <p:nvSpPr>
          <p:cNvPr id="35" name="Text 33"/>
          <p:cNvSpPr/>
          <p:nvPr/>
        </p:nvSpPr>
        <p:spPr>
          <a:xfrm>
            <a:off x="9221724" y="5331879"/>
            <a:ext cx="2052828" cy="457200"/>
          </a:xfrm>
          <a:prstGeom prst="rect">
            <a:avLst/>
          </a:prstGeom>
          <a:noFill/>
          <a:ln/>
        </p:spPr>
        <p:txBody>
          <a:bodyPr wrap="square" lIns="0" tIns="0" rIns="0" bIns="0" rtlCol="0" anchor="ctr"/>
          <a:lstStyle/>
          <a:p>
            <a:pPr marL="0" indent="0">
              <a:buNone/>
            </a:pPr>
            <a:r>
              <a:rPr lang="en-US" sz="1200" b="1" dirty="0">
                <a:solidFill>
                  <a:srgbClr val="8A0022"/>
                </a:solidFill>
                <a:latin typeface="Calibri" pitchFamily="34" charset="0"/>
                <a:ea typeface="Calibri" pitchFamily="34" charset="-122"/>
                <a:cs typeface="Calibri" pitchFamily="34" charset="-120"/>
              </a:rPr>
              <a:t>Cardiovascular &amp; addiction</a:t>
            </a:r>
            <a:endParaRPr lang="en-US" sz="1200" dirty="0"/>
          </a:p>
        </p:txBody>
      </p:sp>
      <p:sp>
        <p:nvSpPr>
          <p:cNvPr id="36" name="Text 34"/>
          <p:cNvSpPr/>
          <p:nvPr/>
        </p:nvSpPr>
        <p:spPr>
          <a:xfrm>
            <a:off x="6675120" y="6218847"/>
            <a:ext cx="4690872" cy="411480"/>
          </a:xfrm>
          <a:prstGeom prst="rect">
            <a:avLst/>
          </a:prstGeom>
          <a:noFill/>
          <a:ln/>
        </p:spPr>
        <p:txBody>
          <a:bodyPr wrap="square" lIns="0" tIns="0" rIns="0" bIns="0" rtlCol="0" anchor="ctr"/>
          <a:lstStyle/>
          <a:p>
            <a:pPr marL="0" indent="0">
              <a:buNone/>
            </a:pPr>
            <a:r>
              <a:rPr lang="en-US" sz="1050" i="1" dirty="0">
                <a:solidFill>
                  <a:srgbClr val="6B7280"/>
                </a:solidFill>
                <a:latin typeface="Calibri" pitchFamily="34" charset="0"/>
                <a:ea typeface="Calibri" pitchFamily="34" charset="-122"/>
                <a:cs typeface="Calibri" pitchFamily="34" charset="-120"/>
              </a:rPr>
              <a:t>Hub members and skills are growing constantly — reach out even if the expertise you need isn't listed yet.</a:t>
            </a:r>
            <a:endParaRPr lang="en-US" sz="1050" dirty="0"/>
          </a:p>
        </p:txBody>
      </p:sp>
      <p:pic>
        <p:nvPicPr>
          <p:cNvPr id="37" name="Picture 36">
            <a:extLst>
              <a:ext uri="{FF2B5EF4-FFF2-40B4-BE49-F238E27FC236}">
                <a16:creationId xmlns:a16="http://schemas.microsoft.com/office/drawing/2014/main" id="{CDDFF484-8CEF-0BFA-1F24-7ED288CA1F39}"/>
              </a:ext>
            </a:extLst>
          </p:cNvPr>
          <p:cNvPicPr>
            <a:picLocks noChangeAspect="1"/>
          </p:cNvPicPr>
          <p:nvPr/>
        </p:nvPicPr>
        <p:blipFill>
          <a:blip r:embed="rId3"/>
          <a:srcRect l="21030" r="15617"/>
          <a:stretch>
            <a:fillRect/>
          </a:stretch>
        </p:blipFill>
        <p:spPr>
          <a:xfrm>
            <a:off x="9565489" y="164592"/>
            <a:ext cx="1041551" cy="1491977"/>
          </a:xfrm>
          <a:prstGeom prst="rect">
            <a:avLst/>
          </a:prstGeom>
        </p:spPr>
      </p:pic>
      <p:pic>
        <p:nvPicPr>
          <p:cNvPr id="38" name="Picture 37" descr="A person smiling for the camera&#10;&#10;AI-generated content may be incorrect.">
            <a:extLst>
              <a:ext uri="{FF2B5EF4-FFF2-40B4-BE49-F238E27FC236}">
                <a16:creationId xmlns:a16="http://schemas.microsoft.com/office/drawing/2014/main" id="{CD88E699-AA41-855A-E3DB-F78DC0138D1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24936" y="184006"/>
            <a:ext cx="1144736" cy="1431468"/>
          </a:xfrm>
          <a:prstGeom prst="rect">
            <a:avLst/>
          </a:prstGeom>
        </p:spPr>
      </p:pic>
      <p:sp>
        <p:nvSpPr>
          <p:cNvPr id="39" name="TextBox 38">
            <a:extLst>
              <a:ext uri="{FF2B5EF4-FFF2-40B4-BE49-F238E27FC236}">
                <a16:creationId xmlns:a16="http://schemas.microsoft.com/office/drawing/2014/main" id="{A7A69C53-3AF2-AD4E-6336-A5D238B4AEB3}"/>
              </a:ext>
            </a:extLst>
          </p:cNvPr>
          <p:cNvSpPr txBox="1"/>
          <p:nvPr/>
        </p:nvSpPr>
        <p:spPr>
          <a:xfrm>
            <a:off x="6417981" y="1590129"/>
            <a:ext cx="2452941" cy="338554"/>
          </a:xfrm>
          <a:prstGeom prst="rect">
            <a:avLst/>
          </a:prstGeom>
          <a:noFill/>
        </p:spPr>
        <p:txBody>
          <a:bodyPr wrap="square" rtlCol="0">
            <a:spAutoFit/>
          </a:bodyPr>
          <a:lstStyle/>
          <a:p>
            <a:r>
              <a:rPr lang="en-US" sz="1600" dirty="0"/>
              <a:t>Arthur </a:t>
            </a:r>
            <a:r>
              <a:rPr lang="en-US" sz="1600" dirty="0" err="1"/>
              <a:t>VanValkenburg</a:t>
            </a:r>
            <a:r>
              <a:rPr lang="en-US" sz="1600" dirty="0"/>
              <a:t>, PhD</a:t>
            </a:r>
          </a:p>
        </p:txBody>
      </p:sp>
      <p:sp>
        <p:nvSpPr>
          <p:cNvPr id="40" name="TextBox 39">
            <a:extLst>
              <a:ext uri="{FF2B5EF4-FFF2-40B4-BE49-F238E27FC236}">
                <a16:creationId xmlns:a16="http://schemas.microsoft.com/office/drawing/2014/main" id="{403002D1-940E-106D-0D6D-6290C799443A}"/>
              </a:ext>
            </a:extLst>
          </p:cNvPr>
          <p:cNvSpPr txBox="1"/>
          <p:nvPr/>
        </p:nvSpPr>
        <p:spPr>
          <a:xfrm>
            <a:off x="6417981" y="4553308"/>
            <a:ext cx="1386372" cy="584775"/>
          </a:xfrm>
          <a:prstGeom prst="rect">
            <a:avLst/>
          </a:prstGeom>
          <a:noFill/>
        </p:spPr>
        <p:txBody>
          <a:bodyPr wrap="square" rtlCol="0">
            <a:spAutoFit/>
          </a:bodyPr>
          <a:lstStyle/>
          <a:p>
            <a:r>
              <a:rPr lang="en-US" sz="1600" dirty="0"/>
              <a:t>Howard Fan, PhD</a:t>
            </a:r>
          </a:p>
        </p:txBody>
      </p:sp>
      <p:sp>
        <p:nvSpPr>
          <p:cNvPr id="41" name="TextBox 40">
            <a:extLst>
              <a:ext uri="{FF2B5EF4-FFF2-40B4-BE49-F238E27FC236}">
                <a16:creationId xmlns:a16="http://schemas.microsoft.com/office/drawing/2014/main" id="{8C963505-546C-8C27-281E-8975FE246F93}"/>
              </a:ext>
            </a:extLst>
          </p:cNvPr>
          <p:cNvSpPr txBox="1"/>
          <p:nvPr/>
        </p:nvSpPr>
        <p:spPr>
          <a:xfrm>
            <a:off x="9194755" y="1622027"/>
            <a:ext cx="1885915" cy="338554"/>
          </a:xfrm>
          <a:prstGeom prst="rect">
            <a:avLst/>
          </a:prstGeom>
          <a:noFill/>
        </p:spPr>
        <p:txBody>
          <a:bodyPr wrap="square" rtlCol="0">
            <a:spAutoFit/>
          </a:bodyPr>
          <a:lstStyle/>
          <a:p>
            <a:r>
              <a:rPr lang="en-US" sz="1600" dirty="0"/>
              <a:t>Howard Fan, PhD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E7C86"/>
          </a:solidFill>
          <a:ln/>
        </p:spPr>
        <p:txBody>
          <a:bodyPr/>
          <a:lstStyle/>
          <a:p>
            <a:endParaRPr lang="en-US"/>
          </a:p>
        </p:txBody>
      </p:sp>
      <p:sp>
        <p:nvSpPr>
          <p:cNvPr id="3" name="Text 1"/>
          <p:cNvSpPr/>
          <p:nvPr/>
        </p:nvSpPr>
        <p:spPr>
          <a:xfrm>
            <a:off x="548640" y="384048"/>
            <a:ext cx="10058400" cy="274320"/>
          </a:xfrm>
          <a:prstGeom prst="rect">
            <a:avLst/>
          </a:prstGeom>
          <a:noFill/>
          <a:ln/>
        </p:spPr>
        <p:txBody>
          <a:bodyPr wrap="square" lIns="0" tIns="0" rIns="0" bIns="0" rtlCol="0" anchor="ctr"/>
          <a:lstStyle/>
          <a:p>
            <a:pPr marL="0" indent="0">
              <a:buNone/>
            </a:pPr>
            <a:r>
              <a:rPr lang="en-US" sz="1200" b="1" kern="0" spc="300" dirty="0">
                <a:solidFill>
                  <a:srgbClr val="0E7C86"/>
                </a:solidFill>
                <a:latin typeface="Calibri" pitchFamily="34" charset="0"/>
                <a:ea typeface="Calibri" pitchFamily="34" charset="-122"/>
                <a:cs typeface="Calibri" pitchFamily="34" charset="-120"/>
              </a:rPr>
              <a:t>HUB TWO</a:t>
            </a:r>
            <a:endParaRPr lang="en-US" sz="1200" dirty="0"/>
          </a:p>
        </p:txBody>
      </p:sp>
      <p:sp>
        <p:nvSpPr>
          <p:cNvPr id="4" name="Text 2"/>
          <p:cNvSpPr/>
          <p:nvPr/>
        </p:nvSpPr>
        <p:spPr>
          <a:xfrm>
            <a:off x="548640" y="640080"/>
            <a:ext cx="11064240" cy="640080"/>
          </a:xfrm>
          <a:prstGeom prst="rect">
            <a:avLst/>
          </a:prstGeom>
          <a:noFill/>
          <a:ln/>
        </p:spPr>
        <p:txBody>
          <a:bodyPr wrap="square" lIns="0" tIns="0" rIns="0" bIns="0" rtlCol="0" anchor="ctr"/>
          <a:lstStyle/>
          <a:p>
            <a:pPr marL="0" indent="0">
              <a:buNone/>
            </a:pPr>
            <a:r>
              <a:rPr lang="en-US" sz="3000" b="1" dirty="0">
                <a:solidFill>
                  <a:srgbClr val="1E2329"/>
                </a:solidFill>
                <a:latin typeface="Georgia" pitchFamily="34" charset="0"/>
                <a:ea typeface="Georgia" pitchFamily="34" charset="-122"/>
                <a:cs typeface="Georgia" pitchFamily="34" charset="-120"/>
              </a:rPr>
              <a:t>LLM/Agentic AI Hub</a:t>
            </a:r>
            <a:endParaRPr lang="en-US" sz="3000" dirty="0"/>
          </a:p>
        </p:txBody>
      </p:sp>
      <p:sp>
        <p:nvSpPr>
          <p:cNvPr id="5" name="Text 3"/>
          <p:cNvSpPr/>
          <p:nvPr/>
        </p:nvSpPr>
        <p:spPr>
          <a:xfrm>
            <a:off x="548640" y="1508760"/>
            <a:ext cx="5486400" cy="274320"/>
          </a:xfrm>
          <a:prstGeom prst="rect">
            <a:avLst/>
          </a:prstGeom>
          <a:noFill/>
          <a:ln/>
        </p:spPr>
        <p:txBody>
          <a:bodyPr wrap="square" lIns="0" tIns="0" rIns="0" bIns="0" rtlCol="0" anchor="ctr"/>
          <a:lstStyle/>
          <a:p>
            <a:pPr marL="0" indent="0">
              <a:buNone/>
            </a:pPr>
            <a:r>
              <a:rPr lang="en-US" b="1" kern="0" spc="200" dirty="0">
                <a:solidFill>
                  <a:srgbClr val="0E7C86"/>
                </a:solidFill>
                <a:latin typeface="Calibri" pitchFamily="34" charset="0"/>
                <a:ea typeface="Calibri" pitchFamily="34" charset="-122"/>
                <a:cs typeface="Calibri" pitchFamily="34" charset="-120"/>
              </a:rPr>
              <a:t>VISION</a:t>
            </a:r>
            <a:endParaRPr lang="en-US" dirty="0"/>
          </a:p>
        </p:txBody>
      </p:sp>
      <p:sp>
        <p:nvSpPr>
          <p:cNvPr id="6" name="Text 4"/>
          <p:cNvSpPr/>
          <p:nvPr/>
        </p:nvSpPr>
        <p:spPr>
          <a:xfrm>
            <a:off x="548640" y="2171192"/>
            <a:ext cx="5486400" cy="1051560"/>
          </a:xfrm>
          <a:prstGeom prst="rect">
            <a:avLst/>
          </a:prstGeom>
          <a:noFill/>
          <a:ln/>
        </p:spPr>
        <p:txBody>
          <a:bodyPr wrap="square" lIns="0" tIns="0" rIns="0" bIns="0" rtlCol="0" anchor="ctr"/>
          <a:lstStyle/>
          <a:p>
            <a:pPr marL="0" indent="0">
              <a:buNone/>
            </a:pPr>
            <a:r>
              <a:rPr lang="en-US" sz="2000" dirty="0">
                <a:solidFill>
                  <a:srgbClr val="1E2329"/>
                </a:solidFill>
                <a:latin typeface="Calibri" pitchFamily="34" charset="0"/>
                <a:ea typeface="Calibri" pitchFamily="34" charset="-122"/>
                <a:cs typeface="Calibri" pitchFamily="34" charset="-120"/>
              </a:rPr>
              <a:t>The same embedded-collaborator model, focused on artificial intelligence: dedicated GPU infrastructure and AI engineers that bring generative and agentic AI, large-scale modeling, and cloud capacity to clinical and translational research.</a:t>
            </a:r>
            <a:endParaRPr lang="en-US" sz="2000" dirty="0"/>
          </a:p>
        </p:txBody>
      </p:sp>
      <p:sp>
        <p:nvSpPr>
          <p:cNvPr id="7" name="Text 5"/>
          <p:cNvSpPr/>
          <p:nvPr/>
        </p:nvSpPr>
        <p:spPr>
          <a:xfrm>
            <a:off x="548640" y="3680968"/>
            <a:ext cx="5486400" cy="274320"/>
          </a:xfrm>
          <a:prstGeom prst="rect">
            <a:avLst/>
          </a:prstGeom>
          <a:noFill/>
          <a:ln/>
        </p:spPr>
        <p:txBody>
          <a:bodyPr wrap="square" lIns="0" tIns="0" rIns="0" bIns="0" rtlCol="0" anchor="ctr"/>
          <a:lstStyle/>
          <a:p>
            <a:pPr marL="0" indent="0">
              <a:buNone/>
            </a:pPr>
            <a:r>
              <a:rPr lang="en-US" b="1" kern="0" spc="200" dirty="0">
                <a:solidFill>
                  <a:srgbClr val="0E7C86"/>
                </a:solidFill>
                <a:latin typeface="Calibri" pitchFamily="34" charset="0"/>
                <a:ea typeface="Calibri" pitchFamily="34" charset="-122"/>
                <a:cs typeface="Calibri" pitchFamily="34" charset="-120"/>
              </a:rPr>
              <a:t>STRUCTURE</a:t>
            </a:r>
            <a:endParaRPr lang="en-US" dirty="0"/>
          </a:p>
        </p:txBody>
      </p:sp>
      <p:sp>
        <p:nvSpPr>
          <p:cNvPr id="8" name="Text 6"/>
          <p:cNvSpPr/>
          <p:nvPr/>
        </p:nvSpPr>
        <p:spPr>
          <a:xfrm>
            <a:off x="548640" y="4343400"/>
            <a:ext cx="5486400" cy="1554480"/>
          </a:xfrm>
          <a:prstGeom prst="rect">
            <a:avLst/>
          </a:prstGeom>
          <a:noFill/>
          <a:ln/>
        </p:spPr>
        <p:txBody>
          <a:bodyPr wrap="square" lIns="0" tIns="0" rIns="0" bIns="0" rtlCol="0" anchor="ctr"/>
          <a:lstStyle/>
          <a:p>
            <a:pPr marL="342900" indent="-342900">
              <a:spcAft>
                <a:spcPts val="800"/>
              </a:spcAft>
              <a:buSzPct val="100000"/>
              <a:buChar char="•"/>
            </a:pPr>
            <a:r>
              <a:rPr lang="en-US" sz="2000" dirty="0">
                <a:solidFill>
                  <a:srgbClr val="1E2329"/>
                </a:solidFill>
                <a:latin typeface="Calibri" pitchFamily="34" charset="0"/>
                <a:ea typeface="Calibri" pitchFamily="34" charset="-122"/>
                <a:cs typeface="Calibri" pitchFamily="34" charset="-120"/>
              </a:rPr>
              <a:t>Two dedicated AI engineers + on-premise GPU compute nodes</a:t>
            </a:r>
            <a:endParaRPr lang="en-US" sz="2000" dirty="0"/>
          </a:p>
          <a:p>
            <a:pPr marL="342900" indent="-342900">
              <a:spcAft>
                <a:spcPts val="800"/>
              </a:spcAft>
              <a:buSzPct val="100000"/>
              <a:buChar char="•"/>
            </a:pPr>
            <a:r>
              <a:rPr lang="en-US" sz="2000" dirty="0">
                <a:solidFill>
                  <a:srgbClr val="1E2329"/>
                </a:solidFill>
                <a:latin typeface="Calibri" pitchFamily="34" charset="0"/>
                <a:ea typeface="Calibri" pitchFamily="34" charset="-122"/>
                <a:cs typeface="Calibri" pitchFamily="34" charset="-120"/>
              </a:rPr>
              <a:t>Cloud partnerships with AWS and Google for scale and tooling</a:t>
            </a:r>
            <a:endParaRPr lang="en-US" sz="2000" dirty="0"/>
          </a:p>
          <a:p>
            <a:pPr marL="342900" indent="-342900">
              <a:spcAft>
                <a:spcPts val="800"/>
              </a:spcAft>
              <a:buSzPct val="100000"/>
              <a:buChar char="•"/>
            </a:pPr>
            <a:r>
              <a:rPr lang="en-US" sz="2000" dirty="0">
                <a:solidFill>
                  <a:srgbClr val="1E2329"/>
                </a:solidFill>
                <a:latin typeface="Calibri" pitchFamily="34" charset="0"/>
                <a:ea typeface="Calibri" pitchFamily="34" charset="-122"/>
                <a:cs typeface="Calibri" pitchFamily="34" charset="-120"/>
              </a:rPr>
              <a:t>Engaged as long-term collaborators, mirroring the Data Science Hub</a:t>
            </a:r>
            <a:endParaRPr lang="en-US" sz="2000" dirty="0"/>
          </a:p>
        </p:txBody>
      </p:sp>
      <p:sp>
        <p:nvSpPr>
          <p:cNvPr id="9" name="Shape 7"/>
          <p:cNvSpPr/>
          <p:nvPr/>
        </p:nvSpPr>
        <p:spPr>
          <a:xfrm>
            <a:off x="6400800" y="1890726"/>
            <a:ext cx="5239512" cy="4754880"/>
          </a:xfrm>
          <a:prstGeom prst="rect">
            <a:avLst/>
          </a:prstGeom>
          <a:solidFill>
            <a:srgbClr val="FFFFFF"/>
          </a:solidFill>
          <a:ln w="12700">
            <a:solidFill>
              <a:srgbClr val="E3DDD8"/>
            </a:solidFill>
            <a:prstDash val="solid"/>
          </a:ln>
          <a:effectLst>
            <a:outerShdw blurRad="88900" dist="38100" dir="8100000" algn="bl" rotWithShape="0">
              <a:srgbClr val="000000">
                <a:alpha val="12000"/>
              </a:srgbClr>
            </a:outerShdw>
          </a:effectLst>
        </p:spPr>
        <p:txBody>
          <a:bodyPr/>
          <a:lstStyle/>
          <a:p>
            <a:endParaRPr lang="en-US"/>
          </a:p>
        </p:txBody>
      </p:sp>
      <p:sp>
        <p:nvSpPr>
          <p:cNvPr id="10" name="Shape 8"/>
          <p:cNvSpPr/>
          <p:nvPr/>
        </p:nvSpPr>
        <p:spPr>
          <a:xfrm>
            <a:off x="6400800" y="1890726"/>
            <a:ext cx="5239512" cy="548640"/>
          </a:xfrm>
          <a:prstGeom prst="rect">
            <a:avLst/>
          </a:prstGeom>
          <a:solidFill>
            <a:srgbClr val="0E7C86"/>
          </a:solidFill>
          <a:ln/>
        </p:spPr>
        <p:txBody>
          <a:bodyPr/>
          <a:lstStyle/>
          <a:p>
            <a:endParaRPr lang="en-US"/>
          </a:p>
        </p:txBody>
      </p:sp>
      <p:sp>
        <p:nvSpPr>
          <p:cNvPr id="11" name="Text 9"/>
          <p:cNvSpPr/>
          <p:nvPr/>
        </p:nvSpPr>
        <p:spPr>
          <a:xfrm>
            <a:off x="6675120" y="1890726"/>
            <a:ext cx="4690872" cy="548640"/>
          </a:xfrm>
          <a:prstGeom prst="rect">
            <a:avLst/>
          </a:prstGeom>
          <a:noFill/>
          <a:ln/>
        </p:spPr>
        <p:txBody>
          <a:bodyPr wrap="square" lIns="0" tIns="0" rIns="0" bIns="0" rtlCol="0" anchor="ctr"/>
          <a:lstStyle/>
          <a:p>
            <a:pPr marL="0" indent="0">
              <a:buNone/>
            </a:pPr>
            <a:r>
              <a:rPr lang="en-US" sz="1400" b="1" kern="0" spc="200" dirty="0">
                <a:solidFill>
                  <a:srgbClr val="FFFFFF"/>
                </a:solidFill>
                <a:latin typeface="Calibri" pitchFamily="34" charset="0"/>
                <a:ea typeface="Calibri" pitchFamily="34" charset="-122"/>
                <a:cs typeface="Calibri" pitchFamily="34" charset="-120"/>
              </a:rPr>
              <a:t>AI HUB CAPABILITIES</a:t>
            </a:r>
            <a:endParaRPr lang="en-US" sz="1400" dirty="0"/>
          </a:p>
        </p:txBody>
      </p:sp>
      <p:sp>
        <p:nvSpPr>
          <p:cNvPr id="12" name="Shape 10"/>
          <p:cNvSpPr/>
          <p:nvPr/>
        </p:nvSpPr>
        <p:spPr>
          <a:xfrm>
            <a:off x="6675120" y="2667966"/>
            <a:ext cx="2253996" cy="457200"/>
          </a:xfrm>
          <a:prstGeom prst="roundRect">
            <a:avLst>
              <a:gd name="adj" fmla="val 12000"/>
            </a:avLst>
          </a:prstGeom>
          <a:solidFill>
            <a:srgbClr val="E5F3F4"/>
          </a:solidFill>
          <a:ln w="12700">
            <a:solidFill>
              <a:srgbClr val="BFE0E3"/>
            </a:solidFill>
            <a:prstDash val="solid"/>
          </a:ln>
        </p:spPr>
        <p:txBody>
          <a:bodyPr/>
          <a:lstStyle/>
          <a:p>
            <a:endParaRPr lang="en-US"/>
          </a:p>
        </p:txBody>
      </p:sp>
      <p:sp>
        <p:nvSpPr>
          <p:cNvPr id="13" name="Text 11"/>
          <p:cNvSpPr/>
          <p:nvPr/>
        </p:nvSpPr>
        <p:spPr>
          <a:xfrm>
            <a:off x="6784848" y="2667966"/>
            <a:ext cx="2052828" cy="457200"/>
          </a:xfrm>
          <a:prstGeom prst="rect">
            <a:avLst/>
          </a:prstGeom>
          <a:noFill/>
          <a:ln/>
        </p:spPr>
        <p:txBody>
          <a:bodyPr wrap="square" lIns="0" tIns="0" rIns="0" bIns="0" rtlCol="0" anchor="ctr"/>
          <a:lstStyle/>
          <a:p>
            <a:pPr marL="0" indent="0">
              <a:buNone/>
            </a:pPr>
            <a:r>
              <a:rPr lang="en-US" sz="1200" b="1" dirty="0">
                <a:solidFill>
                  <a:srgbClr val="0A5A62"/>
                </a:solidFill>
                <a:latin typeface="Calibri" pitchFamily="34" charset="0"/>
                <a:ea typeface="Calibri" pitchFamily="34" charset="-122"/>
                <a:cs typeface="Calibri" pitchFamily="34" charset="-120"/>
              </a:rPr>
              <a:t>Generative AI</a:t>
            </a:r>
            <a:endParaRPr lang="en-US" sz="1200" dirty="0"/>
          </a:p>
        </p:txBody>
      </p:sp>
      <p:sp>
        <p:nvSpPr>
          <p:cNvPr id="14" name="Shape 12"/>
          <p:cNvSpPr/>
          <p:nvPr/>
        </p:nvSpPr>
        <p:spPr>
          <a:xfrm>
            <a:off x="9111996" y="2667966"/>
            <a:ext cx="2253996" cy="457200"/>
          </a:xfrm>
          <a:prstGeom prst="roundRect">
            <a:avLst>
              <a:gd name="adj" fmla="val 12000"/>
            </a:avLst>
          </a:prstGeom>
          <a:solidFill>
            <a:srgbClr val="E5F3F4"/>
          </a:solidFill>
          <a:ln w="12700">
            <a:solidFill>
              <a:srgbClr val="BFE0E3"/>
            </a:solidFill>
            <a:prstDash val="solid"/>
          </a:ln>
        </p:spPr>
        <p:txBody>
          <a:bodyPr/>
          <a:lstStyle/>
          <a:p>
            <a:endParaRPr lang="en-US"/>
          </a:p>
        </p:txBody>
      </p:sp>
      <p:sp>
        <p:nvSpPr>
          <p:cNvPr id="15" name="Text 13"/>
          <p:cNvSpPr/>
          <p:nvPr/>
        </p:nvSpPr>
        <p:spPr>
          <a:xfrm>
            <a:off x="9221724" y="2667966"/>
            <a:ext cx="2052828" cy="457200"/>
          </a:xfrm>
          <a:prstGeom prst="rect">
            <a:avLst/>
          </a:prstGeom>
          <a:noFill/>
          <a:ln/>
        </p:spPr>
        <p:txBody>
          <a:bodyPr wrap="square" lIns="0" tIns="0" rIns="0" bIns="0" rtlCol="0" anchor="ctr"/>
          <a:lstStyle/>
          <a:p>
            <a:pPr marL="0" indent="0">
              <a:buNone/>
            </a:pPr>
            <a:r>
              <a:rPr lang="en-US" sz="1200" b="1" dirty="0">
                <a:solidFill>
                  <a:srgbClr val="0A5A62"/>
                </a:solidFill>
                <a:latin typeface="Calibri" pitchFamily="34" charset="0"/>
                <a:ea typeface="Calibri" pitchFamily="34" charset="-122"/>
                <a:cs typeface="Calibri" pitchFamily="34" charset="-120"/>
              </a:rPr>
              <a:t>Agentic AI</a:t>
            </a:r>
            <a:endParaRPr lang="en-US" sz="1200" dirty="0"/>
          </a:p>
        </p:txBody>
      </p:sp>
      <p:sp>
        <p:nvSpPr>
          <p:cNvPr id="16" name="Shape 14"/>
          <p:cNvSpPr/>
          <p:nvPr/>
        </p:nvSpPr>
        <p:spPr>
          <a:xfrm>
            <a:off x="6675120" y="3189174"/>
            <a:ext cx="2253996" cy="457200"/>
          </a:xfrm>
          <a:prstGeom prst="roundRect">
            <a:avLst>
              <a:gd name="adj" fmla="val 12000"/>
            </a:avLst>
          </a:prstGeom>
          <a:solidFill>
            <a:srgbClr val="E5F3F4"/>
          </a:solidFill>
          <a:ln w="12700">
            <a:solidFill>
              <a:srgbClr val="BFE0E3"/>
            </a:solidFill>
            <a:prstDash val="solid"/>
          </a:ln>
        </p:spPr>
        <p:txBody>
          <a:bodyPr/>
          <a:lstStyle/>
          <a:p>
            <a:endParaRPr lang="en-US"/>
          </a:p>
        </p:txBody>
      </p:sp>
      <p:sp>
        <p:nvSpPr>
          <p:cNvPr id="17" name="Text 15"/>
          <p:cNvSpPr/>
          <p:nvPr/>
        </p:nvSpPr>
        <p:spPr>
          <a:xfrm>
            <a:off x="6784848" y="3189174"/>
            <a:ext cx="2052828" cy="457200"/>
          </a:xfrm>
          <a:prstGeom prst="rect">
            <a:avLst/>
          </a:prstGeom>
          <a:noFill/>
          <a:ln/>
        </p:spPr>
        <p:txBody>
          <a:bodyPr wrap="square" lIns="0" tIns="0" rIns="0" bIns="0" rtlCol="0" anchor="ctr"/>
          <a:lstStyle/>
          <a:p>
            <a:pPr marL="0" indent="0">
              <a:buNone/>
            </a:pPr>
            <a:r>
              <a:rPr lang="en-US" sz="1200" b="1" dirty="0">
                <a:solidFill>
                  <a:srgbClr val="0A5A62"/>
                </a:solidFill>
                <a:latin typeface="Calibri" pitchFamily="34" charset="0"/>
                <a:ea typeface="Calibri" pitchFamily="34" charset="-122"/>
                <a:cs typeface="Calibri" pitchFamily="34" charset="-120"/>
              </a:rPr>
              <a:t>Large language models</a:t>
            </a:r>
            <a:endParaRPr lang="en-US" sz="1200" dirty="0"/>
          </a:p>
        </p:txBody>
      </p:sp>
      <p:sp>
        <p:nvSpPr>
          <p:cNvPr id="18" name="Shape 16"/>
          <p:cNvSpPr/>
          <p:nvPr/>
        </p:nvSpPr>
        <p:spPr>
          <a:xfrm>
            <a:off x="9111996" y="3189174"/>
            <a:ext cx="2253996" cy="457200"/>
          </a:xfrm>
          <a:prstGeom prst="roundRect">
            <a:avLst>
              <a:gd name="adj" fmla="val 12000"/>
            </a:avLst>
          </a:prstGeom>
          <a:solidFill>
            <a:srgbClr val="E5F3F4"/>
          </a:solidFill>
          <a:ln w="12700">
            <a:solidFill>
              <a:srgbClr val="BFE0E3"/>
            </a:solidFill>
            <a:prstDash val="solid"/>
          </a:ln>
        </p:spPr>
        <p:txBody>
          <a:bodyPr/>
          <a:lstStyle/>
          <a:p>
            <a:endParaRPr lang="en-US"/>
          </a:p>
        </p:txBody>
      </p:sp>
      <p:sp>
        <p:nvSpPr>
          <p:cNvPr id="19" name="Text 17"/>
          <p:cNvSpPr/>
          <p:nvPr/>
        </p:nvSpPr>
        <p:spPr>
          <a:xfrm>
            <a:off x="9221724" y="3189174"/>
            <a:ext cx="2052828" cy="457200"/>
          </a:xfrm>
          <a:prstGeom prst="rect">
            <a:avLst/>
          </a:prstGeom>
          <a:noFill/>
          <a:ln/>
        </p:spPr>
        <p:txBody>
          <a:bodyPr wrap="square" lIns="0" tIns="0" rIns="0" bIns="0" rtlCol="0" anchor="ctr"/>
          <a:lstStyle/>
          <a:p>
            <a:pPr marL="0" indent="0">
              <a:buNone/>
            </a:pPr>
            <a:r>
              <a:rPr lang="en-US" sz="1200" b="1" dirty="0">
                <a:solidFill>
                  <a:srgbClr val="0A5A62"/>
                </a:solidFill>
                <a:latin typeface="Calibri" pitchFamily="34" charset="0"/>
                <a:ea typeface="Calibri" pitchFamily="34" charset="-122"/>
                <a:cs typeface="Calibri" pitchFamily="34" charset="-120"/>
              </a:rPr>
              <a:t>GPU / HPC compute</a:t>
            </a:r>
            <a:endParaRPr lang="en-US" sz="1200" dirty="0"/>
          </a:p>
        </p:txBody>
      </p:sp>
      <p:sp>
        <p:nvSpPr>
          <p:cNvPr id="20" name="Shape 18"/>
          <p:cNvSpPr/>
          <p:nvPr/>
        </p:nvSpPr>
        <p:spPr>
          <a:xfrm>
            <a:off x="6675120" y="3710382"/>
            <a:ext cx="2253996" cy="457200"/>
          </a:xfrm>
          <a:prstGeom prst="roundRect">
            <a:avLst>
              <a:gd name="adj" fmla="val 12000"/>
            </a:avLst>
          </a:prstGeom>
          <a:solidFill>
            <a:srgbClr val="E5F3F4"/>
          </a:solidFill>
          <a:ln w="12700">
            <a:solidFill>
              <a:srgbClr val="BFE0E3"/>
            </a:solidFill>
            <a:prstDash val="solid"/>
          </a:ln>
        </p:spPr>
        <p:txBody>
          <a:bodyPr/>
          <a:lstStyle/>
          <a:p>
            <a:endParaRPr lang="en-US"/>
          </a:p>
        </p:txBody>
      </p:sp>
      <p:sp>
        <p:nvSpPr>
          <p:cNvPr id="21" name="Text 19"/>
          <p:cNvSpPr/>
          <p:nvPr/>
        </p:nvSpPr>
        <p:spPr>
          <a:xfrm>
            <a:off x="6784848" y="3710382"/>
            <a:ext cx="2052828" cy="457200"/>
          </a:xfrm>
          <a:prstGeom prst="rect">
            <a:avLst/>
          </a:prstGeom>
          <a:noFill/>
          <a:ln/>
        </p:spPr>
        <p:txBody>
          <a:bodyPr wrap="square" lIns="0" tIns="0" rIns="0" bIns="0" rtlCol="0" anchor="ctr"/>
          <a:lstStyle/>
          <a:p>
            <a:pPr marL="0" indent="0">
              <a:buNone/>
            </a:pPr>
            <a:r>
              <a:rPr lang="en-US" sz="1200" b="1" dirty="0">
                <a:solidFill>
                  <a:srgbClr val="0A5A62"/>
                </a:solidFill>
                <a:latin typeface="Calibri" pitchFamily="34" charset="0"/>
                <a:ea typeface="Calibri" pitchFamily="34" charset="-122"/>
                <a:cs typeface="Calibri" pitchFamily="34" charset="-120"/>
              </a:rPr>
              <a:t>Foundation-model fine-tuning</a:t>
            </a:r>
            <a:endParaRPr lang="en-US" sz="1200" dirty="0"/>
          </a:p>
        </p:txBody>
      </p:sp>
      <p:sp>
        <p:nvSpPr>
          <p:cNvPr id="22" name="Shape 20"/>
          <p:cNvSpPr/>
          <p:nvPr/>
        </p:nvSpPr>
        <p:spPr>
          <a:xfrm>
            <a:off x="9111996" y="3710382"/>
            <a:ext cx="2253996" cy="457200"/>
          </a:xfrm>
          <a:prstGeom prst="roundRect">
            <a:avLst>
              <a:gd name="adj" fmla="val 12000"/>
            </a:avLst>
          </a:prstGeom>
          <a:solidFill>
            <a:srgbClr val="E5F3F4"/>
          </a:solidFill>
          <a:ln w="12700">
            <a:solidFill>
              <a:srgbClr val="BFE0E3"/>
            </a:solidFill>
            <a:prstDash val="solid"/>
          </a:ln>
        </p:spPr>
        <p:txBody>
          <a:bodyPr/>
          <a:lstStyle/>
          <a:p>
            <a:endParaRPr lang="en-US"/>
          </a:p>
        </p:txBody>
      </p:sp>
      <p:sp>
        <p:nvSpPr>
          <p:cNvPr id="23" name="Text 21"/>
          <p:cNvSpPr/>
          <p:nvPr/>
        </p:nvSpPr>
        <p:spPr>
          <a:xfrm>
            <a:off x="9221724" y="3710382"/>
            <a:ext cx="2052828" cy="457200"/>
          </a:xfrm>
          <a:prstGeom prst="rect">
            <a:avLst/>
          </a:prstGeom>
          <a:noFill/>
          <a:ln/>
        </p:spPr>
        <p:txBody>
          <a:bodyPr wrap="square" lIns="0" tIns="0" rIns="0" bIns="0" rtlCol="0" anchor="ctr"/>
          <a:lstStyle/>
          <a:p>
            <a:pPr marL="0" indent="0">
              <a:buNone/>
            </a:pPr>
            <a:r>
              <a:rPr lang="en-US" sz="1200" b="1" dirty="0">
                <a:solidFill>
                  <a:srgbClr val="0A5A62"/>
                </a:solidFill>
                <a:latin typeface="Calibri" pitchFamily="34" charset="0"/>
                <a:ea typeface="Calibri" pitchFamily="34" charset="-122"/>
                <a:cs typeface="Calibri" pitchFamily="34" charset="-120"/>
              </a:rPr>
              <a:t>ML pipeline engineering</a:t>
            </a:r>
            <a:endParaRPr lang="en-US" sz="1200" dirty="0"/>
          </a:p>
        </p:txBody>
      </p:sp>
      <p:sp>
        <p:nvSpPr>
          <p:cNvPr id="24" name="Shape 22"/>
          <p:cNvSpPr/>
          <p:nvPr/>
        </p:nvSpPr>
        <p:spPr>
          <a:xfrm>
            <a:off x="6675120" y="4231590"/>
            <a:ext cx="2253996" cy="457200"/>
          </a:xfrm>
          <a:prstGeom prst="roundRect">
            <a:avLst>
              <a:gd name="adj" fmla="val 12000"/>
            </a:avLst>
          </a:prstGeom>
          <a:solidFill>
            <a:srgbClr val="E5F3F4"/>
          </a:solidFill>
          <a:ln w="12700">
            <a:solidFill>
              <a:srgbClr val="BFE0E3"/>
            </a:solidFill>
            <a:prstDash val="solid"/>
          </a:ln>
        </p:spPr>
        <p:txBody>
          <a:bodyPr/>
          <a:lstStyle/>
          <a:p>
            <a:endParaRPr lang="en-US"/>
          </a:p>
        </p:txBody>
      </p:sp>
      <p:sp>
        <p:nvSpPr>
          <p:cNvPr id="25" name="Text 23"/>
          <p:cNvSpPr/>
          <p:nvPr/>
        </p:nvSpPr>
        <p:spPr>
          <a:xfrm>
            <a:off x="6784848" y="4231590"/>
            <a:ext cx="2052828" cy="457200"/>
          </a:xfrm>
          <a:prstGeom prst="rect">
            <a:avLst/>
          </a:prstGeom>
          <a:noFill/>
          <a:ln/>
        </p:spPr>
        <p:txBody>
          <a:bodyPr wrap="square" lIns="0" tIns="0" rIns="0" bIns="0" rtlCol="0" anchor="ctr"/>
          <a:lstStyle/>
          <a:p>
            <a:pPr marL="0" indent="0">
              <a:buNone/>
            </a:pPr>
            <a:r>
              <a:rPr lang="en-US" sz="1200" b="1" dirty="0">
                <a:solidFill>
                  <a:srgbClr val="0A5A62"/>
                </a:solidFill>
                <a:latin typeface="Calibri" pitchFamily="34" charset="0"/>
                <a:ea typeface="Calibri" pitchFamily="34" charset="-122"/>
                <a:cs typeface="Calibri" pitchFamily="34" charset="-120"/>
              </a:rPr>
              <a:t>RePORT analysis prototype</a:t>
            </a:r>
            <a:endParaRPr lang="en-US" sz="1200" dirty="0"/>
          </a:p>
        </p:txBody>
      </p:sp>
      <p:sp>
        <p:nvSpPr>
          <p:cNvPr id="26" name="Shape 24"/>
          <p:cNvSpPr/>
          <p:nvPr/>
        </p:nvSpPr>
        <p:spPr>
          <a:xfrm>
            <a:off x="9111996" y="4231590"/>
            <a:ext cx="2253996" cy="457200"/>
          </a:xfrm>
          <a:prstGeom prst="roundRect">
            <a:avLst>
              <a:gd name="adj" fmla="val 12000"/>
            </a:avLst>
          </a:prstGeom>
          <a:solidFill>
            <a:srgbClr val="E5F3F4"/>
          </a:solidFill>
          <a:ln w="12700">
            <a:solidFill>
              <a:srgbClr val="BFE0E3"/>
            </a:solidFill>
            <a:prstDash val="solid"/>
          </a:ln>
        </p:spPr>
        <p:txBody>
          <a:bodyPr/>
          <a:lstStyle/>
          <a:p>
            <a:endParaRPr lang="en-US"/>
          </a:p>
        </p:txBody>
      </p:sp>
      <p:sp>
        <p:nvSpPr>
          <p:cNvPr id="27" name="Text 25"/>
          <p:cNvSpPr/>
          <p:nvPr/>
        </p:nvSpPr>
        <p:spPr>
          <a:xfrm>
            <a:off x="9221724" y="4231590"/>
            <a:ext cx="2052828" cy="457200"/>
          </a:xfrm>
          <a:prstGeom prst="rect">
            <a:avLst/>
          </a:prstGeom>
          <a:noFill/>
          <a:ln/>
        </p:spPr>
        <p:txBody>
          <a:bodyPr wrap="square" lIns="0" tIns="0" rIns="0" bIns="0" rtlCol="0" anchor="ctr"/>
          <a:lstStyle/>
          <a:p>
            <a:pPr marL="0" indent="0">
              <a:buNone/>
            </a:pPr>
            <a:r>
              <a:rPr lang="en-US" sz="1200" b="1" dirty="0">
                <a:solidFill>
                  <a:srgbClr val="0A5A62"/>
                </a:solidFill>
                <a:latin typeface="Calibri" pitchFamily="34" charset="0"/>
                <a:ea typeface="Calibri" pitchFamily="34" charset="-122"/>
                <a:cs typeface="Calibri" pitchFamily="34" charset="-120"/>
              </a:rPr>
              <a:t>Cloud (AWS / Google)</a:t>
            </a:r>
            <a:endParaRPr lang="en-US" sz="1200" dirty="0"/>
          </a:p>
        </p:txBody>
      </p:sp>
      <p:sp>
        <p:nvSpPr>
          <p:cNvPr id="28" name="Shape 26"/>
          <p:cNvSpPr/>
          <p:nvPr/>
        </p:nvSpPr>
        <p:spPr>
          <a:xfrm>
            <a:off x="6675120" y="4752798"/>
            <a:ext cx="2253996" cy="457200"/>
          </a:xfrm>
          <a:prstGeom prst="roundRect">
            <a:avLst>
              <a:gd name="adj" fmla="val 12000"/>
            </a:avLst>
          </a:prstGeom>
          <a:solidFill>
            <a:srgbClr val="E5F3F4"/>
          </a:solidFill>
          <a:ln w="12700">
            <a:solidFill>
              <a:srgbClr val="BFE0E3"/>
            </a:solidFill>
            <a:prstDash val="solid"/>
          </a:ln>
        </p:spPr>
        <p:txBody>
          <a:bodyPr/>
          <a:lstStyle/>
          <a:p>
            <a:endParaRPr lang="en-US"/>
          </a:p>
        </p:txBody>
      </p:sp>
      <p:sp>
        <p:nvSpPr>
          <p:cNvPr id="29" name="Text 27"/>
          <p:cNvSpPr/>
          <p:nvPr/>
        </p:nvSpPr>
        <p:spPr>
          <a:xfrm>
            <a:off x="6784848" y="4752798"/>
            <a:ext cx="2052828" cy="457200"/>
          </a:xfrm>
          <a:prstGeom prst="rect">
            <a:avLst/>
          </a:prstGeom>
          <a:noFill/>
          <a:ln/>
        </p:spPr>
        <p:txBody>
          <a:bodyPr wrap="square" lIns="0" tIns="0" rIns="0" bIns="0" rtlCol="0" anchor="ctr"/>
          <a:lstStyle/>
          <a:p>
            <a:pPr marL="0" indent="0">
              <a:buNone/>
            </a:pPr>
            <a:r>
              <a:rPr lang="en-US" sz="1200" b="1" dirty="0">
                <a:solidFill>
                  <a:srgbClr val="0A5A62"/>
                </a:solidFill>
                <a:latin typeface="Calibri" pitchFamily="34" charset="0"/>
                <a:ea typeface="Calibri" pitchFamily="34" charset="-122"/>
                <a:cs typeface="Calibri" pitchFamily="34" charset="-120"/>
              </a:rPr>
              <a:t>Retrieval &amp; RAG systems</a:t>
            </a:r>
            <a:endParaRPr lang="en-US" sz="1200" dirty="0"/>
          </a:p>
        </p:txBody>
      </p:sp>
      <p:sp>
        <p:nvSpPr>
          <p:cNvPr id="30" name="Shape 28"/>
          <p:cNvSpPr/>
          <p:nvPr/>
        </p:nvSpPr>
        <p:spPr>
          <a:xfrm>
            <a:off x="9111996" y="4752798"/>
            <a:ext cx="2253996" cy="457200"/>
          </a:xfrm>
          <a:prstGeom prst="roundRect">
            <a:avLst>
              <a:gd name="adj" fmla="val 12000"/>
            </a:avLst>
          </a:prstGeom>
          <a:solidFill>
            <a:srgbClr val="E5F3F4"/>
          </a:solidFill>
          <a:ln w="12700">
            <a:solidFill>
              <a:srgbClr val="BFE0E3"/>
            </a:solidFill>
            <a:prstDash val="solid"/>
          </a:ln>
        </p:spPr>
        <p:txBody>
          <a:bodyPr/>
          <a:lstStyle/>
          <a:p>
            <a:endParaRPr lang="en-US"/>
          </a:p>
        </p:txBody>
      </p:sp>
      <p:sp>
        <p:nvSpPr>
          <p:cNvPr id="31" name="Text 29"/>
          <p:cNvSpPr/>
          <p:nvPr/>
        </p:nvSpPr>
        <p:spPr>
          <a:xfrm>
            <a:off x="9221724" y="4752798"/>
            <a:ext cx="2052828" cy="457200"/>
          </a:xfrm>
          <a:prstGeom prst="rect">
            <a:avLst/>
          </a:prstGeom>
          <a:noFill/>
          <a:ln/>
        </p:spPr>
        <p:txBody>
          <a:bodyPr wrap="square" lIns="0" tIns="0" rIns="0" bIns="0" rtlCol="0" anchor="ctr"/>
          <a:lstStyle/>
          <a:p>
            <a:pPr marL="0" indent="0">
              <a:buNone/>
            </a:pPr>
            <a:r>
              <a:rPr lang="en-US" sz="1200" b="1" dirty="0">
                <a:solidFill>
                  <a:srgbClr val="0A5A62"/>
                </a:solidFill>
                <a:latin typeface="Calibri" pitchFamily="34" charset="0"/>
                <a:ea typeface="Calibri" pitchFamily="34" charset="-122"/>
                <a:cs typeface="Calibri" pitchFamily="34" charset="-120"/>
              </a:rPr>
              <a:t>Model evaluation</a:t>
            </a:r>
            <a:endParaRPr lang="en-US" sz="1200" dirty="0"/>
          </a:p>
        </p:txBody>
      </p:sp>
      <p:sp>
        <p:nvSpPr>
          <p:cNvPr id="32" name="Shape 30"/>
          <p:cNvSpPr/>
          <p:nvPr/>
        </p:nvSpPr>
        <p:spPr>
          <a:xfrm>
            <a:off x="6675120" y="5274006"/>
            <a:ext cx="2253996" cy="457200"/>
          </a:xfrm>
          <a:prstGeom prst="roundRect">
            <a:avLst>
              <a:gd name="adj" fmla="val 12000"/>
            </a:avLst>
          </a:prstGeom>
          <a:solidFill>
            <a:srgbClr val="E5F3F4"/>
          </a:solidFill>
          <a:ln w="12700">
            <a:solidFill>
              <a:srgbClr val="BFE0E3"/>
            </a:solidFill>
            <a:prstDash val="solid"/>
          </a:ln>
        </p:spPr>
        <p:txBody>
          <a:bodyPr/>
          <a:lstStyle/>
          <a:p>
            <a:endParaRPr lang="en-US"/>
          </a:p>
        </p:txBody>
      </p:sp>
      <p:sp>
        <p:nvSpPr>
          <p:cNvPr id="33" name="Text 31"/>
          <p:cNvSpPr/>
          <p:nvPr/>
        </p:nvSpPr>
        <p:spPr>
          <a:xfrm>
            <a:off x="6784848" y="5274006"/>
            <a:ext cx="2052828" cy="457200"/>
          </a:xfrm>
          <a:prstGeom prst="rect">
            <a:avLst/>
          </a:prstGeom>
          <a:noFill/>
          <a:ln/>
        </p:spPr>
        <p:txBody>
          <a:bodyPr wrap="square" lIns="0" tIns="0" rIns="0" bIns="0" rtlCol="0" anchor="ctr"/>
          <a:lstStyle/>
          <a:p>
            <a:pPr marL="0" indent="0">
              <a:buNone/>
            </a:pPr>
            <a:r>
              <a:rPr lang="en-US" sz="1200" b="1" dirty="0">
                <a:solidFill>
                  <a:srgbClr val="0A5A62"/>
                </a:solidFill>
                <a:latin typeface="Calibri" pitchFamily="34" charset="0"/>
                <a:ea typeface="Calibri" pitchFamily="34" charset="-122"/>
                <a:cs typeface="Calibri" pitchFamily="34" charset="-120"/>
              </a:rPr>
              <a:t>Data platform engineering</a:t>
            </a:r>
            <a:endParaRPr lang="en-US" sz="1200" dirty="0"/>
          </a:p>
        </p:txBody>
      </p:sp>
      <p:sp>
        <p:nvSpPr>
          <p:cNvPr id="34" name="Shape 32"/>
          <p:cNvSpPr/>
          <p:nvPr/>
        </p:nvSpPr>
        <p:spPr>
          <a:xfrm>
            <a:off x="9111996" y="5274006"/>
            <a:ext cx="2253996" cy="457200"/>
          </a:xfrm>
          <a:prstGeom prst="roundRect">
            <a:avLst>
              <a:gd name="adj" fmla="val 12000"/>
            </a:avLst>
          </a:prstGeom>
          <a:solidFill>
            <a:srgbClr val="E5F3F4"/>
          </a:solidFill>
          <a:ln w="12700">
            <a:solidFill>
              <a:srgbClr val="BFE0E3"/>
            </a:solidFill>
            <a:prstDash val="solid"/>
          </a:ln>
        </p:spPr>
        <p:txBody>
          <a:bodyPr/>
          <a:lstStyle/>
          <a:p>
            <a:endParaRPr lang="en-US"/>
          </a:p>
        </p:txBody>
      </p:sp>
      <p:sp>
        <p:nvSpPr>
          <p:cNvPr id="35" name="Text 33"/>
          <p:cNvSpPr/>
          <p:nvPr/>
        </p:nvSpPr>
        <p:spPr>
          <a:xfrm>
            <a:off x="9221724" y="5274006"/>
            <a:ext cx="2052828" cy="457200"/>
          </a:xfrm>
          <a:prstGeom prst="rect">
            <a:avLst/>
          </a:prstGeom>
          <a:noFill/>
          <a:ln/>
        </p:spPr>
        <p:txBody>
          <a:bodyPr wrap="square" lIns="0" tIns="0" rIns="0" bIns="0" rtlCol="0" anchor="ctr"/>
          <a:lstStyle/>
          <a:p>
            <a:pPr marL="0" indent="0">
              <a:buNone/>
            </a:pPr>
            <a:r>
              <a:rPr lang="en-US" sz="1200" b="1" dirty="0">
                <a:solidFill>
                  <a:srgbClr val="0A5A62"/>
                </a:solidFill>
                <a:latin typeface="Calibri" pitchFamily="34" charset="0"/>
                <a:ea typeface="Calibri" pitchFamily="34" charset="-122"/>
                <a:cs typeface="Calibri" pitchFamily="34" charset="-120"/>
              </a:rPr>
              <a:t>Secure clinical AI</a:t>
            </a:r>
            <a:endParaRPr lang="en-US" sz="1200" dirty="0"/>
          </a:p>
        </p:txBody>
      </p:sp>
      <p:sp>
        <p:nvSpPr>
          <p:cNvPr id="36" name="Text 34"/>
          <p:cNvSpPr/>
          <p:nvPr/>
        </p:nvSpPr>
        <p:spPr>
          <a:xfrm>
            <a:off x="6675120" y="6160974"/>
            <a:ext cx="4690872" cy="411480"/>
          </a:xfrm>
          <a:prstGeom prst="rect">
            <a:avLst/>
          </a:prstGeom>
          <a:noFill/>
          <a:ln/>
        </p:spPr>
        <p:txBody>
          <a:bodyPr wrap="square" lIns="0" tIns="0" rIns="0" bIns="0" rtlCol="0" anchor="ctr"/>
          <a:lstStyle/>
          <a:p>
            <a:pPr marL="0" indent="0">
              <a:buNone/>
            </a:pPr>
            <a:r>
              <a:rPr lang="en-US" sz="1050" i="1" dirty="0">
                <a:solidFill>
                  <a:srgbClr val="6B7280"/>
                </a:solidFill>
                <a:latin typeface="Calibri" pitchFamily="34" charset="0"/>
                <a:ea typeface="Calibri" pitchFamily="34" charset="-122"/>
                <a:cs typeface="Calibri" pitchFamily="34" charset="-120"/>
              </a:rPr>
              <a:t>Built on Year 1–2 roadmap investments with the Center for Biomedical Informatics &amp; Health AI (BMIHAI).</a:t>
            </a:r>
            <a:endParaRPr lang="en-US" sz="1050" dirty="0"/>
          </a:p>
        </p:txBody>
      </p:sp>
      <p:pic>
        <p:nvPicPr>
          <p:cNvPr id="37" name="Picture 36">
            <a:extLst>
              <a:ext uri="{FF2B5EF4-FFF2-40B4-BE49-F238E27FC236}">
                <a16:creationId xmlns:a16="http://schemas.microsoft.com/office/drawing/2014/main" id="{84B69BE1-1A25-29C7-3872-255D7BD3CFFF}"/>
              </a:ext>
            </a:extLst>
          </p:cNvPr>
          <p:cNvPicPr>
            <a:picLocks noChangeAspect="1"/>
          </p:cNvPicPr>
          <p:nvPr/>
        </p:nvPicPr>
        <p:blipFill>
          <a:blip r:embed="rId3"/>
          <a:srcRect l="11578" t="5374" r="6261" b="34818"/>
          <a:stretch>
            <a:fillRect/>
          </a:stretch>
        </p:blipFill>
        <p:spPr>
          <a:xfrm>
            <a:off x="7193601" y="205301"/>
            <a:ext cx="1106084" cy="1210424"/>
          </a:xfrm>
          <a:prstGeom prst="rect">
            <a:avLst/>
          </a:prstGeom>
        </p:spPr>
      </p:pic>
      <p:sp>
        <p:nvSpPr>
          <p:cNvPr id="38" name="TextBox 37">
            <a:extLst>
              <a:ext uri="{FF2B5EF4-FFF2-40B4-BE49-F238E27FC236}">
                <a16:creationId xmlns:a16="http://schemas.microsoft.com/office/drawing/2014/main" id="{E487BA04-B51F-EB1B-F95C-CDD18CB656FE}"/>
              </a:ext>
            </a:extLst>
          </p:cNvPr>
          <p:cNvSpPr txBox="1"/>
          <p:nvPr/>
        </p:nvSpPr>
        <p:spPr>
          <a:xfrm>
            <a:off x="6925882" y="1396181"/>
            <a:ext cx="1641522" cy="338554"/>
          </a:xfrm>
          <a:prstGeom prst="rect">
            <a:avLst/>
          </a:prstGeom>
          <a:solidFill>
            <a:schemeClr val="bg1"/>
          </a:solidFill>
        </p:spPr>
        <p:txBody>
          <a:bodyPr wrap="square" rtlCol="0">
            <a:spAutoFit/>
          </a:bodyPr>
          <a:lstStyle/>
          <a:p>
            <a:r>
              <a:rPr lang="en-US" sz="1600" dirty="0" err="1"/>
              <a:t>Xutao</a:t>
            </a:r>
            <a:r>
              <a:rPr lang="en-US" sz="1600" dirty="0"/>
              <a:t> Wang, PhD</a:t>
            </a:r>
          </a:p>
        </p:txBody>
      </p:sp>
      <p:pic>
        <p:nvPicPr>
          <p:cNvPr id="40" name="Picture 39">
            <a:extLst>
              <a:ext uri="{FF2B5EF4-FFF2-40B4-BE49-F238E27FC236}">
                <a16:creationId xmlns:a16="http://schemas.microsoft.com/office/drawing/2014/main" id="{88612241-8137-352E-B750-81C4C0A04A89}"/>
              </a:ext>
            </a:extLst>
          </p:cNvPr>
          <p:cNvPicPr>
            <a:picLocks noChangeAspect="1"/>
          </p:cNvPicPr>
          <p:nvPr/>
        </p:nvPicPr>
        <p:blipFill>
          <a:blip r:embed="rId4"/>
          <a:srcRect l="8823" r="14885"/>
          <a:stretch>
            <a:fillRect/>
          </a:stretch>
        </p:blipFill>
        <p:spPr>
          <a:xfrm>
            <a:off x="9612877" y="220058"/>
            <a:ext cx="1216515" cy="1332672"/>
          </a:xfrm>
          <a:prstGeom prst="rect">
            <a:avLst/>
          </a:prstGeom>
        </p:spPr>
      </p:pic>
      <p:sp>
        <p:nvSpPr>
          <p:cNvPr id="41" name="TextBox 40">
            <a:extLst>
              <a:ext uri="{FF2B5EF4-FFF2-40B4-BE49-F238E27FC236}">
                <a16:creationId xmlns:a16="http://schemas.microsoft.com/office/drawing/2014/main" id="{65EA5DE9-265C-1A22-9CFA-E09925A16AE1}"/>
              </a:ext>
            </a:extLst>
          </p:cNvPr>
          <p:cNvSpPr txBox="1"/>
          <p:nvPr/>
        </p:nvSpPr>
        <p:spPr>
          <a:xfrm>
            <a:off x="9523667" y="1469388"/>
            <a:ext cx="1394934" cy="307777"/>
          </a:xfrm>
          <a:prstGeom prst="rect">
            <a:avLst/>
          </a:prstGeom>
          <a:noFill/>
        </p:spPr>
        <p:txBody>
          <a:bodyPr wrap="none" rtlCol="0">
            <a:spAutoFit/>
          </a:bodyPr>
          <a:lstStyle/>
          <a:p>
            <a:r>
              <a:rPr lang="en-US" sz="1400" b="1" dirty="0"/>
              <a:t>Solomon Joseph</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8463E84-52AD-110F-80B8-9883A1DFAC28}"/>
              </a:ext>
            </a:extLst>
          </p:cNvPr>
          <p:cNvSpPr>
            <a:spLocks noGrp="1"/>
          </p:cNvSpPr>
          <p:nvPr>
            <p:ph sz="quarter" idx="10"/>
          </p:nvPr>
        </p:nvSpPr>
        <p:spPr>
          <a:xfrm>
            <a:off x="226497" y="1061491"/>
            <a:ext cx="6919913" cy="4560887"/>
          </a:xfrm>
        </p:spPr>
        <p:txBody>
          <a:bodyPr/>
          <a:lstStyle/>
          <a:p>
            <a:r>
              <a:rPr lang="en-US" dirty="0"/>
              <a:t>Hedge Hog Principle</a:t>
            </a:r>
          </a:p>
          <a:p>
            <a:pPr lvl="1"/>
            <a:r>
              <a:rPr lang="en-US" dirty="0"/>
              <a:t>Interests, Skills, and Funding Opportunities are aligned at Rutgers</a:t>
            </a:r>
            <a:br>
              <a:rPr lang="en-US" dirty="0"/>
            </a:br>
            <a:endParaRPr lang="en-US" dirty="0"/>
          </a:p>
          <a:p>
            <a:r>
              <a:rPr lang="en-US" dirty="0"/>
              <a:t>Ethical Plus AI</a:t>
            </a:r>
          </a:p>
          <a:p>
            <a:pPr lvl="1"/>
            <a:r>
              <a:rPr lang="en-US" dirty="0"/>
              <a:t>Ethical/Responsible AI</a:t>
            </a:r>
          </a:p>
          <a:p>
            <a:pPr lvl="1"/>
            <a:r>
              <a:rPr lang="en-US" dirty="0"/>
              <a:t>Achieve synergy between AI and Humans through integration in </a:t>
            </a:r>
            <a:r>
              <a:rPr lang="en-US" i="1" dirty="0"/>
              <a:t>complex adaptive systems</a:t>
            </a:r>
            <a:r>
              <a:rPr lang="en-US" dirty="0"/>
              <a:t> (Kasparov’s Law)</a:t>
            </a:r>
          </a:p>
          <a:p>
            <a:pPr lvl="1"/>
            <a:r>
              <a:rPr lang="en-US" dirty="0"/>
              <a:t>Address deskilling/never skilling through use of </a:t>
            </a:r>
            <a:r>
              <a:rPr lang="en-US" i="1" dirty="0"/>
              <a:t>digital twins</a:t>
            </a:r>
          </a:p>
        </p:txBody>
      </p:sp>
      <p:sp>
        <p:nvSpPr>
          <p:cNvPr id="4" name="Title 3">
            <a:extLst>
              <a:ext uri="{FF2B5EF4-FFF2-40B4-BE49-F238E27FC236}">
                <a16:creationId xmlns:a16="http://schemas.microsoft.com/office/drawing/2014/main" id="{40A7F91D-0E6D-0A45-D9FC-F6D42CF42D2D}"/>
              </a:ext>
            </a:extLst>
          </p:cNvPr>
          <p:cNvSpPr>
            <a:spLocks noGrp="1"/>
          </p:cNvSpPr>
          <p:nvPr>
            <p:ph type="title"/>
          </p:nvPr>
        </p:nvSpPr>
        <p:spPr/>
        <p:txBody>
          <a:bodyPr/>
          <a:lstStyle/>
          <a:p>
            <a:r>
              <a:rPr lang="en-US" dirty="0"/>
              <a:t>Living Laboratories</a:t>
            </a:r>
          </a:p>
        </p:txBody>
      </p:sp>
    </p:spTree>
    <p:extLst>
      <p:ext uri="{BB962C8B-B14F-4D97-AF65-F5344CB8AC3E}">
        <p14:creationId xmlns:p14="http://schemas.microsoft.com/office/powerpoint/2010/main" val="23930348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88224-A355-AFBB-AF7E-0C910776EAE1}"/>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59AEAF83-ECDC-A13B-362B-CD2B6A9856AA}"/>
              </a:ext>
            </a:extLst>
          </p:cNvPr>
          <p:cNvSpPr/>
          <p:nvPr/>
        </p:nvSpPr>
        <p:spPr>
          <a:xfrm>
            <a:off x="1567487" y="2542033"/>
            <a:ext cx="3002044" cy="3419855"/>
          </a:xfrm>
          <a:prstGeom prst="roundRect">
            <a:avLst/>
          </a:prstGeom>
          <a:solidFill>
            <a:schemeClr val="bg1">
              <a:lumMod val="95000"/>
            </a:schemeClr>
          </a:solidFill>
          <a:ln>
            <a:solidFill>
              <a:schemeClr val="tx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r>
              <a:rPr kumimoji="0" 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Education &amp; Training</a:t>
            </a: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b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b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Cutting-edge degree programs, internships, and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specialized training in bioinformatics and AI to prepare the next generation of healthcare and biomedical professionals and </a:t>
            </a:r>
            <a:b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b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researchers.</a:t>
            </a:r>
            <a:endParaRPr kumimoji="0" lang="en-US" sz="18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p:txBody>
      </p:sp>
      <p:sp>
        <p:nvSpPr>
          <p:cNvPr id="11" name="Rectangle: Rounded Corners 10">
            <a:extLst>
              <a:ext uri="{FF2B5EF4-FFF2-40B4-BE49-F238E27FC236}">
                <a16:creationId xmlns:a16="http://schemas.microsoft.com/office/drawing/2014/main" id="{A8193661-9AF0-D247-9F68-D447C2730ABD}"/>
              </a:ext>
            </a:extLst>
          </p:cNvPr>
          <p:cNvSpPr/>
          <p:nvPr/>
        </p:nvSpPr>
        <p:spPr>
          <a:xfrm>
            <a:off x="5078565" y="2582165"/>
            <a:ext cx="2558634" cy="3419855"/>
          </a:xfrm>
          <a:prstGeom prst="roundRect">
            <a:avLst/>
          </a:prstGeom>
          <a:solidFill>
            <a:schemeClr val="bg1">
              <a:lumMod val="95000"/>
            </a:schemeClr>
          </a:solidFill>
          <a:ln>
            <a:solidFill>
              <a:schemeClr val="tx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lvl="0" algn="ctr">
              <a:defRPr/>
            </a:pPr>
            <a:r>
              <a:rPr lang="en-US" b="1" dirty="0">
                <a:solidFill>
                  <a:srgbClr val="000000"/>
                </a:solidFill>
                <a:latin typeface="Arial" panose="020B0604020202020204" pitchFamily="34" charset="0"/>
              </a:rPr>
              <a:t>Social-Technical Infrastructure:</a:t>
            </a: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Services that integrate clinical, educational, research, and commercial environments.</a:t>
            </a:r>
          </a:p>
          <a:p>
            <a:pPr lvl="0" algn="ctr">
              <a:defRPr/>
            </a:pPr>
            <a:endParaRPr kumimoji="0" lang="en-US" sz="18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2" name="Rectangle: Rounded Corners 11">
            <a:extLst>
              <a:ext uri="{FF2B5EF4-FFF2-40B4-BE49-F238E27FC236}">
                <a16:creationId xmlns:a16="http://schemas.microsoft.com/office/drawing/2014/main" id="{33C0230A-E053-4CFD-2122-5D13CED678B4}"/>
              </a:ext>
            </a:extLst>
          </p:cNvPr>
          <p:cNvSpPr/>
          <p:nvPr/>
        </p:nvSpPr>
        <p:spPr>
          <a:xfrm>
            <a:off x="8146233" y="2582165"/>
            <a:ext cx="2558635" cy="3419855"/>
          </a:xfrm>
          <a:prstGeom prst="roundRect">
            <a:avLst/>
          </a:prstGeom>
          <a:solidFill>
            <a:schemeClr val="accent2">
              <a:lumMod val="20000"/>
              <a:lumOff val="80000"/>
            </a:schemeClr>
          </a:solidFill>
          <a:ln>
            <a:solidFill>
              <a:schemeClr val="tx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Research &amp; Innovation</a:t>
            </a: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b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b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Driving research that leverages AI and </a:t>
            </a:r>
            <a:b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b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machine learning to develop new insights, enhance diagnostics, and </a:t>
            </a:r>
            <a:b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b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improve health </a:t>
            </a:r>
            <a:b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b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outcomes.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EF717F3E-7E9C-1E84-A8B9-C2BBCB9689EE}"/>
              </a:ext>
            </a:extLst>
          </p:cNvPr>
          <p:cNvSpPr>
            <a:spLocks noGrp="1"/>
          </p:cNvSpPr>
          <p:nvPr>
            <p:ph type="title"/>
          </p:nvPr>
        </p:nvSpPr>
        <p:spPr>
          <a:xfrm>
            <a:off x="2294329" y="341454"/>
            <a:ext cx="10515600" cy="1325563"/>
          </a:xfrm>
        </p:spPr>
        <p:txBody>
          <a:bodyPr/>
          <a:lstStyle/>
          <a:p>
            <a:pPr algn="ctr"/>
            <a:r>
              <a:rPr lang="en-US" dirty="0"/>
              <a:t>Foundational Pillars </a:t>
            </a:r>
            <a:br>
              <a:rPr lang="en-US" dirty="0"/>
            </a:br>
            <a:r>
              <a:rPr lang="en-US" dirty="0"/>
              <a:t>of BMIHAI</a:t>
            </a:r>
          </a:p>
        </p:txBody>
      </p:sp>
      <p:pic>
        <p:nvPicPr>
          <p:cNvPr id="3" name="Picture 2">
            <a:extLst>
              <a:ext uri="{FF2B5EF4-FFF2-40B4-BE49-F238E27FC236}">
                <a16:creationId xmlns:a16="http://schemas.microsoft.com/office/drawing/2014/main" id="{E9C74138-4EAD-FB0D-D8FE-3604D4F1D918}"/>
              </a:ext>
            </a:extLst>
          </p:cNvPr>
          <p:cNvPicPr>
            <a:picLocks noChangeAspect="1"/>
          </p:cNvPicPr>
          <p:nvPr/>
        </p:nvPicPr>
        <p:blipFill>
          <a:blip r:embed="rId2"/>
          <a:stretch>
            <a:fillRect/>
          </a:stretch>
        </p:blipFill>
        <p:spPr>
          <a:xfrm>
            <a:off x="564187" y="194278"/>
            <a:ext cx="2884932" cy="1923288"/>
          </a:xfrm>
          <a:prstGeom prst="rect">
            <a:avLst/>
          </a:prstGeom>
        </p:spPr>
      </p:pic>
    </p:spTree>
    <p:extLst>
      <p:ext uri="{BB962C8B-B14F-4D97-AF65-F5344CB8AC3E}">
        <p14:creationId xmlns:p14="http://schemas.microsoft.com/office/powerpoint/2010/main" val="15177421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D6693-F63E-38B2-D0F4-826B7ED218C2}"/>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90866B19-DD9A-6682-397B-6B36B7CA77CE}"/>
              </a:ext>
            </a:extLst>
          </p:cNvPr>
          <p:cNvGrpSpPr/>
          <p:nvPr/>
        </p:nvGrpSpPr>
        <p:grpSpPr>
          <a:xfrm>
            <a:off x="762503" y="1346723"/>
            <a:ext cx="4010900" cy="3828597"/>
            <a:chOff x="3971726" y="1433761"/>
            <a:chExt cx="3638946" cy="3446923"/>
          </a:xfrm>
        </p:grpSpPr>
        <p:sp>
          <p:nvSpPr>
            <p:cNvPr id="10" name="Oval 9">
              <a:extLst>
                <a:ext uri="{FF2B5EF4-FFF2-40B4-BE49-F238E27FC236}">
                  <a16:creationId xmlns:a16="http://schemas.microsoft.com/office/drawing/2014/main" id="{060584B7-6486-B9B5-EB42-451A41820693}"/>
                </a:ext>
              </a:extLst>
            </p:cNvPr>
            <p:cNvSpPr/>
            <p:nvPr/>
          </p:nvSpPr>
          <p:spPr>
            <a:xfrm>
              <a:off x="3971726" y="1433761"/>
              <a:ext cx="3638946" cy="3446923"/>
            </a:xfrm>
            <a:prstGeom prst="ellipse">
              <a:avLst/>
            </a:prstGeom>
            <a:blipFill rotWithShape="0">
              <a:blip r:embed="rId2"/>
              <a:stretch>
                <a:fillRect/>
              </a:stretch>
            </a:blipFill>
          </p:spPr>
          <p:style>
            <a:lnRef idx="0">
              <a:schemeClr val="lt1">
                <a:hueOff val="0"/>
                <a:satOff val="0"/>
                <a:lumOff val="0"/>
                <a:alphaOff val="0"/>
              </a:schemeClr>
            </a:lnRef>
            <a:fillRef idx="3">
              <a:scrgbClr r="0" g="0" b="0"/>
            </a:fillRef>
            <a:effectRef idx="0">
              <a:schemeClr val="accent2">
                <a:alpha val="50000"/>
                <a:hueOff val="0"/>
                <a:satOff val="0"/>
                <a:lumOff val="0"/>
                <a:alphaOff val="0"/>
              </a:schemeClr>
            </a:effectRef>
            <a:fontRef idx="minor">
              <a:schemeClr val="tx1"/>
            </a:fontRef>
          </p:style>
          <p:txBody>
            <a:bodyPr/>
            <a:lstStyle/>
            <a:p>
              <a:endParaRPr lang="en-US"/>
            </a:p>
          </p:txBody>
        </p:sp>
        <p:sp>
          <p:nvSpPr>
            <p:cNvPr id="11" name="Oval 4">
              <a:extLst>
                <a:ext uri="{FF2B5EF4-FFF2-40B4-BE49-F238E27FC236}">
                  <a16:creationId xmlns:a16="http://schemas.microsoft.com/office/drawing/2014/main" id="{E5866F4D-0E12-1FB1-9008-5671CA836E8D}"/>
                </a:ext>
              </a:extLst>
            </p:cNvPr>
            <p:cNvSpPr txBox="1"/>
            <p:nvPr/>
          </p:nvSpPr>
          <p:spPr>
            <a:xfrm>
              <a:off x="4504637" y="1938551"/>
              <a:ext cx="2573124" cy="2437343"/>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br>
                <a:rPr lang="en-US" sz="2900" kern="1200" dirty="0"/>
              </a:br>
              <a:endParaRPr lang="en-US" sz="2900" kern="1200" dirty="0"/>
            </a:p>
          </p:txBody>
        </p:sp>
      </p:grpSp>
      <p:sp>
        <p:nvSpPr>
          <p:cNvPr id="3" name="TextBox 2">
            <a:extLst>
              <a:ext uri="{FF2B5EF4-FFF2-40B4-BE49-F238E27FC236}">
                <a16:creationId xmlns:a16="http://schemas.microsoft.com/office/drawing/2014/main" id="{E99ED3BA-0034-B73F-9DB8-C8F54AC2FBB6}"/>
              </a:ext>
            </a:extLst>
          </p:cNvPr>
          <p:cNvSpPr txBox="1"/>
          <p:nvPr/>
        </p:nvSpPr>
        <p:spPr>
          <a:xfrm>
            <a:off x="478168" y="5151672"/>
            <a:ext cx="4007315" cy="830997"/>
          </a:xfrm>
          <a:prstGeom prst="rect">
            <a:avLst/>
          </a:prstGeom>
          <a:noFill/>
        </p:spPr>
        <p:txBody>
          <a:bodyPr wrap="none" rtlCol="0">
            <a:spAutoFit/>
          </a:bodyPr>
          <a:lstStyle/>
          <a:p>
            <a:r>
              <a:rPr lang="en-US" sz="2400" dirty="0"/>
              <a:t>An AI-enabled Learning </a:t>
            </a:r>
            <a:br>
              <a:rPr lang="en-US" sz="2400" dirty="0"/>
            </a:br>
            <a:r>
              <a:rPr lang="en-US" sz="2400" dirty="0"/>
              <a:t>Health and Research System</a:t>
            </a:r>
          </a:p>
        </p:txBody>
      </p:sp>
      <p:pic>
        <p:nvPicPr>
          <p:cNvPr id="12" name="Picture 11" descr="A person standing in front of a computer screen&#10;&#10;AI-generated content may be incorrect.">
            <a:extLst>
              <a:ext uri="{FF2B5EF4-FFF2-40B4-BE49-F238E27FC236}">
                <a16:creationId xmlns:a16="http://schemas.microsoft.com/office/drawing/2014/main" id="{F00BB4DC-FDCF-E23C-65F3-E2679E11CB3F}"/>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7194177" y="1605031"/>
            <a:ext cx="3647938" cy="3647938"/>
          </a:xfrm>
          <a:prstGeom prst="rect">
            <a:avLst/>
          </a:prstGeom>
        </p:spPr>
      </p:pic>
      <p:sp>
        <p:nvSpPr>
          <p:cNvPr id="13" name="TextBox 12">
            <a:extLst>
              <a:ext uri="{FF2B5EF4-FFF2-40B4-BE49-F238E27FC236}">
                <a16:creationId xmlns:a16="http://schemas.microsoft.com/office/drawing/2014/main" id="{B8641619-117A-0EEE-62F6-F6345DD58CB7}"/>
              </a:ext>
            </a:extLst>
          </p:cNvPr>
          <p:cNvSpPr txBox="1"/>
          <p:nvPr/>
        </p:nvSpPr>
        <p:spPr>
          <a:xfrm>
            <a:off x="6632524" y="5197054"/>
            <a:ext cx="4277966" cy="830997"/>
          </a:xfrm>
          <a:prstGeom prst="rect">
            <a:avLst/>
          </a:prstGeom>
          <a:noFill/>
        </p:spPr>
        <p:txBody>
          <a:bodyPr wrap="none" rtlCol="0">
            <a:spAutoFit/>
          </a:bodyPr>
          <a:lstStyle/>
          <a:p>
            <a:r>
              <a:rPr lang="en-US" sz="2400" dirty="0"/>
              <a:t>An AI-enabled Medical</a:t>
            </a:r>
            <a:br>
              <a:rPr lang="en-US" sz="2400" dirty="0"/>
            </a:br>
            <a:r>
              <a:rPr lang="en-US" sz="2400" dirty="0"/>
              <a:t>and Science Education System</a:t>
            </a:r>
          </a:p>
        </p:txBody>
      </p:sp>
      <p:pic>
        <p:nvPicPr>
          <p:cNvPr id="17" name="Picture 16" descr="A logo of a bridge&#10;&#10;AI-generated content may be incorrect.">
            <a:extLst>
              <a:ext uri="{FF2B5EF4-FFF2-40B4-BE49-F238E27FC236}">
                <a16:creationId xmlns:a16="http://schemas.microsoft.com/office/drawing/2014/main" id="{0E8B1816-54EF-6952-E4E4-CE352E93B49F}"/>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97822" y="2843973"/>
            <a:ext cx="1996356" cy="1074822"/>
          </a:xfrm>
          <a:prstGeom prst="rect">
            <a:avLst/>
          </a:prstGeom>
        </p:spPr>
      </p:pic>
      <p:sp>
        <p:nvSpPr>
          <p:cNvPr id="18" name="TextBox 17">
            <a:extLst>
              <a:ext uri="{FF2B5EF4-FFF2-40B4-BE49-F238E27FC236}">
                <a16:creationId xmlns:a16="http://schemas.microsoft.com/office/drawing/2014/main" id="{F25AC92B-B772-259C-8A53-955607E2B2AF}"/>
              </a:ext>
            </a:extLst>
          </p:cNvPr>
          <p:cNvSpPr txBox="1"/>
          <p:nvPr/>
        </p:nvSpPr>
        <p:spPr>
          <a:xfrm>
            <a:off x="4860067" y="1928779"/>
            <a:ext cx="2048959" cy="830997"/>
          </a:xfrm>
          <a:prstGeom prst="rect">
            <a:avLst/>
          </a:prstGeom>
          <a:noFill/>
        </p:spPr>
        <p:txBody>
          <a:bodyPr wrap="none" rtlCol="0">
            <a:spAutoFit/>
          </a:bodyPr>
          <a:lstStyle/>
          <a:p>
            <a:pPr algn="ctr"/>
            <a:r>
              <a:rPr lang="en-US" sz="2400" b="1" dirty="0"/>
              <a:t>Living </a:t>
            </a:r>
            <a:br>
              <a:rPr lang="en-US" sz="2400" b="1" dirty="0"/>
            </a:br>
            <a:r>
              <a:rPr lang="en-US" sz="2400" b="1" dirty="0"/>
              <a:t>Laboratories</a:t>
            </a:r>
          </a:p>
        </p:txBody>
      </p:sp>
      <p:sp>
        <p:nvSpPr>
          <p:cNvPr id="19" name="TextBox 18">
            <a:extLst>
              <a:ext uri="{FF2B5EF4-FFF2-40B4-BE49-F238E27FC236}">
                <a16:creationId xmlns:a16="http://schemas.microsoft.com/office/drawing/2014/main" id="{DF8E446A-D4F3-A568-7FAE-99A2E1C26567}"/>
              </a:ext>
            </a:extLst>
          </p:cNvPr>
          <p:cNvSpPr txBox="1"/>
          <p:nvPr/>
        </p:nvSpPr>
        <p:spPr>
          <a:xfrm>
            <a:off x="5356477" y="4002993"/>
            <a:ext cx="1208985" cy="830997"/>
          </a:xfrm>
          <a:prstGeom prst="rect">
            <a:avLst/>
          </a:prstGeom>
          <a:noFill/>
        </p:spPr>
        <p:txBody>
          <a:bodyPr wrap="none" rtlCol="0">
            <a:spAutoFit/>
          </a:bodyPr>
          <a:lstStyle/>
          <a:p>
            <a:r>
              <a:rPr lang="en-US" sz="2400" b="1" dirty="0"/>
              <a:t>Digital </a:t>
            </a:r>
            <a:br>
              <a:rPr lang="en-US" sz="2400" b="1" dirty="0"/>
            </a:br>
            <a:r>
              <a:rPr lang="en-US" sz="2400" b="1" dirty="0"/>
              <a:t>Twins</a:t>
            </a:r>
          </a:p>
        </p:txBody>
      </p:sp>
      <p:sp>
        <p:nvSpPr>
          <p:cNvPr id="5" name="Title 4">
            <a:extLst>
              <a:ext uri="{FF2B5EF4-FFF2-40B4-BE49-F238E27FC236}">
                <a16:creationId xmlns:a16="http://schemas.microsoft.com/office/drawing/2014/main" id="{D2D4CB18-51FE-19B1-E292-C48D5713B257}"/>
              </a:ext>
            </a:extLst>
          </p:cNvPr>
          <p:cNvSpPr>
            <a:spLocks noGrp="1"/>
          </p:cNvSpPr>
          <p:nvPr>
            <p:ph type="title"/>
          </p:nvPr>
        </p:nvSpPr>
        <p:spPr>
          <a:xfrm>
            <a:off x="342283" y="93973"/>
            <a:ext cx="10515600" cy="1325563"/>
          </a:xfrm>
        </p:spPr>
        <p:txBody>
          <a:bodyPr/>
          <a:lstStyle/>
          <a:p>
            <a:r>
              <a:rPr lang="en-US" dirty="0"/>
              <a:t>Targeted recruitment into transformative</a:t>
            </a:r>
            <a:br>
              <a:rPr lang="en-US" dirty="0"/>
            </a:br>
            <a:r>
              <a:rPr lang="en-US" dirty="0"/>
              <a:t>research programs</a:t>
            </a:r>
          </a:p>
        </p:txBody>
      </p:sp>
    </p:spTree>
    <p:extLst>
      <p:ext uri="{BB962C8B-B14F-4D97-AF65-F5344CB8AC3E}">
        <p14:creationId xmlns:p14="http://schemas.microsoft.com/office/powerpoint/2010/main" val="21674221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9962B-CAA9-2B95-E543-F5561F29004D}"/>
              </a:ext>
            </a:extLst>
          </p:cNvPr>
          <p:cNvSpPr>
            <a:spLocks noGrp="1"/>
          </p:cNvSpPr>
          <p:nvPr>
            <p:ph type="title" idx="4294967295"/>
          </p:nvPr>
        </p:nvSpPr>
        <p:spPr>
          <a:xfrm>
            <a:off x="0" y="0"/>
            <a:ext cx="0" cy="0"/>
          </a:xfrm>
        </p:spPr>
        <p:txBody>
          <a:bodyPr>
            <a:noAutofit/>
          </a:bodyPr>
          <a:lstStyle/>
          <a:p>
            <a:r>
              <a:rPr lang="en-US" sz="3600" dirty="0"/>
              <a:t> The AI co-scientist (Google): AI masters </a:t>
            </a:r>
            <a:br>
              <a:rPr lang="en-US" sz="3600" dirty="0"/>
            </a:br>
            <a:r>
              <a:rPr lang="en-US" sz="3600" dirty="0"/>
              <a:t> the meta-processes of science to become a </a:t>
            </a:r>
            <a:r>
              <a:rPr lang="en-US" sz="3600" i="1" dirty="0"/>
              <a:t>team member</a:t>
            </a:r>
            <a:endParaRPr lang="en-US" sz="3600" dirty="0"/>
          </a:p>
        </p:txBody>
      </p:sp>
      <p:pic>
        <p:nvPicPr>
          <p:cNvPr id="6" name="Picture 5" descr="A diagram of research process&#10;&#10;AI-generated content may be incorrect.">
            <a:extLst>
              <a:ext uri="{FF2B5EF4-FFF2-40B4-BE49-F238E27FC236}">
                <a16:creationId xmlns:a16="http://schemas.microsoft.com/office/drawing/2014/main" id="{B82F9A25-E1AD-E2C8-BDC9-1654115867C4}"/>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25772" y="1262743"/>
            <a:ext cx="9773713" cy="4660106"/>
          </a:xfrm>
          <a:prstGeom prst="rect">
            <a:avLst/>
          </a:prstGeom>
        </p:spPr>
      </p:pic>
      <p:sp>
        <p:nvSpPr>
          <p:cNvPr id="3" name="TextBox 2">
            <a:extLst>
              <a:ext uri="{FF2B5EF4-FFF2-40B4-BE49-F238E27FC236}">
                <a16:creationId xmlns:a16="http://schemas.microsoft.com/office/drawing/2014/main" id="{8DC39FDF-B3F5-13E1-6CE4-4A0BE805DD03}"/>
              </a:ext>
            </a:extLst>
          </p:cNvPr>
          <p:cNvSpPr txBox="1"/>
          <p:nvPr/>
        </p:nvSpPr>
        <p:spPr>
          <a:xfrm>
            <a:off x="3701143" y="6097084"/>
            <a:ext cx="3206712" cy="369332"/>
          </a:xfrm>
          <a:prstGeom prst="rect">
            <a:avLst/>
          </a:prstGeom>
          <a:noFill/>
        </p:spPr>
        <p:txBody>
          <a:bodyPr wrap="none" rtlCol="0">
            <a:spAutoFit/>
          </a:bodyPr>
          <a:lstStyle/>
          <a:p>
            <a:r>
              <a:rPr lang="en-US" dirty="0"/>
              <a:t>Digital twin of lab-based science</a:t>
            </a:r>
          </a:p>
        </p:txBody>
      </p:sp>
    </p:spTree>
    <p:extLst>
      <p:ext uri="{BB962C8B-B14F-4D97-AF65-F5344CB8AC3E}">
        <p14:creationId xmlns:p14="http://schemas.microsoft.com/office/powerpoint/2010/main" val="29011116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10896"/>
            <a:ext cx="3840480" cy="402336"/>
          </a:xfrm>
          <a:prstGeom prst="rect">
            <a:avLst/>
          </a:prstGeom>
          <a:noFill/>
          <a:ln/>
        </p:spPr>
        <p:txBody>
          <a:bodyPr wrap="square" lIns="0" tIns="0" rIns="0" bIns="0" rtlCol="0" anchor="ctr"/>
          <a:lstStyle/>
          <a:p>
            <a:pPr marL="0" indent="0" algn="ctr">
              <a:buNone/>
            </a:pPr>
            <a:r>
              <a:rPr lang="en-US" sz="2700" b="1" kern="0" spc="80" dirty="0">
                <a:solidFill>
                  <a:srgbClr val="004885"/>
                </a:solidFill>
                <a:latin typeface="Calibri" pitchFamily="34" charset="0"/>
                <a:ea typeface="Calibri" pitchFamily="34" charset="-122"/>
                <a:cs typeface="Calibri" pitchFamily="34" charset="-120"/>
              </a:rPr>
              <a:t>ROBOTIC SURGERY</a:t>
            </a:r>
            <a:endParaRPr lang="en-US" sz="2700" dirty="0"/>
          </a:p>
        </p:txBody>
      </p:sp>
      <p:sp>
        <p:nvSpPr>
          <p:cNvPr id="3" name="Text 1"/>
          <p:cNvSpPr txBox="1"/>
          <p:nvPr/>
        </p:nvSpPr>
        <p:spPr>
          <a:xfrm>
            <a:off x="502920" y="694944"/>
            <a:ext cx="3840480" cy="402336"/>
          </a:xfrm>
          <a:prstGeom prst="rect">
            <a:avLst/>
          </a:prstGeom>
          <a:noFill/>
          <a:ln/>
        </p:spPr>
        <p:txBody>
          <a:bodyPr wrap="square" lIns="0" tIns="0" rIns="0" bIns="0" rtlCol="0" anchor="ctr"/>
          <a:lstStyle/>
          <a:p>
            <a:pPr marL="0" indent="0" algn="ctr">
              <a:buNone/>
            </a:pPr>
            <a:r>
              <a:rPr lang="en-US" sz="2300" b="1" kern="0" spc="60" dirty="0">
                <a:solidFill>
                  <a:srgbClr val="C00000"/>
                </a:solidFill>
                <a:latin typeface="Calibri" pitchFamily="34" charset="0"/>
                <a:ea typeface="Calibri" pitchFamily="34" charset="-122"/>
                <a:cs typeface="Calibri" pitchFamily="34" charset="-120"/>
              </a:rPr>
              <a:t>WHERE NEED IS GREATEST</a:t>
            </a:r>
            <a:endParaRPr lang="en-US" sz="2300" dirty="0"/>
          </a:p>
        </p:txBody>
      </p:sp>
      <p:sp>
        <p:nvSpPr>
          <p:cNvPr id="4" name="Text 2"/>
          <p:cNvSpPr txBox="1"/>
          <p:nvPr/>
        </p:nvSpPr>
        <p:spPr>
          <a:xfrm>
            <a:off x="502920" y="1152144"/>
            <a:ext cx="3840480" cy="182880"/>
          </a:xfrm>
          <a:prstGeom prst="rect">
            <a:avLst/>
          </a:prstGeom>
          <a:noFill/>
          <a:ln/>
        </p:spPr>
        <p:txBody>
          <a:bodyPr wrap="square" lIns="0" tIns="0" rIns="0" bIns="0" rtlCol="0" anchor="ctr"/>
          <a:lstStyle/>
          <a:p>
            <a:pPr marL="0" indent="0" algn="ctr">
              <a:buNone/>
            </a:pPr>
            <a:r>
              <a:rPr lang="en-US" sz="800" b="1" kern="0" spc="120" dirty="0">
                <a:solidFill>
                  <a:srgbClr val="8496A8"/>
                </a:solidFill>
                <a:latin typeface="Calibri" pitchFamily="34" charset="0"/>
                <a:ea typeface="Calibri" pitchFamily="34" charset="-122"/>
                <a:cs typeface="Calibri" pitchFamily="34" charset="-120"/>
              </a:rPr>
              <a:t>WITHIN 10 MILES OF A ROBOTIC SURGERY PROGRAM</a:t>
            </a:r>
            <a:endParaRPr lang="en-US" sz="800" dirty="0"/>
          </a:p>
        </p:txBody>
      </p:sp>
      <p:sp>
        <p:nvSpPr>
          <p:cNvPr id="5" name="Shape 3"/>
          <p:cNvSpPr/>
          <p:nvPr/>
        </p:nvSpPr>
        <p:spPr>
          <a:xfrm>
            <a:off x="502920" y="1371600"/>
            <a:ext cx="1865376" cy="932688"/>
          </a:xfrm>
          <a:prstGeom prst="roundRect">
            <a:avLst>
              <a:gd name="adj" fmla="val 8824"/>
            </a:avLst>
          </a:prstGeom>
          <a:solidFill>
            <a:srgbClr val="FFFFFF"/>
          </a:solidFill>
          <a:ln w="12700">
            <a:solidFill>
              <a:srgbClr val="D2DEE9"/>
            </a:solidFill>
            <a:prstDash val="solid"/>
          </a:ln>
          <a:effectLst>
            <a:outerShdw blurRad="88900" dist="19050" dir="5400000" algn="bl" rotWithShape="0">
              <a:srgbClr val="7D97B0">
                <a:alpha val="22000"/>
              </a:srgbClr>
            </a:outerShdw>
          </a:effectLst>
        </p:spPr>
        <p:txBody>
          <a:bodyPr/>
          <a:lstStyle/>
          <a:p>
            <a:endParaRPr lang="en-US"/>
          </a:p>
        </p:txBody>
      </p:sp>
      <p:sp>
        <p:nvSpPr>
          <p:cNvPr id="6" name="Text 4"/>
          <p:cNvSpPr txBox="1"/>
          <p:nvPr/>
        </p:nvSpPr>
        <p:spPr>
          <a:xfrm>
            <a:off x="502920" y="1463040"/>
            <a:ext cx="1865376" cy="420624"/>
          </a:xfrm>
          <a:prstGeom prst="rect">
            <a:avLst/>
          </a:prstGeom>
          <a:noFill/>
          <a:ln/>
        </p:spPr>
        <p:txBody>
          <a:bodyPr wrap="square" lIns="0" tIns="0" rIns="0" bIns="0" rtlCol="0" anchor="ctr"/>
          <a:lstStyle/>
          <a:p>
            <a:pPr marL="0" indent="0" algn="ctr">
              <a:buNone/>
            </a:pPr>
            <a:r>
              <a:rPr lang="en-US" sz="3100" b="1" dirty="0">
                <a:solidFill>
                  <a:srgbClr val="004885"/>
                </a:solidFill>
                <a:latin typeface="Calibri" pitchFamily="34" charset="0"/>
                <a:ea typeface="Calibri" pitchFamily="34" charset="-122"/>
                <a:cs typeface="Calibri" pitchFamily="34" charset="-120"/>
              </a:rPr>
              <a:t>79%</a:t>
            </a:r>
            <a:endParaRPr lang="en-US" sz="3100" dirty="0"/>
          </a:p>
        </p:txBody>
      </p:sp>
      <p:sp>
        <p:nvSpPr>
          <p:cNvPr id="7" name="Text 5"/>
          <p:cNvSpPr txBox="1"/>
          <p:nvPr/>
        </p:nvSpPr>
        <p:spPr>
          <a:xfrm>
            <a:off x="594360" y="1892808"/>
            <a:ext cx="1682496" cy="347472"/>
          </a:xfrm>
          <a:prstGeom prst="rect">
            <a:avLst/>
          </a:prstGeom>
          <a:noFill/>
          <a:ln/>
        </p:spPr>
        <p:txBody>
          <a:bodyPr wrap="square" lIns="0" tIns="0" rIns="0" bIns="0" rtlCol="0" anchor="t"/>
          <a:lstStyle/>
          <a:p>
            <a:pPr marL="0" indent="0" algn="ctr">
              <a:lnSpc>
                <a:spcPts val="1050"/>
              </a:lnSpc>
              <a:buNone/>
            </a:pPr>
            <a:r>
              <a:rPr lang="en-US" sz="850" dirty="0">
                <a:solidFill>
                  <a:srgbClr val="5C7089"/>
                </a:solidFill>
                <a:latin typeface="Calibri" pitchFamily="34" charset="0"/>
                <a:ea typeface="Calibri" pitchFamily="34" charset="-122"/>
                <a:cs typeface="Calibri" pitchFamily="34" charset="-120"/>
              </a:rPr>
              <a:t>in New Jersey’s most socially vulnerable communities</a:t>
            </a:r>
            <a:endParaRPr lang="en-US" sz="850" dirty="0"/>
          </a:p>
        </p:txBody>
      </p:sp>
      <p:sp>
        <p:nvSpPr>
          <p:cNvPr id="8" name="Shape 6"/>
          <p:cNvSpPr/>
          <p:nvPr/>
        </p:nvSpPr>
        <p:spPr>
          <a:xfrm>
            <a:off x="2478024" y="1371600"/>
            <a:ext cx="1865376" cy="932688"/>
          </a:xfrm>
          <a:prstGeom prst="roundRect">
            <a:avLst>
              <a:gd name="adj" fmla="val 8824"/>
            </a:avLst>
          </a:prstGeom>
          <a:solidFill>
            <a:srgbClr val="FFFFFF"/>
          </a:solidFill>
          <a:ln w="12700">
            <a:solidFill>
              <a:srgbClr val="D2DEE9"/>
            </a:solidFill>
            <a:prstDash val="solid"/>
          </a:ln>
          <a:effectLst>
            <a:outerShdw blurRad="88900" dist="19050" dir="5400000" algn="bl" rotWithShape="0">
              <a:srgbClr val="7D97B0">
                <a:alpha val="22000"/>
              </a:srgbClr>
            </a:outerShdw>
          </a:effectLst>
        </p:spPr>
        <p:txBody>
          <a:bodyPr/>
          <a:lstStyle/>
          <a:p>
            <a:endParaRPr lang="en-US"/>
          </a:p>
        </p:txBody>
      </p:sp>
      <p:sp>
        <p:nvSpPr>
          <p:cNvPr id="9" name="Text 7"/>
          <p:cNvSpPr txBox="1"/>
          <p:nvPr/>
        </p:nvSpPr>
        <p:spPr>
          <a:xfrm>
            <a:off x="2478024" y="1463040"/>
            <a:ext cx="1865376" cy="420624"/>
          </a:xfrm>
          <a:prstGeom prst="rect">
            <a:avLst/>
          </a:prstGeom>
          <a:noFill/>
          <a:ln/>
        </p:spPr>
        <p:txBody>
          <a:bodyPr wrap="square" lIns="0" tIns="0" rIns="0" bIns="0" rtlCol="0" anchor="ctr"/>
          <a:lstStyle/>
          <a:p>
            <a:pPr marL="0" indent="0" algn="ctr">
              <a:buNone/>
            </a:pPr>
            <a:r>
              <a:rPr lang="en-US" sz="3100" b="1" dirty="0">
                <a:solidFill>
                  <a:srgbClr val="5C7089"/>
                </a:solidFill>
                <a:latin typeface="Calibri" pitchFamily="34" charset="0"/>
                <a:ea typeface="Calibri" pitchFamily="34" charset="-122"/>
                <a:cs typeface="Calibri" pitchFamily="34" charset="-120"/>
              </a:rPr>
              <a:t>60%</a:t>
            </a:r>
            <a:endParaRPr lang="en-US" sz="3100" dirty="0"/>
          </a:p>
        </p:txBody>
      </p:sp>
      <p:sp>
        <p:nvSpPr>
          <p:cNvPr id="10" name="Text 8"/>
          <p:cNvSpPr txBox="1"/>
          <p:nvPr/>
        </p:nvSpPr>
        <p:spPr>
          <a:xfrm>
            <a:off x="2569464" y="1892808"/>
            <a:ext cx="1682496" cy="347472"/>
          </a:xfrm>
          <a:prstGeom prst="rect">
            <a:avLst/>
          </a:prstGeom>
          <a:noFill/>
          <a:ln/>
        </p:spPr>
        <p:txBody>
          <a:bodyPr wrap="square" lIns="0" tIns="0" rIns="0" bIns="0" rtlCol="0" anchor="t"/>
          <a:lstStyle/>
          <a:p>
            <a:pPr marL="0" indent="0" algn="ctr">
              <a:lnSpc>
                <a:spcPts val="1050"/>
              </a:lnSpc>
              <a:buNone/>
            </a:pPr>
            <a:r>
              <a:rPr lang="en-US" sz="850" dirty="0">
                <a:solidFill>
                  <a:srgbClr val="5C7089"/>
                </a:solidFill>
                <a:latin typeface="Calibri" pitchFamily="34" charset="0"/>
                <a:ea typeface="Calibri" pitchFamily="34" charset="-122"/>
                <a:cs typeface="Calibri" pitchFamily="34" charset="-120"/>
              </a:rPr>
              <a:t>of New Jersey residents overall</a:t>
            </a:r>
            <a:endParaRPr lang="en-US" sz="850" dirty="0"/>
          </a:p>
        </p:txBody>
      </p:sp>
      <p:sp>
        <p:nvSpPr>
          <p:cNvPr id="11" name="Shape 9"/>
          <p:cNvSpPr/>
          <p:nvPr/>
        </p:nvSpPr>
        <p:spPr>
          <a:xfrm>
            <a:off x="502920" y="2395728"/>
            <a:ext cx="1865376" cy="630936"/>
          </a:xfrm>
          <a:prstGeom prst="roundRect">
            <a:avLst>
              <a:gd name="adj" fmla="val 11594"/>
            </a:avLst>
          </a:prstGeom>
          <a:solidFill>
            <a:srgbClr val="FFFFFF"/>
          </a:solidFill>
          <a:ln w="12700">
            <a:solidFill>
              <a:srgbClr val="D2DEE9"/>
            </a:solidFill>
            <a:prstDash val="solid"/>
          </a:ln>
          <a:effectLst>
            <a:outerShdw blurRad="88900" dist="19050" dir="5400000" algn="bl" rotWithShape="0">
              <a:srgbClr val="7D97B0">
                <a:alpha val="22000"/>
              </a:srgbClr>
            </a:outerShdw>
          </a:effectLst>
        </p:spPr>
        <p:txBody>
          <a:bodyPr/>
          <a:lstStyle/>
          <a:p>
            <a:endParaRPr lang="en-US"/>
          </a:p>
        </p:txBody>
      </p:sp>
      <p:sp>
        <p:nvSpPr>
          <p:cNvPr id="12" name="Text 10"/>
          <p:cNvSpPr txBox="1"/>
          <p:nvPr/>
        </p:nvSpPr>
        <p:spPr>
          <a:xfrm>
            <a:off x="502920" y="2441448"/>
            <a:ext cx="1865376" cy="274320"/>
          </a:xfrm>
          <a:prstGeom prst="rect">
            <a:avLst/>
          </a:prstGeom>
          <a:noFill/>
          <a:ln/>
        </p:spPr>
        <p:txBody>
          <a:bodyPr wrap="square" lIns="0" tIns="0" rIns="0" bIns="0" rtlCol="0" anchor="ctr"/>
          <a:lstStyle/>
          <a:p>
            <a:pPr marL="0" indent="0" algn="ctr">
              <a:buNone/>
            </a:pPr>
            <a:r>
              <a:rPr lang="en-US" sz="1700" b="1" dirty="0">
                <a:solidFill>
                  <a:srgbClr val="004885"/>
                </a:solidFill>
                <a:latin typeface="Calibri" pitchFamily="34" charset="0"/>
                <a:ea typeface="Calibri" pitchFamily="34" charset="-122"/>
                <a:cs typeface="Calibri" pitchFamily="34" charset="-120"/>
              </a:rPr>
              <a:t>9,000+</a:t>
            </a:r>
            <a:endParaRPr lang="en-US" sz="1700" dirty="0"/>
          </a:p>
        </p:txBody>
      </p:sp>
      <p:sp>
        <p:nvSpPr>
          <p:cNvPr id="13" name="Text 11"/>
          <p:cNvSpPr txBox="1"/>
          <p:nvPr/>
        </p:nvSpPr>
        <p:spPr>
          <a:xfrm>
            <a:off x="548640" y="2715768"/>
            <a:ext cx="1773936" cy="274320"/>
          </a:xfrm>
          <a:prstGeom prst="rect">
            <a:avLst/>
          </a:prstGeom>
          <a:noFill/>
          <a:ln/>
        </p:spPr>
        <p:txBody>
          <a:bodyPr wrap="square" lIns="0" tIns="0" rIns="0" bIns="0" rtlCol="0" anchor="t"/>
          <a:lstStyle/>
          <a:p>
            <a:pPr marL="0" indent="0" algn="ctr">
              <a:lnSpc>
                <a:spcPts val="900"/>
              </a:lnSpc>
              <a:buNone/>
            </a:pPr>
            <a:r>
              <a:rPr lang="en-US" sz="750" dirty="0">
                <a:solidFill>
                  <a:srgbClr val="5C7089"/>
                </a:solidFill>
                <a:latin typeface="Calibri" pitchFamily="34" charset="0"/>
                <a:ea typeface="Calibri" pitchFamily="34" charset="-122"/>
                <a:cs typeface="Calibri" pitchFamily="34" charset="-120"/>
              </a:rPr>
              <a:t>patients treated in 2025</a:t>
            </a:r>
            <a:endParaRPr lang="en-US" sz="750" dirty="0"/>
          </a:p>
        </p:txBody>
      </p:sp>
      <p:sp>
        <p:nvSpPr>
          <p:cNvPr id="14" name="Shape 12"/>
          <p:cNvSpPr/>
          <p:nvPr/>
        </p:nvSpPr>
        <p:spPr>
          <a:xfrm>
            <a:off x="2478024" y="2395728"/>
            <a:ext cx="1865376" cy="630936"/>
          </a:xfrm>
          <a:prstGeom prst="roundRect">
            <a:avLst>
              <a:gd name="adj" fmla="val 11594"/>
            </a:avLst>
          </a:prstGeom>
          <a:solidFill>
            <a:srgbClr val="FFFFFF"/>
          </a:solidFill>
          <a:ln w="12700">
            <a:solidFill>
              <a:srgbClr val="D2DEE9"/>
            </a:solidFill>
            <a:prstDash val="solid"/>
          </a:ln>
          <a:effectLst>
            <a:outerShdw blurRad="88900" dist="19050" dir="5400000" algn="bl" rotWithShape="0">
              <a:srgbClr val="7D97B0">
                <a:alpha val="22000"/>
              </a:srgbClr>
            </a:outerShdw>
          </a:effectLst>
        </p:spPr>
        <p:txBody>
          <a:bodyPr/>
          <a:lstStyle/>
          <a:p>
            <a:endParaRPr lang="en-US"/>
          </a:p>
        </p:txBody>
      </p:sp>
      <p:sp>
        <p:nvSpPr>
          <p:cNvPr id="15" name="Text 13"/>
          <p:cNvSpPr txBox="1"/>
          <p:nvPr/>
        </p:nvSpPr>
        <p:spPr>
          <a:xfrm>
            <a:off x="2478024" y="2441448"/>
            <a:ext cx="1865376" cy="274320"/>
          </a:xfrm>
          <a:prstGeom prst="rect">
            <a:avLst/>
          </a:prstGeom>
          <a:noFill/>
          <a:ln/>
        </p:spPr>
        <p:txBody>
          <a:bodyPr wrap="square" lIns="0" tIns="0" rIns="0" bIns="0" rtlCol="0" anchor="ctr"/>
          <a:lstStyle/>
          <a:p>
            <a:pPr marL="0" indent="0" algn="ctr">
              <a:buNone/>
            </a:pPr>
            <a:r>
              <a:rPr lang="en-US" sz="1700" b="1" dirty="0">
                <a:solidFill>
                  <a:srgbClr val="004885"/>
                </a:solidFill>
                <a:latin typeface="Calibri" pitchFamily="34" charset="0"/>
                <a:ea typeface="Calibri" pitchFamily="34" charset="-122"/>
                <a:cs typeface="Calibri" pitchFamily="34" charset="-120"/>
              </a:rPr>
              <a:t>44</a:t>
            </a:r>
            <a:endParaRPr lang="en-US" sz="1700" dirty="0"/>
          </a:p>
        </p:txBody>
      </p:sp>
      <p:sp>
        <p:nvSpPr>
          <p:cNvPr id="16" name="Text 14"/>
          <p:cNvSpPr txBox="1"/>
          <p:nvPr/>
        </p:nvSpPr>
        <p:spPr>
          <a:xfrm>
            <a:off x="2523744" y="2715768"/>
            <a:ext cx="1773936" cy="274320"/>
          </a:xfrm>
          <a:prstGeom prst="rect">
            <a:avLst/>
          </a:prstGeom>
          <a:noFill/>
          <a:ln/>
        </p:spPr>
        <p:txBody>
          <a:bodyPr wrap="square" lIns="0" tIns="0" rIns="0" bIns="0" rtlCol="0" anchor="t"/>
          <a:lstStyle/>
          <a:p>
            <a:pPr marL="0" indent="0" algn="ctr">
              <a:lnSpc>
                <a:spcPts val="900"/>
              </a:lnSpc>
              <a:buNone/>
            </a:pPr>
            <a:r>
              <a:rPr lang="en-US" sz="750" dirty="0">
                <a:solidFill>
                  <a:srgbClr val="5C7089"/>
                </a:solidFill>
                <a:latin typeface="Calibri" pitchFamily="34" charset="0"/>
                <a:ea typeface="Calibri" pitchFamily="34" charset="-122"/>
                <a:cs typeface="Calibri" pitchFamily="34" charset="-120"/>
              </a:rPr>
              <a:t>da Vinci systems</a:t>
            </a:r>
            <a:endParaRPr lang="en-US" sz="750" dirty="0"/>
          </a:p>
        </p:txBody>
      </p:sp>
      <p:sp>
        <p:nvSpPr>
          <p:cNvPr id="17" name="Shape 15"/>
          <p:cNvSpPr/>
          <p:nvPr/>
        </p:nvSpPr>
        <p:spPr>
          <a:xfrm>
            <a:off x="502920" y="3099816"/>
            <a:ext cx="1865376" cy="630936"/>
          </a:xfrm>
          <a:prstGeom prst="roundRect">
            <a:avLst>
              <a:gd name="adj" fmla="val 11594"/>
            </a:avLst>
          </a:prstGeom>
          <a:solidFill>
            <a:srgbClr val="FFFFFF"/>
          </a:solidFill>
          <a:ln w="12700">
            <a:solidFill>
              <a:srgbClr val="D2DEE9"/>
            </a:solidFill>
            <a:prstDash val="solid"/>
          </a:ln>
          <a:effectLst>
            <a:outerShdw blurRad="88900" dist="19050" dir="5400000" algn="bl" rotWithShape="0">
              <a:srgbClr val="7D97B0">
                <a:alpha val="22000"/>
              </a:srgbClr>
            </a:outerShdw>
          </a:effectLst>
        </p:spPr>
        <p:txBody>
          <a:bodyPr/>
          <a:lstStyle/>
          <a:p>
            <a:endParaRPr lang="en-US"/>
          </a:p>
        </p:txBody>
      </p:sp>
      <p:sp>
        <p:nvSpPr>
          <p:cNvPr id="18" name="Text 16"/>
          <p:cNvSpPr txBox="1"/>
          <p:nvPr/>
        </p:nvSpPr>
        <p:spPr>
          <a:xfrm>
            <a:off x="502920" y="3145536"/>
            <a:ext cx="1865376" cy="274320"/>
          </a:xfrm>
          <a:prstGeom prst="rect">
            <a:avLst/>
          </a:prstGeom>
          <a:noFill/>
          <a:ln/>
        </p:spPr>
        <p:txBody>
          <a:bodyPr wrap="square" lIns="0" tIns="0" rIns="0" bIns="0" rtlCol="0" anchor="ctr"/>
          <a:lstStyle/>
          <a:p>
            <a:pPr marL="0" indent="0" algn="ctr">
              <a:buNone/>
            </a:pPr>
            <a:r>
              <a:rPr lang="en-US" sz="1700" b="1" dirty="0">
                <a:solidFill>
                  <a:srgbClr val="004885"/>
                </a:solidFill>
                <a:latin typeface="Calibri" pitchFamily="34" charset="0"/>
                <a:ea typeface="Calibri" pitchFamily="34" charset="-122"/>
                <a:cs typeface="Calibri" pitchFamily="34" charset="-120"/>
              </a:rPr>
              <a:t>12</a:t>
            </a:r>
            <a:endParaRPr lang="en-US" sz="1700" dirty="0"/>
          </a:p>
        </p:txBody>
      </p:sp>
      <p:sp>
        <p:nvSpPr>
          <p:cNvPr id="19" name="Text 17"/>
          <p:cNvSpPr txBox="1"/>
          <p:nvPr/>
        </p:nvSpPr>
        <p:spPr>
          <a:xfrm>
            <a:off x="548640" y="3419856"/>
            <a:ext cx="1773936" cy="274320"/>
          </a:xfrm>
          <a:prstGeom prst="rect">
            <a:avLst/>
          </a:prstGeom>
          <a:noFill/>
          <a:ln/>
        </p:spPr>
        <p:txBody>
          <a:bodyPr wrap="square" lIns="0" tIns="0" rIns="0" bIns="0" rtlCol="0" anchor="t"/>
          <a:lstStyle/>
          <a:p>
            <a:pPr marL="0" indent="0" algn="ctr">
              <a:lnSpc>
                <a:spcPts val="900"/>
              </a:lnSpc>
              <a:buNone/>
            </a:pPr>
            <a:r>
              <a:rPr lang="en-US" sz="750" dirty="0">
                <a:solidFill>
                  <a:srgbClr val="5C7089"/>
                </a:solidFill>
                <a:latin typeface="Calibri" pitchFamily="34" charset="0"/>
                <a:ea typeface="Calibri" pitchFamily="34" charset="-122"/>
                <a:cs typeface="Calibri" pitchFamily="34" charset="-120"/>
              </a:rPr>
              <a:t>hospitals</a:t>
            </a:r>
            <a:endParaRPr lang="en-US" sz="750" dirty="0"/>
          </a:p>
        </p:txBody>
      </p:sp>
      <p:sp>
        <p:nvSpPr>
          <p:cNvPr id="20" name="Shape 18"/>
          <p:cNvSpPr/>
          <p:nvPr/>
        </p:nvSpPr>
        <p:spPr>
          <a:xfrm>
            <a:off x="2478024" y="3099816"/>
            <a:ext cx="1865376" cy="630936"/>
          </a:xfrm>
          <a:prstGeom prst="roundRect">
            <a:avLst>
              <a:gd name="adj" fmla="val 11594"/>
            </a:avLst>
          </a:prstGeom>
          <a:solidFill>
            <a:srgbClr val="FFFFFF"/>
          </a:solidFill>
          <a:ln w="12700">
            <a:solidFill>
              <a:srgbClr val="D2DEE9"/>
            </a:solidFill>
            <a:prstDash val="solid"/>
          </a:ln>
          <a:effectLst>
            <a:outerShdw blurRad="88900" dist="19050" dir="5400000" algn="bl" rotWithShape="0">
              <a:srgbClr val="7D97B0">
                <a:alpha val="22000"/>
              </a:srgbClr>
            </a:outerShdw>
          </a:effectLst>
        </p:spPr>
        <p:txBody>
          <a:bodyPr/>
          <a:lstStyle/>
          <a:p>
            <a:endParaRPr lang="en-US"/>
          </a:p>
        </p:txBody>
      </p:sp>
      <p:sp>
        <p:nvSpPr>
          <p:cNvPr id="21" name="Text 19"/>
          <p:cNvSpPr txBox="1"/>
          <p:nvPr/>
        </p:nvSpPr>
        <p:spPr>
          <a:xfrm>
            <a:off x="2478024" y="3145536"/>
            <a:ext cx="1865376" cy="274320"/>
          </a:xfrm>
          <a:prstGeom prst="rect">
            <a:avLst/>
          </a:prstGeom>
          <a:noFill/>
          <a:ln/>
        </p:spPr>
        <p:txBody>
          <a:bodyPr wrap="square" lIns="0" tIns="0" rIns="0" bIns="0" rtlCol="0" anchor="ctr"/>
          <a:lstStyle/>
          <a:p>
            <a:pPr marL="0" indent="0" algn="ctr">
              <a:buNone/>
            </a:pPr>
            <a:r>
              <a:rPr lang="en-US" sz="1700" b="1" dirty="0">
                <a:solidFill>
                  <a:srgbClr val="004885"/>
                </a:solidFill>
                <a:latin typeface="Calibri" pitchFamily="34" charset="0"/>
                <a:ea typeface="Calibri" pitchFamily="34" charset="-122"/>
                <a:cs typeface="Calibri" pitchFamily="34" charset="-120"/>
              </a:rPr>
              <a:t>138</a:t>
            </a:r>
            <a:endParaRPr lang="en-US" sz="1700" dirty="0"/>
          </a:p>
        </p:txBody>
      </p:sp>
      <p:sp>
        <p:nvSpPr>
          <p:cNvPr id="22" name="Text 20"/>
          <p:cNvSpPr txBox="1"/>
          <p:nvPr/>
        </p:nvSpPr>
        <p:spPr>
          <a:xfrm>
            <a:off x="2523744" y="3419856"/>
            <a:ext cx="1773936" cy="274320"/>
          </a:xfrm>
          <a:prstGeom prst="rect">
            <a:avLst/>
          </a:prstGeom>
          <a:noFill/>
          <a:ln/>
        </p:spPr>
        <p:txBody>
          <a:bodyPr wrap="square" lIns="0" tIns="0" rIns="0" bIns="0" rtlCol="0" anchor="t"/>
          <a:lstStyle/>
          <a:p>
            <a:pPr marL="0" indent="0" algn="ctr">
              <a:lnSpc>
                <a:spcPts val="900"/>
              </a:lnSpc>
              <a:buNone/>
            </a:pPr>
            <a:r>
              <a:rPr lang="en-US" sz="750" dirty="0">
                <a:solidFill>
                  <a:srgbClr val="5C7089"/>
                </a:solidFill>
                <a:latin typeface="Calibri" pitchFamily="34" charset="0"/>
                <a:ea typeface="Calibri" pitchFamily="34" charset="-122"/>
                <a:cs typeface="Calibri" pitchFamily="34" charset="-120"/>
              </a:rPr>
              <a:t>robotic procedure types across specialties</a:t>
            </a:r>
            <a:endParaRPr lang="en-US" sz="750" dirty="0"/>
          </a:p>
        </p:txBody>
      </p:sp>
      <p:sp>
        <p:nvSpPr>
          <p:cNvPr id="23" name="Text 21"/>
          <p:cNvSpPr txBox="1"/>
          <p:nvPr/>
        </p:nvSpPr>
        <p:spPr>
          <a:xfrm>
            <a:off x="502920" y="3968496"/>
            <a:ext cx="3840480" cy="219456"/>
          </a:xfrm>
          <a:prstGeom prst="rect">
            <a:avLst/>
          </a:prstGeom>
          <a:noFill/>
          <a:ln/>
        </p:spPr>
        <p:txBody>
          <a:bodyPr wrap="square" lIns="0" tIns="0" rIns="0" bIns="0" rtlCol="0" anchor="ctr"/>
          <a:lstStyle/>
          <a:p>
            <a:pPr marL="0" indent="0" algn="ctr">
              <a:buNone/>
            </a:pPr>
            <a:r>
              <a:rPr lang="en-US" sz="1050" b="1" kern="0" spc="160" dirty="0">
                <a:solidFill>
                  <a:srgbClr val="C00000"/>
                </a:solidFill>
                <a:latin typeface="Calibri" pitchFamily="34" charset="0"/>
                <a:ea typeface="Calibri" pitchFamily="34" charset="-122"/>
                <a:cs typeface="Calibri" pitchFamily="34" charset="-120"/>
              </a:rPr>
              <a:t>WHERE NEW JERSEY LIVES</a:t>
            </a:r>
            <a:endParaRPr lang="en-US" sz="1050" dirty="0"/>
          </a:p>
        </p:txBody>
      </p:sp>
      <p:sp>
        <p:nvSpPr>
          <p:cNvPr id="24" name="Text 22"/>
          <p:cNvSpPr txBox="1"/>
          <p:nvPr/>
        </p:nvSpPr>
        <p:spPr>
          <a:xfrm>
            <a:off x="502920" y="4242816"/>
            <a:ext cx="3840480" cy="786384"/>
          </a:xfrm>
          <a:prstGeom prst="rect">
            <a:avLst/>
          </a:prstGeom>
          <a:noFill/>
          <a:ln/>
        </p:spPr>
        <p:txBody>
          <a:bodyPr wrap="square" lIns="0" tIns="0" rIns="0" bIns="0" rtlCol="0" anchor="t"/>
          <a:lstStyle/>
          <a:p>
            <a:pPr marL="0" indent="0" algn="ctr">
              <a:lnSpc>
                <a:spcPts val="1360"/>
              </a:lnSpc>
              <a:buNone/>
            </a:pPr>
            <a:r>
              <a:rPr lang="en-US" sz="1050" dirty="0">
                <a:solidFill>
                  <a:srgbClr val="5C7089"/>
                </a:solidFill>
                <a:latin typeface="Calibri" pitchFamily="34" charset="0"/>
                <a:ea typeface="Calibri" pitchFamily="34" charset="-122"/>
                <a:cs typeface="Calibri" pitchFamily="34" charset="-120"/>
              </a:rPr>
              <a:t>New Jersey’s population is concentrated along the northeastern and central corridor, including Newark, Jersey City, Middlesex, Monmouth, and Ocean counties. RWJBarnabas Health’s robotic footprint closely overlaps with these population centers.</a:t>
            </a:r>
            <a:endParaRPr lang="en-US" sz="1050" dirty="0"/>
          </a:p>
        </p:txBody>
      </p:sp>
      <p:sp>
        <p:nvSpPr>
          <p:cNvPr id="25" name="Text 23"/>
          <p:cNvSpPr txBox="1"/>
          <p:nvPr/>
        </p:nvSpPr>
        <p:spPr>
          <a:xfrm>
            <a:off x="502920" y="5138928"/>
            <a:ext cx="3840480" cy="457200"/>
          </a:xfrm>
          <a:prstGeom prst="rect">
            <a:avLst/>
          </a:prstGeom>
          <a:noFill/>
          <a:ln/>
        </p:spPr>
        <p:txBody>
          <a:bodyPr wrap="square" lIns="0" tIns="0" rIns="0" bIns="0" rtlCol="0" anchor="t"/>
          <a:lstStyle/>
          <a:p>
            <a:pPr marL="0" indent="0" algn="ctr">
              <a:lnSpc>
                <a:spcPts val="1300"/>
              </a:lnSpc>
              <a:buNone/>
            </a:pPr>
            <a:r>
              <a:rPr lang="en-US" sz="1000" b="1" dirty="0">
                <a:solidFill>
                  <a:srgbClr val="16283B"/>
                </a:solidFill>
                <a:latin typeface="Calibri" pitchFamily="34" charset="0"/>
                <a:ea typeface="Calibri" pitchFamily="34" charset="-122"/>
                <a:cs typeface="Calibri" pitchFamily="34" charset="-120"/>
              </a:rPr>
              <a:t>6 of New Jersey’s 10 most populous counties </a:t>
            </a:r>
            <a:r>
              <a:rPr lang="en-US" sz="1000" dirty="0">
                <a:solidFill>
                  <a:srgbClr val="5C7089"/>
                </a:solidFill>
                <a:latin typeface="Calibri" pitchFamily="34" charset="0"/>
                <a:ea typeface="Calibri" pitchFamily="34" charset="-122"/>
                <a:cs typeface="Calibri" pitchFamily="34" charset="-120"/>
              </a:rPr>
              <a:t>have a da Vinci program inside their borders.</a:t>
            </a:r>
            <a:endParaRPr lang="en-US" sz="1000" dirty="0"/>
          </a:p>
        </p:txBody>
      </p:sp>
      <p:pic>
        <p:nvPicPr>
          <p:cNvPr id="26" name="Image 0" descr="map_svi.png"/>
          <p:cNvPicPr>
            <a:picLocks noChangeAspect="1"/>
          </p:cNvPicPr>
          <p:nvPr/>
        </p:nvPicPr>
        <p:blipFill>
          <a:blip r:embed="rId3"/>
          <a:stretch>
            <a:fillRect/>
          </a:stretch>
        </p:blipFill>
        <p:spPr>
          <a:xfrm>
            <a:off x="6492240" y="292608"/>
            <a:ext cx="2802104" cy="5175504"/>
          </a:xfrm>
          <a:prstGeom prst="rect">
            <a:avLst/>
          </a:prstGeom>
        </p:spPr>
      </p:pic>
      <p:sp>
        <p:nvSpPr>
          <p:cNvPr id="27" name="Shape 24"/>
          <p:cNvSpPr/>
          <p:nvPr/>
        </p:nvSpPr>
        <p:spPr>
          <a:xfrm flipH="1">
            <a:off x="6236208" y="2179478"/>
            <a:ext cx="1944474" cy="354019"/>
          </a:xfrm>
          <a:prstGeom prst="line">
            <a:avLst/>
          </a:prstGeom>
          <a:noFill/>
          <a:ln w="9525">
            <a:solidFill>
              <a:srgbClr val="6E8296">
                <a:alpha val="60000"/>
              </a:srgbClr>
            </a:solidFill>
            <a:prstDash val="solid"/>
          </a:ln>
        </p:spPr>
        <p:txBody>
          <a:bodyPr/>
          <a:lstStyle/>
          <a:p>
            <a:endParaRPr lang="en-US"/>
          </a:p>
        </p:txBody>
      </p:sp>
      <p:sp>
        <p:nvSpPr>
          <p:cNvPr id="28" name="Shape 25"/>
          <p:cNvSpPr/>
          <p:nvPr/>
        </p:nvSpPr>
        <p:spPr>
          <a:xfrm>
            <a:off x="6236208" y="1509369"/>
            <a:ext cx="2057405" cy="48052"/>
          </a:xfrm>
          <a:prstGeom prst="line">
            <a:avLst/>
          </a:prstGeom>
          <a:noFill/>
          <a:ln w="9525">
            <a:solidFill>
              <a:srgbClr val="6E8296">
                <a:alpha val="60000"/>
              </a:srgbClr>
            </a:solidFill>
            <a:prstDash val="solid"/>
          </a:ln>
        </p:spPr>
        <p:txBody>
          <a:bodyPr/>
          <a:lstStyle/>
          <a:p>
            <a:endParaRPr lang="en-US"/>
          </a:p>
        </p:txBody>
      </p:sp>
      <p:sp>
        <p:nvSpPr>
          <p:cNvPr id="29" name="Shape 26"/>
          <p:cNvSpPr/>
          <p:nvPr/>
        </p:nvSpPr>
        <p:spPr>
          <a:xfrm>
            <a:off x="9187718" y="2554928"/>
            <a:ext cx="367762" cy="131433"/>
          </a:xfrm>
          <a:prstGeom prst="line">
            <a:avLst/>
          </a:prstGeom>
          <a:noFill/>
          <a:ln w="9525">
            <a:solidFill>
              <a:srgbClr val="6E8296">
                <a:alpha val="60000"/>
              </a:srgbClr>
            </a:solidFill>
            <a:prstDash val="solid"/>
          </a:ln>
        </p:spPr>
        <p:txBody>
          <a:bodyPr/>
          <a:lstStyle/>
          <a:p>
            <a:endParaRPr lang="en-US"/>
          </a:p>
        </p:txBody>
      </p:sp>
      <p:sp>
        <p:nvSpPr>
          <p:cNvPr id="30" name="Shape 27"/>
          <p:cNvSpPr/>
          <p:nvPr/>
        </p:nvSpPr>
        <p:spPr>
          <a:xfrm flipH="1">
            <a:off x="8842501" y="784408"/>
            <a:ext cx="712979" cy="901987"/>
          </a:xfrm>
          <a:prstGeom prst="line">
            <a:avLst/>
          </a:prstGeom>
          <a:noFill/>
          <a:ln w="9525">
            <a:solidFill>
              <a:srgbClr val="6E8296">
                <a:alpha val="60000"/>
              </a:srgbClr>
            </a:solidFill>
            <a:prstDash val="solid"/>
          </a:ln>
        </p:spPr>
        <p:txBody>
          <a:bodyPr/>
          <a:lstStyle/>
          <a:p>
            <a:endParaRPr lang="en-US"/>
          </a:p>
        </p:txBody>
      </p:sp>
      <p:sp>
        <p:nvSpPr>
          <p:cNvPr id="31" name="Shape 28"/>
          <p:cNvSpPr/>
          <p:nvPr/>
        </p:nvSpPr>
        <p:spPr>
          <a:xfrm flipH="1">
            <a:off x="6236208" y="2001447"/>
            <a:ext cx="1738998" cy="56561"/>
          </a:xfrm>
          <a:prstGeom prst="line">
            <a:avLst/>
          </a:prstGeom>
          <a:noFill/>
          <a:ln w="9525">
            <a:solidFill>
              <a:srgbClr val="6E8296">
                <a:alpha val="60000"/>
              </a:srgbClr>
            </a:solidFill>
            <a:prstDash val="solid"/>
          </a:ln>
        </p:spPr>
        <p:txBody>
          <a:bodyPr/>
          <a:lstStyle/>
          <a:p>
            <a:endParaRPr lang="en-US"/>
          </a:p>
        </p:txBody>
      </p:sp>
      <p:sp>
        <p:nvSpPr>
          <p:cNvPr id="32" name="Shape 29"/>
          <p:cNvSpPr/>
          <p:nvPr/>
        </p:nvSpPr>
        <p:spPr>
          <a:xfrm>
            <a:off x="8836321" y="3227511"/>
            <a:ext cx="719159" cy="556129"/>
          </a:xfrm>
          <a:prstGeom prst="line">
            <a:avLst/>
          </a:prstGeom>
          <a:noFill/>
          <a:ln w="9525">
            <a:solidFill>
              <a:srgbClr val="6E8296">
                <a:alpha val="60000"/>
              </a:srgbClr>
            </a:solidFill>
            <a:prstDash val="solid"/>
          </a:ln>
        </p:spPr>
        <p:txBody>
          <a:bodyPr/>
          <a:lstStyle/>
          <a:p>
            <a:endParaRPr lang="en-US"/>
          </a:p>
        </p:txBody>
      </p:sp>
      <p:sp>
        <p:nvSpPr>
          <p:cNvPr id="33" name="Shape 30"/>
          <p:cNvSpPr/>
          <p:nvPr/>
        </p:nvSpPr>
        <p:spPr>
          <a:xfrm flipH="1">
            <a:off x="9105911" y="1259896"/>
            <a:ext cx="449569" cy="459713"/>
          </a:xfrm>
          <a:prstGeom prst="line">
            <a:avLst/>
          </a:prstGeom>
          <a:noFill/>
          <a:ln w="9525">
            <a:solidFill>
              <a:srgbClr val="6E8296">
                <a:alpha val="60000"/>
              </a:srgbClr>
            </a:solidFill>
            <a:prstDash val="solid"/>
          </a:ln>
        </p:spPr>
        <p:txBody>
          <a:bodyPr/>
          <a:lstStyle/>
          <a:p>
            <a:endParaRPr lang="en-US"/>
          </a:p>
        </p:txBody>
      </p:sp>
      <p:sp>
        <p:nvSpPr>
          <p:cNvPr id="34" name="Shape 31"/>
          <p:cNvSpPr/>
          <p:nvPr/>
        </p:nvSpPr>
        <p:spPr>
          <a:xfrm>
            <a:off x="8834433" y="2974235"/>
            <a:ext cx="721047" cy="260766"/>
          </a:xfrm>
          <a:prstGeom prst="line">
            <a:avLst/>
          </a:prstGeom>
          <a:noFill/>
          <a:ln w="9525">
            <a:solidFill>
              <a:srgbClr val="6E8296">
                <a:alpha val="60000"/>
              </a:srgbClr>
            </a:solidFill>
            <a:prstDash val="solid"/>
          </a:ln>
        </p:spPr>
        <p:txBody>
          <a:bodyPr/>
          <a:lstStyle/>
          <a:p>
            <a:endParaRPr lang="en-US"/>
          </a:p>
        </p:txBody>
      </p:sp>
      <p:sp>
        <p:nvSpPr>
          <p:cNvPr id="35" name="Shape 32"/>
          <p:cNvSpPr/>
          <p:nvPr/>
        </p:nvSpPr>
        <p:spPr>
          <a:xfrm>
            <a:off x="8646276" y="1963373"/>
            <a:ext cx="909204" cy="247499"/>
          </a:xfrm>
          <a:prstGeom prst="line">
            <a:avLst/>
          </a:prstGeom>
          <a:noFill/>
          <a:ln w="9525">
            <a:solidFill>
              <a:srgbClr val="6E8296">
                <a:alpha val="60000"/>
              </a:srgbClr>
            </a:solidFill>
            <a:prstDash val="solid"/>
          </a:ln>
        </p:spPr>
        <p:txBody>
          <a:bodyPr/>
          <a:lstStyle/>
          <a:p>
            <a:endParaRPr lang="en-US"/>
          </a:p>
        </p:txBody>
      </p:sp>
      <p:sp>
        <p:nvSpPr>
          <p:cNvPr id="36" name="Shape 33"/>
          <p:cNvSpPr/>
          <p:nvPr/>
        </p:nvSpPr>
        <p:spPr>
          <a:xfrm>
            <a:off x="6236208" y="960729"/>
            <a:ext cx="2506749" cy="501926"/>
          </a:xfrm>
          <a:prstGeom prst="line">
            <a:avLst/>
          </a:prstGeom>
          <a:noFill/>
          <a:ln w="9525">
            <a:solidFill>
              <a:srgbClr val="6E8296">
                <a:alpha val="60000"/>
              </a:srgbClr>
            </a:solidFill>
            <a:prstDash val="solid"/>
          </a:ln>
        </p:spPr>
        <p:txBody>
          <a:bodyPr/>
          <a:lstStyle/>
          <a:p>
            <a:endParaRPr lang="en-US"/>
          </a:p>
        </p:txBody>
      </p:sp>
      <p:sp>
        <p:nvSpPr>
          <p:cNvPr id="37" name="Shape 34"/>
          <p:cNvSpPr/>
          <p:nvPr/>
        </p:nvSpPr>
        <p:spPr>
          <a:xfrm flipH="1">
            <a:off x="6236208" y="2723282"/>
            <a:ext cx="1671131" cy="285702"/>
          </a:xfrm>
          <a:prstGeom prst="line">
            <a:avLst/>
          </a:prstGeom>
          <a:noFill/>
          <a:ln w="9525">
            <a:solidFill>
              <a:srgbClr val="6E8296">
                <a:alpha val="60000"/>
              </a:srgbClr>
            </a:solidFill>
            <a:prstDash val="solid"/>
          </a:ln>
        </p:spPr>
        <p:txBody>
          <a:bodyPr/>
          <a:lstStyle/>
          <a:p>
            <a:endParaRPr lang="en-US"/>
          </a:p>
        </p:txBody>
      </p:sp>
      <p:sp>
        <p:nvSpPr>
          <p:cNvPr id="38" name="Shape 35"/>
          <p:cNvSpPr/>
          <p:nvPr/>
        </p:nvSpPr>
        <p:spPr>
          <a:xfrm flipH="1">
            <a:off x="8824682" y="1735384"/>
            <a:ext cx="730798" cy="126735"/>
          </a:xfrm>
          <a:prstGeom prst="line">
            <a:avLst/>
          </a:prstGeom>
          <a:noFill/>
          <a:ln w="9525">
            <a:solidFill>
              <a:srgbClr val="6E8296">
                <a:alpha val="60000"/>
              </a:srgbClr>
            </a:solidFill>
            <a:prstDash val="solid"/>
          </a:ln>
        </p:spPr>
        <p:txBody>
          <a:bodyPr/>
          <a:lstStyle/>
          <a:p>
            <a:endParaRPr lang="en-US"/>
          </a:p>
        </p:txBody>
      </p:sp>
      <p:sp>
        <p:nvSpPr>
          <p:cNvPr id="39" name="Shape 36"/>
          <p:cNvSpPr/>
          <p:nvPr/>
        </p:nvSpPr>
        <p:spPr>
          <a:xfrm>
            <a:off x="8180682" y="2021744"/>
            <a:ext cx="315468" cy="315468"/>
          </a:xfrm>
          <a:prstGeom prst="ellipse">
            <a:avLst/>
          </a:prstGeom>
          <a:solidFill>
            <a:srgbClr val="004885"/>
          </a:solidFill>
          <a:ln w="16510">
            <a:solidFill>
              <a:srgbClr val="FFFFFF"/>
            </a:solidFill>
            <a:prstDash val="solid"/>
          </a:ln>
        </p:spPr>
        <p:txBody>
          <a:bodyPr/>
          <a:lstStyle/>
          <a:p>
            <a:endParaRPr lang="en-US"/>
          </a:p>
        </p:txBody>
      </p:sp>
      <p:sp>
        <p:nvSpPr>
          <p:cNvPr id="40" name="Text 37"/>
          <p:cNvSpPr txBox="1"/>
          <p:nvPr/>
        </p:nvSpPr>
        <p:spPr>
          <a:xfrm>
            <a:off x="8180682" y="2021744"/>
            <a:ext cx="315468" cy="31546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10</a:t>
            </a:r>
            <a:endParaRPr lang="en-US" sz="1050" dirty="0"/>
          </a:p>
        </p:txBody>
      </p:sp>
      <p:sp>
        <p:nvSpPr>
          <p:cNvPr id="41" name="Shape 38"/>
          <p:cNvSpPr/>
          <p:nvPr/>
        </p:nvSpPr>
        <p:spPr>
          <a:xfrm>
            <a:off x="8293613" y="1414977"/>
            <a:ext cx="284887" cy="284887"/>
          </a:xfrm>
          <a:prstGeom prst="ellipse">
            <a:avLst/>
          </a:prstGeom>
          <a:solidFill>
            <a:srgbClr val="004885"/>
          </a:solidFill>
          <a:ln w="16510">
            <a:solidFill>
              <a:srgbClr val="FFFFFF"/>
            </a:solidFill>
            <a:prstDash val="solid"/>
          </a:ln>
        </p:spPr>
        <p:txBody>
          <a:bodyPr/>
          <a:lstStyle/>
          <a:p>
            <a:endParaRPr lang="en-US"/>
          </a:p>
        </p:txBody>
      </p:sp>
      <p:sp>
        <p:nvSpPr>
          <p:cNvPr id="42" name="Text 39"/>
          <p:cNvSpPr txBox="1"/>
          <p:nvPr/>
        </p:nvSpPr>
        <p:spPr>
          <a:xfrm>
            <a:off x="8293613" y="1414977"/>
            <a:ext cx="284887" cy="284887"/>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7</a:t>
            </a:r>
            <a:endParaRPr lang="en-US" sz="950" dirty="0"/>
          </a:p>
        </p:txBody>
      </p:sp>
      <p:sp>
        <p:nvSpPr>
          <p:cNvPr id="43" name="Shape 40"/>
          <p:cNvSpPr/>
          <p:nvPr/>
        </p:nvSpPr>
        <p:spPr>
          <a:xfrm>
            <a:off x="8914450" y="2418294"/>
            <a:ext cx="273268" cy="273268"/>
          </a:xfrm>
          <a:prstGeom prst="ellipse">
            <a:avLst/>
          </a:prstGeom>
          <a:solidFill>
            <a:srgbClr val="004885"/>
          </a:solidFill>
          <a:ln w="16510">
            <a:solidFill>
              <a:srgbClr val="FFFFFF"/>
            </a:solidFill>
            <a:prstDash val="solid"/>
          </a:ln>
        </p:spPr>
        <p:txBody>
          <a:bodyPr/>
          <a:lstStyle/>
          <a:p>
            <a:endParaRPr lang="en-US"/>
          </a:p>
        </p:txBody>
      </p:sp>
      <p:sp>
        <p:nvSpPr>
          <p:cNvPr id="44" name="Text 41"/>
          <p:cNvSpPr txBox="1"/>
          <p:nvPr/>
        </p:nvSpPr>
        <p:spPr>
          <a:xfrm>
            <a:off x="8914450" y="2418294"/>
            <a:ext cx="273268" cy="27326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6</a:t>
            </a:r>
            <a:endParaRPr lang="en-US" sz="950" dirty="0"/>
          </a:p>
        </p:txBody>
      </p:sp>
      <p:sp>
        <p:nvSpPr>
          <p:cNvPr id="45" name="Shape 42"/>
          <p:cNvSpPr/>
          <p:nvPr/>
        </p:nvSpPr>
        <p:spPr>
          <a:xfrm>
            <a:off x="8581868" y="1556079"/>
            <a:ext cx="260632" cy="260632"/>
          </a:xfrm>
          <a:prstGeom prst="ellipse">
            <a:avLst/>
          </a:prstGeom>
          <a:solidFill>
            <a:srgbClr val="004885"/>
          </a:solidFill>
          <a:ln w="16510">
            <a:solidFill>
              <a:srgbClr val="FFFFFF"/>
            </a:solidFill>
            <a:prstDash val="solid"/>
          </a:ln>
        </p:spPr>
        <p:txBody>
          <a:bodyPr/>
          <a:lstStyle/>
          <a:p>
            <a:endParaRPr lang="en-US"/>
          </a:p>
        </p:txBody>
      </p:sp>
      <p:sp>
        <p:nvSpPr>
          <p:cNvPr id="46" name="Text 43"/>
          <p:cNvSpPr txBox="1"/>
          <p:nvPr/>
        </p:nvSpPr>
        <p:spPr>
          <a:xfrm>
            <a:off x="8581868" y="1556079"/>
            <a:ext cx="260632" cy="2606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5</a:t>
            </a:r>
            <a:endParaRPr lang="en-US" sz="950" dirty="0"/>
          </a:p>
        </p:txBody>
      </p:sp>
      <p:sp>
        <p:nvSpPr>
          <p:cNvPr id="47" name="Shape 44"/>
          <p:cNvSpPr/>
          <p:nvPr/>
        </p:nvSpPr>
        <p:spPr>
          <a:xfrm>
            <a:off x="7975206" y="1886051"/>
            <a:ext cx="230793" cy="230793"/>
          </a:xfrm>
          <a:prstGeom prst="ellipse">
            <a:avLst/>
          </a:prstGeom>
          <a:solidFill>
            <a:srgbClr val="004885"/>
          </a:solidFill>
          <a:ln w="16510">
            <a:solidFill>
              <a:srgbClr val="FFFFFF"/>
            </a:solidFill>
            <a:prstDash val="solid"/>
          </a:ln>
        </p:spPr>
        <p:txBody>
          <a:bodyPr/>
          <a:lstStyle/>
          <a:p>
            <a:endParaRPr lang="en-US"/>
          </a:p>
        </p:txBody>
      </p:sp>
      <p:sp>
        <p:nvSpPr>
          <p:cNvPr id="48" name="Text 45"/>
          <p:cNvSpPr txBox="1"/>
          <p:nvPr/>
        </p:nvSpPr>
        <p:spPr>
          <a:xfrm>
            <a:off x="7975206" y="1886051"/>
            <a:ext cx="230793" cy="230793"/>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3</a:t>
            </a:r>
            <a:endParaRPr lang="en-US" sz="950" dirty="0"/>
          </a:p>
        </p:txBody>
      </p:sp>
      <p:sp>
        <p:nvSpPr>
          <p:cNvPr id="49" name="Shape 46"/>
          <p:cNvSpPr/>
          <p:nvPr/>
        </p:nvSpPr>
        <p:spPr>
          <a:xfrm>
            <a:off x="8605529" y="3112115"/>
            <a:ext cx="230793" cy="230793"/>
          </a:xfrm>
          <a:prstGeom prst="ellipse">
            <a:avLst/>
          </a:prstGeom>
          <a:solidFill>
            <a:srgbClr val="004885"/>
          </a:solidFill>
          <a:ln w="16510">
            <a:solidFill>
              <a:srgbClr val="FFFFFF"/>
            </a:solidFill>
            <a:prstDash val="solid"/>
          </a:ln>
        </p:spPr>
        <p:txBody>
          <a:bodyPr/>
          <a:lstStyle/>
          <a:p>
            <a:endParaRPr lang="en-US"/>
          </a:p>
        </p:txBody>
      </p:sp>
      <p:sp>
        <p:nvSpPr>
          <p:cNvPr id="50" name="Text 47"/>
          <p:cNvSpPr txBox="1"/>
          <p:nvPr/>
        </p:nvSpPr>
        <p:spPr>
          <a:xfrm>
            <a:off x="8605529" y="3112115"/>
            <a:ext cx="230793" cy="230793"/>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3</a:t>
            </a:r>
            <a:endParaRPr lang="en-US" sz="950" dirty="0"/>
          </a:p>
        </p:txBody>
      </p:sp>
      <p:sp>
        <p:nvSpPr>
          <p:cNvPr id="51" name="Shape 48"/>
          <p:cNvSpPr/>
          <p:nvPr/>
        </p:nvSpPr>
        <p:spPr>
          <a:xfrm>
            <a:off x="8875118" y="1604213"/>
            <a:ext cx="230793" cy="230793"/>
          </a:xfrm>
          <a:prstGeom prst="ellipse">
            <a:avLst/>
          </a:prstGeom>
          <a:solidFill>
            <a:srgbClr val="004885"/>
          </a:solidFill>
          <a:ln w="16510">
            <a:solidFill>
              <a:srgbClr val="FFFFFF"/>
            </a:solidFill>
            <a:prstDash val="solid"/>
          </a:ln>
        </p:spPr>
        <p:txBody>
          <a:bodyPr/>
          <a:lstStyle/>
          <a:p>
            <a:endParaRPr lang="en-US"/>
          </a:p>
        </p:txBody>
      </p:sp>
      <p:sp>
        <p:nvSpPr>
          <p:cNvPr id="52" name="Text 49"/>
          <p:cNvSpPr txBox="1"/>
          <p:nvPr/>
        </p:nvSpPr>
        <p:spPr>
          <a:xfrm>
            <a:off x="8875118" y="1604213"/>
            <a:ext cx="230793" cy="230793"/>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3</a:t>
            </a:r>
            <a:endParaRPr lang="en-US" sz="950" dirty="0"/>
          </a:p>
        </p:txBody>
      </p:sp>
      <p:sp>
        <p:nvSpPr>
          <p:cNvPr id="53" name="Shape 50"/>
          <p:cNvSpPr/>
          <p:nvPr/>
        </p:nvSpPr>
        <p:spPr>
          <a:xfrm>
            <a:off x="8622458" y="2868247"/>
            <a:ext cx="211975" cy="211975"/>
          </a:xfrm>
          <a:prstGeom prst="ellipse">
            <a:avLst/>
          </a:prstGeom>
          <a:solidFill>
            <a:srgbClr val="004885"/>
          </a:solidFill>
          <a:ln w="16510">
            <a:solidFill>
              <a:srgbClr val="FFFFFF"/>
            </a:solidFill>
            <a:prstDash val="solid"/>
          </a:ln>
        </p:spPr>
        <p:txBody>
          <a:bodyPr/>
          <a:lstStyle/>
          <a:p>
            <a:endParaRPr lang="en-US"/>
          </a:p>
        </p:txBody>
      </p:sp>
      <p:sp>
        <p:nvSpPr>
          <p:cNvPr id="54" name="Text 51"/>
          <p:cNvSpPr txBox="1"/>
          <p:nvPr/>
        </p:nvSpPr>
        <p:spPr>
          <a:xfrm>
            <a:off x="8622458" y="2868247"/>
            <a:ext cx="211975" cy="211975"/>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2</a:t>
            </a:r>
            <a:endParaRPr lang="en-US" sz="950" dirty="0"/>
          </a:p>
        </p:txBody>
      </p:sp>
      <p:sp>
        <p:nvSpPr>
          <p:cNvPr id="55" name="Shape 52"/>
          <p:cNvSpPr/>
          <p:nvPr/>
        </p:nvSpPr>
        <p:spPr>
          <a:xfrm>
            <a:off x="8434300" y="1857385"/>
            <a:ext cx="211975" cy="211975"/>
          </a:xfrm>
          <a:prstGeom prst="ellipse">
            <a:avLst/>
          </a:prstGeom>
          <a:solidFill>
            <a:srgbClr val="004885"/>
          </a:solidFill>
          <a:ln w="16510">
            <a:solidFill>
              <a:srgbClr val="FFFFFF"/>
            </a:solidFill>
            <a:prstDash val="solid"/>
          </a:ln>
        </p:spPr>
        <p:txBody>
          <a:bodyPr/>
          <a:lstStyle/>
          <a:p>
            <a:endParaRPr lang="en-US"/>
          </a:p>
        </p:txBody>
      </p:sp>
      <p:sp>
        <p:nvSpPr>
          <p:cNvPr id="56" name="Text 53"/>
          <p:cNvSpPr txBox="1"/>
          <p:nvPr/>
        </p:nvSpPr>
        <p:spPr>
          <a:xfrm>
            <a:off x="8434300" y="1857385"/>
            <a:ext cx="211975" cy="211975"/>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2</a:t>
            </a:r>
            <a:endParaRPr lang="en-US" sz="950" dirty="0"/>
          </a:p>
        </p:txBody>
      </p:sp>
      <p:sp>
        <p:nvSpPr>
          <p:cNvPr id="57" name="Shape 54"/>
          <p:cNvSpPr/>
          <p:nvPr/>
        </p:nvSpPr>
        <p:spPr>
          <a:xfrm>
            <a:off x="8742957" y="1368929"/>
            <a:ext cx="187452" cy="187452"/>
          </a:xfrm>
          <a:prstGeom prst="ellipse">
            <a:avLst/>
          </a:prstGeom>
          <a:solidFill>
            <a:srgbClr val="004885"/>
          </a:solidFill>
          <a:ln w="16510">
            <a:solidFill>
              <a:srgbClr val="FFFFFF"/>
            </a:solidFill>
            <a:prstDash val="solid"/>
          </a:ln>
        </p:spPr>
        <p:txBody>
          <a:bodyPr/>
          <a:lstStyle/>
          <a:p>
            <a:endParaRPr lang="en-US"/>
          </a:p>
        </p:txBody>
      </p:sp>
      <p:sp>
        <p:nvSpPr>
          <p:cNvPr id="58" name="Text 55"/>
          <p:cNvSpPr txBox="1"/>
          <p:nvPr/>
        </p:nvSpPr>
        <p:spPr>
          <a:xfrm>
            <a:off x="8742957" y="1368929"/>
            <a:ext cx="187452" cy="18745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1</a:t>
            </a:r>
            <a:endParaRPr lang="en-US" sz="950" dirty="0"/>
          </a:p>
        </p:txBody>
      </p:sp>
      <p:sp>
        <p:nvSpPr>
          <p:cNvPr id="59" name="Shape 56"/>
          <p:cNvSpPr/>
          <p:nvPr/>
        </p:nvSpPr>
        <p:spPr>
          <a:xfrm>
            <a:off x="7907339" y="2629556"/>
            <a:ext cx="187452" cy="187452"/>
          </a:xfrm>
          <a:prstGeom prst="ellipse">
            <a:avLst/>
          </a:prstGeom>
          <a:solidFill>
            <a:srgbClr val="004885"/>
          </a:solidFill>
          <a:ln w="16510">
            <a:solidFill>
              <a:srgbClr val="FFFFFF"/>
            </a:solidFill>
            <a:prstDash val="solid"/>
          </a:ln>
        </p:spPr>
        <p:txBody>
          <a:bodyPr/>
          <a:lstStyle/>
          <a:p>
            <a:endParaRPr lang="en-US"/>
          </a:p>
        </p:txBody>
      </p:sp>
      <p:sp>
        <p:nvSpPr>
          <p:cNvPr id="60" name="Text 57"/>
          <p:cNvSpPr txBox="1"/>
          <p:nvPr/>
        </p:nvSpPr>
        <p:spPr>
          <a:xfrm>
            <a:off x="7907339" y="2629556"/>
            <a:ext cx="187452" cy="18745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1</a:t>
            </a:r>
            <a:endParaRPr lang="en-US" sz="950" dirty="0"/>
          </a:p>
        </p:txBody>
      </p:sp>
      <p:sp>
        <p:nvSpPr>
          <p:cNvPr id="61" name="Shape 58"/>
          <p:cNvSpPr/>
          <p:nvPr/>
        </p:nvSpPr>
        <p:spPr>
          <a:xfrm>
            <a:off x="8637230" y="1768393"/>
            <a:ext cx="187452" cy="187452"/>
          </a:xfrm>
          <a:prstGeom prst="ellipse">
            <a:avLst/>
          </a:prstGeom>
          <a:solidFill>
            <a:srgbClr val="004885"/>
          </a:solidFill>
          <a:ln w="16510">
            <a:solidFill>
              <a:srgbClr val="FFFFFF"/>
            </a:solidFill>
            <a:prstDash val="solid"/>
          </a:ln>
        </p:spPr>
        <p:txBody>
          <a:bodyPr/>
          <a:lstStyle/>
          <a:p>
            <a:endParaRPr lang="en-US"/>
          </a:p>
        </p:txBody>
      </p:sp>
      <p:sp>
        <p:nvSpPr>
          <p:cNvPr id="62" name="Text 59"/>
          <p:cNvSpPr txBox="1"/>
          <p:nvPr/>
        </p:nvSpPr>
        <p:spPr>
          <a:xfrm>
            <a:off x="8637230" y="1768393"/>
            <a:ext cx="187452" cy="18745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1</a:t>
            </a:r>
            <a:endParaRPr lang="en-US" sz="950" dirty="0"/>
          </a:p>
        </p:txBody>
      </p:sp>
      <p:sp>
        <p:nvSpPr>
          <p:cNvPr id="63" name="Text 60"/>
          <p:cNvSpPr txBox="1"/>
          <p:nvPr/>
        </p:nvSpPr>
        <p:spPr>
          <a:xfrm>
            <a:off x="4572000" y="2323185"/>
            <a:ext cx="1600200" cy="201168"/>
          </a:xfrm>
          <a:prstGeom prst="rect">
            <a:avLst/>
          </a:prstGeom>
          <a:noFill/>
          <a:ln/>
        </p:spPr>
        <p:txBody>
          <a:bodyPr wrap="square" lIns="0" tIns="0" rIns="0" bIns="0" rtlCol="0" anchor="t"/>
          <a:lstStyle/>
          <a:p>
            <a:pPr marL="0" indent="0" algn="r">
              <a:lnSpc>
                <a:spcPts val="1150"/>
              </a:lnSpc>
              <a:buNone/>
            </a:pPr>
            <a:r>
              <a:rPr lang="en-US" sz="950" b="1" dirty="0">
                <a:solidFill>
                  <a:srgbClr val="16283B"/>
                </a:solidFill>
                <a:latin typeface="Calibri" pitchFamily="34" charset="0"/>
                <a:ea typeface="Calibri" pitchFamily="34" charset="-122"/>
                <a:cs typeface="Calibri" pitchFamily="34" charset="-120"/>
              </a:rPr>
              <a:t>RWJUH New Brunswick</a:t>
            </a:r>
            <a:endParaRPr lang="en-US" sz="950" dirty="0"/>
          </a:p>
        </p:txBody>
      </p:sp>
      <p:sp>
        <p:nvSpPr>
          <p:cNvPr id="64" name="Text 61"/>
          <p:cNvSpPr txBox="1"/>
          <p:nvPr/>
        </p:nvSpPr>
        <p:spPr>
          <a:xfrm>
            <a:off x="4572000" y="2506065"/>
            <a:ext cx="1600200" cy="182880"/>
          </a:xfrm>
          <a:prstGeom prst="rect">
            <a:avLst/>
          </a:prstGeom>
          <a:noFill/>
          <a:ln/>
        </p:spPr>
        <p:txBody>
          <a:bodyPr wrap="square" lIns="0" tIns="0" rIns="0" bIns="0" rtlCol="0" anchor="ctr"/>
          <a:lstStyle/>
          <a:p>
            <a:pPr marL="0" indent="0" algn="r">
              <a:buNone/>
            </a:pPr>
            <a:r>
              <a:rPr lang="en-US" sz="750" dirty="0">
                <a:solidFill>
                  <a:srgbClr val="8496A8"/>
                </a:solidFill>
                <a:latin typeface="Calibri" pitchFamily="34" charset="0"/>
                <a:ea typeface="Calibri" pitchFamily="34" charset="-122"/>
                <a:cs typeface="Calibri" pitchFamily="34" charset="-120"/>
              </a:rPr>
              <a:t>New Brunswick</a:t>
            </a:r>
            <a:endParaRPr lang="en-US" sz="750" dirty="0"/>
          </a:p>
        </p:txBody>
      </p:sp>
      <p:sp>
        <p:nvSpPr>
          <p:cNvPr id="65" name="Text 62"/>
          <p:cNvSpPr txBox="1"/>
          <p:nvPr/>
        </p:nvSpPr>
        <p:spPr>
          <a:xfrm>
            <a:off x="4572000" y="1225905"/>
            <a:ext cx="1600200" cy="365760"/>
          </a:xfrm>
          <a:prstGeom prst="rect">
            <a:avLst/>
          </a:prstGeom>
          <a:noFill/>
          <a:ln/>
        </p:spPr>
        <p:txBody>
          <a:bodyPr wrap="square" lIns="0" tIns="0" rIns="0" bIns="0" rtlCol="0" anchor="t"/>
          <a:lstStyle/>
          <a:p>
            <a:pPr marL="0" indent="0" algn="r">
              <a:lnSpc>
                <a:spcPts val="1150"/>
              </a:lnSpc>
              <a:buNone/>
            </a:pPr>
            <a:r>
              <a:rPr lang="en-US" sz="950" b="1" dirty="0">
                <a:solidFill>
                  <a:srgbClr val="16283B"/>
                </a:solidFill>
                <a:latin typeface="Calibri" pitchFamily="34" charset="0"/>
                <a:ea typeface="Calibri" pitchFamily="34" charset="-122"/>
                <a:cs typeface="Calibri" pitchFamily="34" charset="-120"/>
              </a:rPr>
              <a:t>Cooperman Barnabas Medical Center</a:t>
            </a:r>
            <a:endParaRPr lang="en-US" sz="950" dirty="0"/>
          </a:p>
        </p:txBody>
      </p:sp>
      <p:sp>
        <p:nvSpPr>
          <p:cNvPr id="66" name="Text 63"/>
          <p:cNvSpPr txBox="1"/>
          <p:nvPr/>
        </p:nvSpPr>
        <p:spPr>
          <a:xfrm>
            <a:off x="4572000" y="1573377"/>
            <a:ext cx="1600200" cy="182880"/>
          </a:xfrm>
          <a:prstGeom prst="rect">
            <a:avLst/>
          </a:prstGeom>
          <a:noFill/>
          <a:ln/>
        </p:spPr>
        <p:txBody>
          <a:bodyPr wrap="square" lIns="0" tIns="0" rIns="0" bIns="0" rtlCol="0" anchor="ctr"/>
          <a:lstStyle/>
          <a:p>
            <a:pPr marL="0" indent="0" algn="r">
              <a:buNone/>
            </a:pPr>
            <a:r>
              <a:rPr lang="en-US" sz="750" dirty="0">
                <a:solidFill>
                  <a:srgbClr val="8496A8"/>
                </a:solidFill>
                <a:latin typeface="Calibri" pitchFamily="34" charset="0"/>
                <a:ea typeface="Calibri" pitchFamily="34" charset="-122"/>
                <a:cs typeface="Calibri" pitchFamily="34" charset="-120"/>
              </a:rPr>
              <a:t>Livingston</a:t>
            </a:r>
            <a:endParaRPr lang="en-US" sz="750" dirty="0"/>
          </a:p>
        </p:txBody>
      </p:sp>
      <p:sp>
        <p:nvSpPr>
          <p:cNvPr id="67" name="Text 64"/>
          <p:cNvSpPr txBox="1"/>
          <p:nvPr/>
        </p:nvSpPr>
        <p:spPr>
          <a:xfrm>
            <a:off x="9619488" y="2476048"/>
            <a:ext cx="2176272" cy="201168"/>
          </a:xfrm>
          <a:prstGeom prst="rect">
            <a:avLst/>
          </a:prstGeom>
          <a:noFill/>
          <a:ln/>
        </p:spPr>
        <p:txBody>
          <a:bodyPr wrap="square" lIns="0" tIns="0" rIns="0" bIns="0" rtlCol="0" anchor="t"/>
          <a:lstStyle/>
          <a:p>
            <a:pPr marL="0" indent="0" algn="l">
              <a:lnSpc>
                <a:spcPts val="1150"/>
              </a:lnSpc>
              <a:buNone/>
            </a:pPr>
            <a:r>
              <a:rPr lang="en-US" sz="950" b="1" dirty="0">
                <a:solidFill>
                  <a:srgbClr val="16283B"/>
                </a:solidFill>
                <a:latin typeface="Calibri" pitchFamily="34" charset="0"/>
                <a:ea typeface="Calibri" pitchFamily="34" charset="-122"/>
                <a:cs typeface="Calibri" pitchFamily="34" charset="-120"/>
              </a:rPr>
              <a:t>Monmouth Medical Center</a:t>
            </a:r>
            <a:endParaRPr lang="en-US" sz="950" dirty="0"/>
          </a:p>
        </p:txBody>
      </p:sp>
      <p:sp>
        <p:nvSpPr>
          <p:cNvPr id="68" name="Text 65"/>
          <p:cNvSpPr txBox="1"/>
          <p:nvPr/>
        </p:nvSpPr>
        <p:spPr>
          <a:xfrm>
            <a:off x="9619488" y="2658928"/>
            <a:ext cx="2176272" cy="182880"/>
          </a:xfrm>
          <a:prstGeom prst="rect">
            <a:avLst/>
          </a:prstGeom>
          <a:noFill/>
          <a:ln/>
        </p:spPr>
        <p:txBody>
          <a:bodyPr wrap="square" lIns="0" tIns="0" rIns="0" bIns="0" rtlCol="0" anchor="ctr"/>
          <a:lstStyle/>
          <a:p>
            <a:pPr marL="0" indent="0" algn="l">
              <a:buNone/>
            </a:pPr>
            <a:r>
              <a:rPr lang="en-US" sz="750" dirty="0">
                <a:solidFill>
                  <a:srgbClr val="8496A8"/>
                </a:solidFill>
                <a:latin typeface="Calibri" pitchFamily="34" charset="0"/>
                <a:ea typeface="Calibri" pitchFamily="34" charset="-122"/>
                <a:cs typeface="Calibri" pitchFamily="34" charset="-120"/>
              </a:rPr>
              <a:t>Long Branch</a:t>
            </a:r>
            <a:endParaRPr lang="en-US" sz="750" dirty="0"/>
          </a:p>
        </p:txBody>
      </p:sp>
      <p:sp>
        <p:nvSpPr>
          <p:cNvPr id="69" name="Text 66"/>
          <p:cNvSpPr txBox="1"/>
          <p:nvPr/>
        </p:nvSpPr>
        <p:spPr>
          <a:xfrm>
            <a:off x="9619488" y="574096"/>
            <a:ext cx="2176272" cy="201168"/>
          </a:xfrm>
          <a:prstGeom prst="rect">
            <a:avLst/>
          </a:prstGeom>
          <a:noFill/>
          <a:ln/>
        </p:spPr>
        <p:txBody>
          <a:bodyPr wrap="square" lIns="0" tIns="0" rIns="0" bIns="0" rtlCol="0" anchor="t"/>
          <a:lstStyle/>
          <a:p>
            <a:pPr marL="0" indent="0" algn="l">
              <a:lnSpc>
                <a:spcPts val="1150"/>
              </a:lnSpc>
              <a:buNone/>
            </a:pPr>
            <a:r>
              <a:rPr lang="en-US" sz="950" b="1" dirty="0">
                <a:solidFill>
                  <a:srgbClr val="16283B"/>
                </a:solidFill>
                <a:latin typeface="Calibri" pitchFamily="34" charset="0"/>
                <a:ea typeface="Calibri" pitchFamily="34" charset="-122"/>
                <a:cs typeface="Calibri" pitchFamily="34" charset="-120"/>
              </a:rPr>
              <a:t>Newark Beth Israel Medical Center</a:t>
            </a:r>
            <a:endParaRPr lang="en-US" sz="950" dirty="0"/>
          </a:p>
        </p:txBody>
      </p:sp>
      <p:sp>
        <p:nvSpPr>
          <p:cNvPr id="70" name="Text 67"/>
          <p:cNvSpPr txBox="1"/>
          <p:nvPr/>
        </p:nvSpPr>
        <p:spPr>
          <a:xfrm>
            <a:off x="9619488" y="756976"/>
            <a:ext cx="2176272" cy="182880"/>
          </a:xfrm>
          <a:prstGeom prst="rect">
            <a:avLst/>
          </a:prstGeom>
          <a:noFill/>
          <a:ln/>
        </p:spPr>
        <p:txBody>
          <a:bodyPr wrap="square" lIns="0" tIns="0" rIns="0" bIns="0" rtlCol="0" anchor="ctr"/>
          <a:lstStyle/>
          <a:p>
            <a:pPr marL="0" indent="0" algn="l">
              <a:buNone/>
            </a:pPr>
            <a:r>
              <a:rPr lang="en-US" sz="750" dirty="0">
                <a:solidFill>
                  <a:srgbClr val="8496A8"/>
                </a:solidFill>
                <a:latin typeface="Calibri" pitchFamily="34" charset="0"/>
                <a:ea typeface="Calibri" pitchFamily="34" charset="-122"/>
                <a:cs typeface="Calibri" pitchFamily="34" charset="-120"/>
              </a:rPr>
              <a:t>Newark</a:t>
            </a:r>
            <a:endParaRPr lang="en-US" sz="750" dirty="0"/>
          </a:p>
        </p:txBody>
      </p:sp>
      <p:sp>
        <p:nvSpPr>
          <p:cNvPr id="71" name="Text 68"/>
          <p:cNvSpPr txBox="1"/>
          <p:nvPr/>
        </p:nvSpPr>
        <p:spPr>
          <a:xfrm>
            <a:off x="4572000" y="1847697"/>
            <a:ext cx="1600200" cy="201168"/>
          </a:xfrm>
          <a:prstGeom prst="rect">
            <a:avLst/>
          </a:prstGeom>
          <a:noFill/>
          <a:ln/>
        </p:spPr>
        <p:txBody>
          <a:bodyPr wrap="square" lIns="0" tIns="0" rIns="0" bIns="0" rtlCol="0" anchor="t"/>
          <a:lstStyle/>
          <a:p>
            <a:pPr marL="0" indent="0" algn="r">
              <a:lnSpc>
                <a:spcPts val="1150"/>
              </a:lnSpc>
              <a:buNone/>
            </a:pPr>
            <a:r>
              <a:rPr lang="en-US" sz="950" b="1" dirty="0">
                <a:solidFill>
                  <a:srgbClr val="16283B"/>
                </a:solidFill>
                <a:latin typeface="Calibri" pitchFamily="34" charset="0"/>
                <a:ea typeface="Calibri" pitchFamily="34" charset="-122"/>
                <a:cs typeface="Calibri" pitchFamily="34" charset="-120"/>
              </a:rPr>
              <a:t>RWJUH Somerset</a:t>
            </a:r>
            <a:endParaRPr lang="en-US" sz="950" dirty="0"/>
          </a:p>
        </p:txBody>
      </p:sp>
      <p:sp>
        <p:nvSpPr>
          <p:cNvPr id="72" name="Text 69"/>
          <p:cNvSpPr txBox="1"/>
          <p:nvPr/>
        </p:nvSpPr>
        <p:spPr>
          <a:xfrm>
            <a:off x="4572000" y="2030577"/>
            <a:ext cx="1600200" cy="182880"/>
          </a:xfrm>
          <a:prstGeom prst="rect">
            <a:avLst/>
          </a:prstGeom>
          <a:noFill/>
          <a:ln/>
        </p:spPr>
        <p:txBody>
          <a:bodyPr wrap="square" lIns="0" tIns="0" rIns="0" bIns="0" rtlCol="0" anchor="ctr"/>
          <a:lstStyle/>
          <a:p>
            <a:pPr marL="0" indent="0" algn="r">
              <a:buNone/>
            </a:pPr>
            <a:r>
              <a:rPr lang="en-US" sz="750" dirty="0">
                <a:solidFill>
                  <a:srgbClr val="8496A8"/>
                </a:solidFill>
                <a:latin typeface="Calibri" pitchFamily="34" charset="0"/>
                <a:ea typeface="Calibri" pitchFamily="34" charset="-122"/>
                <a:cs typeface="Calibri" pitchFamily="34" charset="-120"/>
              </a:rPr>
              <a:t>Somerville</a:t>
            </a:r>
            <a:endParaRPr lang="en-US" sz="750" dirty="0"/>
          </a:p>
        </p:txBody>
      </p:sp>
      <p:sp>
        <p:nvSpPr>
          <p:cNvPr id="73" name="Text 70"/>
          <p:cNvSpPr txBox="1"/>
          <p:nvPr/>
        </p:nvSpPr>
        <p:spPr>
          <a:xfrm>
            <a:off x="9619488" y="3573328"/>
            <a:ext cx="2176272" cy="201168"/>
          </a:xfrm>
          <a:prstGeom prst="rect">
            <a:avLst/>
          </a:prstGeom>
          <a:noFill/>
          <a:ln/>
        </p:spPr>
        <p:txBody>
          <a:bodyPr wrap="square" lIns="0" tIns="0" rIns="0" bIns="0" rtlCol="0" anchor="t"/>
          <a:lstStyle/>
          <a:p>
            <a:pPr marL="0" indent="0" algn="l">
              <a:lnSpc>
                <a:spcPts val="1150"/>
              </a:lnSpc>
              <a:buNone/>
            </a:pPr>
            <a:r>
              <a:rPr lang="en-US" sz="950" b="1" dirty="0">
                <a:solidFill>
                  <a:srgbClr val="16283B"/>
                </a:solidFill>
                <a:latin typeface="Calibri" pitchFamily="34" charset="0"/>
                <a:ea typeface="Calibri" pitchFamily="34" charset="-122"/>
                <a:cs typeface="Calibri" pitchFamily="34" charset="-120"/>
              </a:rPr>
              <a:t>Community Medical Center</a:t>
            </a:r>
            <a:endParaRPr lang="en-US" sz="950" dirty="0"/>
          </a:p>
        </p:txBody>
      </p:sp>
      <p:sp>
        <p:nvSpPr>
          <p:cNvPr id="74" name="Text 71"/>
          <p:cNvSpPr txBox="1"/>
          <p:nvPr/>
        </p:nvSpPr>
        <p:spPr>
          <a:xfrm>
            <a:off x="9619488" y="3756208"/>
            <a:ext cx="2176272" cy="182880"/>
          </a:xfrm>
          <a:prstGeom prst="rect">
            <a:avLst/>
          </a:prstGeom>
          <a:noFill/>
          <a:ln/>
        </p:spPr>
        <p:txBody>
          <a:bodyPr wrap="square" lIns="0" tIns="0" rIns="0" bIns="0" rtlCol="0" anchor="ctr"/>
          <a:lstStyle/>
          <a:p>
            <a:pPr marL="0" indent="0" algn="l">
              <a:buNone/>
            </a:pPr>
            <a:r>
              <a:rPr lang="en-US" sz="750" dirty="0">
                <a:solidFill>
                  <a:srgbClr val="8496A8"/>
                </a:solidFill>
                <a:latin typeface="Calibri" pitchFamily="34" charset="0"/>
                <a:ea typeface="Calibri" pitchFamily="34" charset="-122"/>
                <a:cs typeface="Calibri" pitchFamily="34" charset="-120"/>
              </a:rPr>
              <a:t>Toms River</a:t>
            </a:r>
            <a:endParaRPr lang="en-US" sz="750" dirty="0"/>
          </a:p>
        </p:txBody>
      </p:sp>
      <p:sp>
        <p:nvSpPr>
          <p:cNvPr id="75" name="Text 72"/>
          <p:cNvSpPr txBox="1"/>
          <p:nvPr/>
        </p:nvSpPr>
        <p:spPr>
          <a:xfrm>
            <a:off x="9619488" y="1049584"/>
            <a:ext cx="2176272" cy="201168"/>
          </a:xfrm>
          <a:prstGeom prst="rect">
            <a:avLst/>
          </a:prstGeom>
          <a:noFill/>
          <a:ln/>
        </p:spPr>
        <p:txBody>
          <a:bodyPr wrap="square" lIns="0" tIns="0" rIns="0" bIns="0" rtlCol="0" anchor="t"/>
          <a:lstStyle/>
          <a:p>
            <a:pPr marL="0" indent="0" algn="l">
              <a:lnSpc>
                <a:spcPts val="1150"/>
              </a:lnSpc>
              <a:buNone/>
            </a:pPr>
            <a:r>
              <a:rPr lang="en-US" sz="950" b="1" dirty="0">
                <a:solidFill>
                  <a:srgbClr val="16283B"/>
                </a:solidFill>
                <a:latin typeface="Calibri" pitchFamily="34" charset="0"/>
                <a:ea typeface="Calibri" pitchFamily="34" charset="-122"/>
                <a:cs typeface="Calibri" pitchFamily="34" charset="-120"/>
              </a:rPr>
              <a:t>Jersey City Medical Center</a:t>
            </a:r>
            <a:endParaRPr lang="en-US" sz="950" dirty="0"/>
          </a:p>
        </p:txBody>
      </p:sp>
      <p:sp>
        <p:nvSpPr>
          <p:cNvPr id="76" name="Text 73"/>
          <p:cNvSpPr txBox="1"/>
          <p:nvPr/>
        </p:nvSpPr>
        <p:spPr>
          <a:xfrm>
            <a:off x="9619488" y="1232464"/>
            <a:ext cx="2176272" cy="182880"/>
          </a:xfrm>
          <a:prstGeom prst="rect">
            <a:avLst/>
          </a:prstGeom>
          <a:noFill/>
          <a:ln/>
        </p:spPr>
        <p:txBody>
          <a:bodyPr wrap="square" lIns="0" tIns="0" rIns="0" bIns="0" rtlCol="0" anchor="ctr"/>
          <a:lstStyle/>
          <a:p>
            <a:pPr marL="0" indent="0" algn="l">
              <a:buNone/>
            </a:pPr>
            <a:r>
              <a:rPr lang="en-US" sz="750" dirty="0">
                <a:solidFill>
                  <a:srgbClr val="8496A8"/>
                </a:solidFill>
                <a:latin typeface="Calibri" pitchFamily="34" charset="0"/>
                <a:ea typeface="Calibri" pitchFamily="34" charset="-122"/>
                <a:cs typeface="Calibri" pitchFamily="34" charset="-120"/>
              </a:rPr>
              <a:t>Jersey City</a:t>
            </a:r>
            <a:endParaRPr lang="en-US" sz="750" dirty="0"/>
          </a:p>
        </p:txBody>
      </p:sp>
      <p:sp>
        <p:nvSpPr>
          <p:cNvPr id="77" name="Text 74"/>
          <p:cNvSpPr txBox="1"/>
          <p:nvPr/>
        </p:nvSpPr>
        <p:spPr>
          <a:xfrm>
            <a:off x="9619488" y="2951536"/>
            <a:ext cx="2176272" cy="365760"/>
          </a:xfrm>
          <a:prstGeom prst="rect">
            <a:avLst/>
          </a:prstGeom>
          <a:noFill/>
          <a:ln/>
        </p:spPr>
        <p:txBody>
          <a:bodyPr wrap="square" lIns="0" tIns="0" rIns="0" bIns="0" rtlCol="0" anchor="t"/>
          <a:lstStyle/>
          <a:p>
            <a:pPr marL="0" indent="0" algn="l">
              <a:lnSpc>
                <a:spcPts val="1150"/>
              </a:lnSpc>
              <a:buNone/>
            </a:pPr>
            <a:r>
              <a:rPr lang="en-US" sz="950" b="1" dirty="0">
                <a:solidFill>
                  <a:srgbClr val="16283B"/>
                </a:solidFill>
                <a:latin typeface="Calibri" pitchFamily="34" charset="0"/>
                <a:ea typeface="Calibri" pitchFamily="34" charset="-122"/>
                <a:cs typeface="Calibri" pitchFamily="34" charset="-120"/>
              </a:rPr>
              <a:t>Monmouth Medical Center Southern Campus</a:t>
            </a:r>
            <a:endParaRPr lang="en-US" sz="950" dirty="0"/>
          </a:p>
        </p:txBody>
      </p:sp>
      <p:sp>
        <p:nvSpPr>
          <p:cNvPr id="78" name="Text 75"/>
          <p:cNvSpPr txBox="1"/>
          <p:nvPr/>
        </p:nvSpPr>
        <p:spPr>
          <a:xfrm>
            <a:off x="9619488" y="3299008"/>
            <a:ext cx="2176272" cy="182880"/>
          </a:xfrm>
          <a:prstGeom prst="rect">
            <a:avLst/>
          </a:prstGeom>
          <a:noFill/>
          <a:ln/>
        </p:spPr>
        <p:txBody>
          <a:bodyPr wrap="square" lIns="0" tIns="0" rIns="0" bIns="0" rtlCol="0" anchor="ctr"/>
          <a:lstStyle/>
          <a:p>
            <a:pPr marL="0" indent="0" algn="l">
              <a:buNone/>
            </a:pPr>
            <a:r>
              <a:rPr lang="en-US" sz="750" dirty="0">
                <a:solidFill>
                  <a:srgbClr val="8496A8"/>
                </a:solidFill>
                <a:latin typeface="Calibri" pitchFamily="34" charset="0"/>
                <a:ea typeface="Calibri" pitchFamily="34" charset="-122"/>
                <a:cs typeface="Calibri" pitchFamily="34" charset="-120"/>
              </a:rPr>
              <a:t>Lakewood</a:t>
            </a:r>
            <a:endParaRPr lang="en-US" sz="750" dirty="0"/>
          </a:p>
        </p:txBody>
      </p:sp>
      <p:sp>
        <p:nvSpPr>
          <p:cNvPr id="79" name="Text 76"/>
          <p:cNvSpPr txBox="1"/>
          <p:nvPr/>
        </p:nvSpPr>
        <p:spPr>
          <a:xfrm>
            <a:off x="9619488" y="2000560"/>
            <a:ext cx="2176272" cy="201168"/>
          </a:xfrm>
          <a:prstGeom prst="rect">
            <a:avLst/>
          </a:prstGeom>
          <a:noFill/>
          <a:ln/>
        </p:spPr>
        <p:txBody>
          <a:bodyPr wrap="square" lIns="0" tIns="0" rIns="0" bIns="0" rtlCol="0" anchor="t"/>
          <a:lstStyle/>
          <a:p>
            <a:pPr marL="0" indent="0" algn="l">
              <a:lnSpc>
                <a:spcPts val="1150"/>
              </a:lnSpc>
              <a:buNone/>
            </a:pPr>
            <a:r>
              <a:rPr lang="en-US" sz="950" b="1" dirty="0">
                <a:solidFill>
                  <a:srgbClr val="16283B"/>
                </a:solidFill>
                <a:latin typeface="Calibri" pitchFamily="34" charset="0"/>
                <a:ea typeface="Calibri" pitchFamily="34" charset="-122"/>
                <a:cs typeface="Calibri" pitchFamily="34" charset="-120"/>
              </a:rPr>
              <a:t>RWJUH Rahway</a:t>
            </a:r>
            <a:endParaRPr lang="en-US" sz="950" dirty="0"/>
          </a:p>
        </p:txBody>
      </p:sp>
      <p:sp>
        <p:nvSpPr>
          <p:cNvPr id="80" name="Text 77"/>
          <p:cNvSpPr txBox="1"/>
          <p:nvPr/>
        </p:nvSpPr>
        <p:spPr>
          <a:xfrm>
            <a:off x="9619488" y="2183440"/>
            <a:ext cx="2176272" cy="182880"/>
          </a:xfrm>
          <a:prstGeom prst="rect">
            <a:avLst/>
          </a:prstGeom>
          <a:noFill/>
          <a:ln/>
        </p:spPr>
        <p:txBody>
          <a:bodyPr wrap="square" lIns="0" tIns="0" rIns="0" bIns="0" rtlCol="0" anchor="ctr"/>
          <a:lstStyle/>
          <a:p>
            <a:pPr marL="0" indent="0" algn="l">
              <a:buNone/>
            </a:pPr>
            <a:r>
              <a:rPr lang="en-US" sz="750" dirty="0">
                <a:solidFill>
                  <a:srgbClr val="8496A8"/>
                </a:solidFill>
                <a:latin typeface="Calibri" pitchFamily="34" charset="0"/>
                <a:ea typeface="Calibri" pitchFamily="34" charset="-122"/>
                <a:cs typeface="Calibri" pitchFamily="34" charset="-120"/>
              </a:rPr>
              <a:t>Rahway</a:t>
            </a:r>
            <a:endParaRPr lang="en-US" sz="750" dirty="0"/>
          </a:p>
        </p:txBody>
      </p:sp>
      <p:sp>
        <p:nvSpPr>
          <p:cNvPr id="81" name="Text 78"/>
          <p:cNvSpPr txBox="1"/>
          <p:nvPr/>
        </p:nvSpPr>
        <p:spPr>
          <a:xfrm>
            <a:off x="4572000" y="750417"/>
            <a:ext cx="1600200" cy="201168"/>
          </a:xfrm>
          <a:prstGeom prst="rect">
            <a:avLst/>
          </a:prstGeom>
          <a:noFill/>
          <a:ln/>
        </p:spPr>
        <p:txBody>
          <a:bodyPr wrap="square" lIns="0" tIns="0" rIns="0" bIns="0" rtlCol="0" anchor="t"/>
          <a:lstStyle/>
          <a:p>
            <a:pPr marL="0" indent="0" algn="r">
              <a:lnSpc>
                <a:spcPts val="1150"/>
              </a:lnSpc>
              <a:buNone/>
            </a:pPr>
            <a:r>
              <a:rPr lang="en-US" sz="950" b="1" dirty="0">
                <a:solidFill>
                  <a:srgbClr val="16283B"/>
                </a:solidFill>
                <a:latin typeface="Calibri" pitchFamily="34" charset="0"/>
                <a:ea typeface="Calibri" pitchFamily="34" charset="-122"/>
                <a:cs typeface="Calibri" pitchFamily="34" charset="-120"/>
              </a:rPr>
              <a:t>Clara Maass Medical Center</a:t>
            </a:r>
            <a:endParaRPr lang="en-US" sz="950" dirty="0"/>
          </a:p>
        </p:txBody>
      </p:sp>
      <p:sp>
        <p:nvSpPr>
          <p:cNvPr id="82" name="Text 79"/>
          <p:cNvSpPr txBox="1"/>
          <p:nvPr/>
        </p:nvSpPr>
        <p:spPr>
          <a:xfrm>
            <a:off x="4572000" y="933297"/>
            <a:ext cx="1600200" cy="182880"/>
          </a:xfrm>
          <a:prstGeom prst="rect">
            <a:avLst/>
          </a:prstGeom>
          <a:noFill/>
          <a:ln/>
        </p:spPr>
        <p:txBody>
          <a:bodyPr wrap="square" lIns="0" tIns="0" rIns="0" bIns="0" rtlCol="0" anchor="ctr"/>
          <a:lstStyle/>
          <a:p>
            <a:pPr marL="0" indent="0" algn="r">
              <a:buNone/>
            </a:pPr>
            <a:r>
              <a:rPr lang="en-US" sz="750" dirty="0">
                <a:solidFill>
                  <a:srgbClr val="8496A8"/>
                </a:solidFill>
                <a:latin typeface="Calibri" pitchFamily="34" charset="0"/>
                <a:ea typeface="Calibri" pitchFamily="34" charset="-122"/>
                <a:cs typeface="Calibri" pitchFamily="34" charset="-120"/>
              </a:rPr>
              <a:t>Belleville</a:t>
            </a:r>
            <a:endParaRPr lang="en-US" sz="750" dirty="0"/>
          </a:p>
        </p:txBody>
      </p:sp>
      <p:sp>
        <p:nvSpPr>
          <p:cNvPr id="83" name="Text 80"/>
          <p:cNvSpPr txBox="1"/>
          <p:nvPr/>
        </p:nvSpPr>
        <p:spPr>
          <a:xfrm>
            <a:off x="4572000" y="2798673"/>
            <a:ext cx="1600200" cy="201168"/>
          </a:xfrm>
          <a:prstGeom prst="rect">
            <a:avLst/>
          </a:prstGeom>
          <a:noFill/>
          <a:ln/>
        </p:spPr>
        <p:txBody>
          <a:bodyPr wrap="square" lIns="0" tIns="0" rIns="0" bIns="0" rtlCol="0" anchor="t"/>
          <a:lstStyle/>
          <a:p>
            <a:pPr marL="0" indent="0" algn="r">
              <a:lnSpc>
                <a:spcPts val="1150"/>
              </a:lnSpc>
              <a:buNone/>
            </a:pPr>
            <a:r>
              <a:rPr lang="en-US" sz="950" b="1" dirty="0">
                <a:solidFill>
                  <a:srgbClr val="16283B"/>
                </a:solidFill>
                <a:latin typeface="Calibri" pitchFamily="34" charset="0"/>
                <a:ea typeface="Calibri" pitchFamily="34" charset="-122"/>
                <a:cs typeface="Calibri" pitchFamily="34" charset="-120"/>
              </a:rPr>
              <a:t>RWJUH Hamilton</a:t>
            </a:r>
            <a:endParaRPr lang="en-US" sz="950" dirty="0"/>
          </a:p>
        </p:txBody>
      </p:sp>
      <p:sp>
        <p:nvSpPr>
          <p:cNvPr id="84" name="Text 81"/>
          <p:cNvSpPr txBox="1"/>
          <p:nvPr/>
        </p:nvSpPr>
        <p:spPr>
          <a:xfrm>
            <a:off x="4572000" y="2981553"/>
            <a:ext cx="1600200" cy="182880"/>
          </a:xfrm>
          <a:prstGeom prst="rect">
            <a:avLst/>
          </a:prstGeom>
          <a:noFill/>
          <a:ln/>
        </p:spPr>
        <p:txBody>
          <a:bodyPr wrap="square" lIns="0" tIns="0" rIns="0" bIns="0" rtlCol="0" anchor="ctr"/>
          <a:lstStyle/>
          <a:p>
            <a:pPr marL="0" indent="0" algn="r">
              <a:buNone/>
            </a:pPr>
            <a:r>
              <a:rPr lang="en-US" sz="750" dirty="0">
                <a:solidFill>
                  <a:srgbClr val="8496A8"/>
                </a:solidFill>
                <a:latin typeface="Calibri" pitchFamily="34" charset="0"/>
                <a:ea typeface="Calibri" pitchFamily="34" charset="-122"/>
                <a:cs typeface="Calibri" pitchFamily="34" charset="-120"/>
              </a:rPr>
              <a:t>Hamilton</a:t>
            </a:r>
            <a:endParaRPr lang="en-US" sz="750" dirty="0"/>
          </a:p>
        </p:txBody>
      </p:sp>
      <p:sp>
        <p:nvSpPr>
          <p:cNvPr id="85" name="Text 82"/>
          <p:cNvSpPr txBox="1"/>
          <p:nvPr/>
        </p:nvSpPr>
        <p:spPr>
          <a:xfrm>
            <a:off x="9619488" y="1525072"/>
            <a:ext cx="2176272" cy="201168"/>
          </a:xfrm>
          <a:prstGeom prst="rect">
            <a:avLst/>
          </a:prstGeom>
          <a:noFill/>
          <a:ln/>
        </p:spPr>
        <p:txBody>
          <a:bodyPr wrap="square" lIns="0" tIns="0" rIns="0" bIns="0" rtlCol="0" anchor="t"/>
          <a:lstStyle/>
          <a:p>
            <a:pPr marL="0" indent="0" algn="l">
              <a:lnSpc>
                <a:spcPts val="1150"/>
              </a:lnSpc>
              <a:buNone/>
            </a:pPr>
            <a:r>
              <a:rPr lang="en-US" sz="950" b="1" dirty="0">
                <a:solidFill>
                  <a:srgbClr val="16283B"/>
                </a:solidFill>
                <a:latin typeface="Calibri" pitchFamily="34" charset="0"/>
                <a:ea typeface="Calibri" pitchFamily="34" charset="-122"/>
                <a:cs typeface="Calibri" pitchFamily="34" charset="-120"/>
              </a:rPr>
              <a:t>Trinitas Regional Medical Center</a:t>
            </a:r>
            <a:endParaRPr lang="en-US" sz="950" dirty="0"/>
          </a:p>
        </p:txBody>
      </p:sp>
      <p:sp>
        <p:nvSpPr>
          <p:cNvPr id="86" name="Text 83"/>
          <p:cNvSpPr txBox="1"/>
          <p:nvPr/>
        </p:nvSpPr>
        <p:spPr>
          <a:xfrm>
            <a:off x="9619488" y="1707952"/>
            <a:ext cx="2176272" cy="182880"/>
          </a:xfrm>
          <a:prstGeom prst="rect">
            <a:avLst/>
          </a:prstGeom>
          <a:noFill/>
          <a:ln/>
        </p:spPr>
        <p:txBody>
          <a:bodyPr wrap="square" lIns="0" tIns="0" rIns="0" bIns="0" rtlCol="0" anchor="ctr"/>
          <a:lstStyle/>
          <a:p>
            <a:pPr marL="0" indent="0" algn="l">
              <a:buNone/>
            </a:pPr>
            <a:r>
              <a:rPr lang="en-US" sz="750" dirty="0">
                <a:solidFill>
                  <a:srgbClr val="8496A8"/>
                </a:solidFill>
                <a:latin typeface="Calibri" pitchFamily="34" charset="0"/>
                <a:ea typeface="Calibri" pitchFamily="34" charset="-122"/>
                <a:cs typeface="Calibri" pitchFamily="34" charset="-120"/>
              </a:rPr>
              <a:t>Elizabeth</a:t>
            </a:r>
            <a:endParaRPr lang="en-US" sz="750" dirty="0"/>
          </a:p>
        </p:txBody>
      </p:sp>
      <p:sp>
        <p:nvSpPr>
          <p:cNvPr id="87" name="Shape 84"/>
          <p:cNvSpPr/>
          <p:nvPr/>
        </p:nvSpPr>
        <p:spPr>
          <a:xfrm>
            <a:off x="7042900" y="5541264"/>
            <a:ext cx="310896" cy="123444"/>
          </a:xfrm>
          <a:prstGeom prst="rect">
            <a:avLst/>
          </a:prstGeom>
          <a:solidFill>
            <a:srgbClr val="FDEBD2"/>
          </a:solidFill>
          <a:ln w="7620">
            <a:solidFill>
              <a:srgbClr val="FFFFFF"/>
            </a:solidFill>
            <a:prstDash val="solid"/>
          </a:ln>
        </p:spPr>
        <p:txBody>
          <a:bodyPr/>
          <a:lstStyle/>
          <a:p>
            <a:endParaRPr lang="en-US"/>
          </a:p>
        </p:txBody>
      </p:sp>
      <p:sp>
        <p:nvSpPr>
          <p:cNvPr id="88" name="Shape 85"/>
          <p:cNvSpPr/>
          <p:nvPr/>
        </p:nvSpPr>
        <p:spPr>
          <a:xfrm>
            <a:off x="7390372" y="5541264"/>
            <a:ext cx="310896" cy="123444"/>
          </a:xfrm>
          <a:prstGeom prst="rect">
            <a:avLst/>
          </a:prstGeom>
          <a:solidFill>
            <a:srgbClr val="F7BE6E"/>
          </a:solidFill>
          <a:ln w="7620">
            <a:solidFill>
              <a:srgbClr val="FFFFFF"/>
            </a:solidFill>
            <a:prstDash val="solid"/>
          </a:ln>
        </p:spPr>
        <p:txBody>
          <a:bodyPr/>
          <a:lstStyle/>
          <a:p>
            <a:endParaRPr lang="en-US"/>
          </a:p>
        </p:txBody>
      </p:sp>
      <p:sp>
        <p:nvSpPr>
          <p:cNvPr id="89" name="Shape 86"/>
          <p:cNvSpPr/>
          <p:nvPr/>
        </p:nvSpPr>
        <p:spPr>
          <a:xfrm>
            <a:off x="7737844" y="5541264"/>
            <a:ext cx="310896" cy="123444"/>
          </a:xfrm>
          <a:prstGeom prst="rect">
            <a:avLst/>
          </a:prstGeom>
          <a:solidFill>
            <a:srgbClr val="E87A4E"/>
          </a:solidFill>
          <a:ln w="7620">
            <a:solidFill>
              <a:srgbClr val="FFFFFF"/>
            </a:solidFill>
            <a:prstDash val="solid"/>
          </a:ln>
        </p:spPr>
        <p:txBody>
          <a:bodyPr/>
          <a:lstStyle/>
          <a:p>
            <a:endParaRPr lang="en-US"/>
          </a:p>
        </p:txBody>
      </p:sp>
      <p:sp>
        <p:nvSpPr>
          <p:cNvPr id="90" name="Shape 87"/>
          <p:cNvSpPr/>
          <p:nvPr/>
        </p:nvSpPr>
        <p:spPr>
          <a:xfrm>
            <a:off x="8085316" y="5541264"/>
            <a:ext cx="310896" cy="123444"/>
          </a:xfrm>
          <a:prstGeom prst="rect">
            <a:avLst/>
          </a:prstGeom>
          <a:solidFill>
            <a:srgbClr val="B23A62"/>
          </a:solidFill>
          <a:ln w="7620">
            <a:solidFill>
              <a:srgbClr val="FFFFFF"/>
            </a:solidFill>
            <a:prstDash val="solid"/>
          </a:ln>
        </p:spPr>
        <p:txBody>
          <a:bodyPr/>
          <a:lstStyle/>
          <a:p>
            <a:endParaRPr lang="en-US"/>
          </a:p>
        </p:txBody>
      </p:sp>
      <p:sp>
        <p:nvSpPr>
          <p:cNvPr id="91" name="Shape 88"/>
          <p:cNvSpPr/>
          <p:nvPr/>
        </p:nvSpPr>
        <p:spPr>
          <a:xfrm>
            <a:off x="8432788" y="5541264"/>
            <a:ext cx="310896" cy="123444"/>
          </a:xfrm>
          <a:prstGeom prst="rect">
            <a:avLst/>
          </a:prstGeom>
          <a:solidFill>
            <a:srgbClr val="5E1F4E"/>
          </a:solidFill>
          <a:ln w="7620">
            <a:solidFill>
              <a:srgbClr val="FFFFFF"/>
            </a:solidFill>
            <a:prstDash val="solid"/>
          </a:ln>
        </p:spPr>
        <p:txBody>
          <a:bodyPr/>
          <a:lstStyle/>
          <a:p>
            <a:endParaRPr lang="en-US"/>
          </a:p>
        </p:txBody>
      </p:sp>
      <p:sp>
        <p:nvSpPr>
          <p:cNvPr id="92" name="Text 89"/>
          <p:cNvSpPr txBox="1"/>
          <p:nvPr/>
        </p:nvSpPr>
        <p:spPr>
          <a:xfrm>
            <a:off x="6329668" y="5513832"/>
            <a:ext cx="658368" cy="182880"/>
          </a:xfrm>
          <a:prstGeom prst="rect">
            <a:avLst/>
          </a:prstGeom>
          <a:noFill/>
          <a:ln/>
        </p:spPr>
        <p:txBody>
          <a:bodyPr wrap="square" lIns="0" tIns="0" rIns="0" bIns="0" rtlCol="0" anchor="ctr"/>
          <a:lstStyle/>
          <a:p>
            <a:pPr marL="0" indent="0" algn="r">
              <a:buNone/>
            </a:pPr>
            <a:r>
              <a:rPr lang="en-US" sz="700" kern="0" spc="60" dirty="0">
                <a:solidFill>
                  <a:srgbClr val="8496A8"/>
                </a:solidFill>
                <a:latin typeface="Calibri" pitchFamily="34" charset="0"/>
                <a:ea typeface="Calibri" pitchFamily="34" charset="-122"/>
                <a:cs typeface="Calibri" pitchFamily="34" charset="-120"/>
              </a:rPr>
              <a:t>LOWER</a:t>
            </a:r>
            <a:endParaRPr lang="en-US" sz="700" dirty="0"/>
          </a:p>
        </p:txBody>
      </p:sp>
      <p:sp>
        <p:nvSpPr>
          <p:cNvPr id="93" name="Text 90"/>
          <p:cNvSpPr txBox="1"/>
          <p:nvPr/>
        </p:nvSpPr>
        <p:spPr>
          <a:xfrm>
            <a:off x="8798548" y="5513832"/>
            <a:ext cx="713232" cy="182880"/>
          </a:xfrm>
          <a:prstGeom prst="rect">
            <a:avLst/>
          </a:prstGeom>
          <a:noFill/>
          <a:ln/>
        </p:spPr>
        <p:txBody>
          <a:bodyPr wrap="square" lIns="0" tIns="0" rIns="0" bIns="0" rtlCol="0" anchor="ctr"/>
          <a:lstStyle/>
          <a:p>
            <a:pPr marL="0" indent="0">
              <a:buNone/>
            </a:pPr>
            <a:r>
              <a:rPr lang="en-US" sz="700" kern="0" spc="60" dirty="0">
                <a:solidFill>
                  <a:srgbClr val="8496A8"/>
                </a:solidFill>
                <a:latin typeface="Calibri" pitchFamily="34" charset="0"/>
                <a:ea typeface="Calibri" pitchFamily="34" charset="-122"/>
                <a:cs typeface="Calibri" pitchFamily="34" charset="-120"/>
              </a:rPr>
              <a:t>HIGHER</a:t>
            </a:r>
            <a:endParaRPr lang="en-US" sz="700" dirty="0"/>
          </a:p>
        </p:txBody>
      </p:sp>
      <p:sp>
        <p:nvSpPr>
          <p:cNvPr id="94" name="Text 91"/>
          <p:cNvSpPr txBox="1"/>
          <p:nvPr/>
        </p:nvSpPr>
        <p:spPr>
          <a:xfrm>
            <a:off x="5515852" y="5724144"/>
            <a:ext cx="4754880" cy="182880"/>
          </a:xfrm>
          <a:prstGeom prst="rect">
            <a:avLst/>
          </a:prstGeom>
          <a:noFill/>
          <a:ln/>
        </p:spPr>
        <p:txBody>
          <a:bodyPr wrap="square" lIns="0" tIns="0" rIns="0" bIns="0" rtlCol="0" anchor="ctr"/>
          <a:lstStyle/>
          <a:p>
            <a:pPr marL="0" indent="0" algn="ctr">
              <a:buNone/>
            </a:pPr>
            <a:r>
              <a:rPr lang="en-US" sz="750" b="1" kern="0" spc="60" dirty="0">
                <a:solidFill>
                  <a:srgbClr val="8496A8"/>
                </a:solidFill>
                <a:latin typeface="Calibri" pitchFamily="34" charset="0"/>
                <a:ea typeface="Calibri" pitchFamily="34" charset="-122"/>
                <a:cs typeface="Calibri" pitchFamily="34" charset="-120"/>
              </a:rPr>
              <a:t>CDC/ATSDR SOCIAL VULNERABILITY INDEX — 2022 · NEW JERSEY CENSUS TRACTS</a:t>
            </a:r>
            <a:endParaRPr lang="en-US" sz="750" dirty="0"/>
          </a:p>
        </p:txBody>
      </p:sp>
      <p:sp>
        <p:nvSpPr>
          <p:cNvPr id="99" name="Shape 96"/>
          <p:cNvSpPr/>
          <p:nvPr/>
        </p:nvSpPr>
        <p:spPr>
          <a:xfrm>
            <a:off x="9710928" y="6108192"/>
            <a:ext cx="1847088" cy="438912"/>
          </a:xfrm>
          <a:prstGeom prst="rect">
            <a:avLst/>
          </a:prstGeom>
          <a:solidFill>
            <a:srgbClr val="004885"/>
          </a:solidFill>
          <a:ln w="12700">
            <a:solidFill>
              <a:srgbClr val="6F9CC4"/>
            </a:solidFill>
            <a:prstDash val="dash"/>
          </a:ln>
        </p:spPr>
        <p:txBody>
          <a:bodyPr/>
          <a:lstStyle/>
          <a:p>
            <a:endParaRPr lang="en-US"/>
          </a:p>
        </p:txBody>
      </p:sp>
      <p:sp>
        <p:nvSpPr>
          <p:cNvPr id="100" name="Text 97"/>
          <p:cNvSpPr txBox="1"/>
          <p:nvPr/>
        </p:nvSpPr>
        <p:spPr>
          <a:xfrm>
            <a:off x="9710928" y="6126480"/>
            <a:ext cx="1847088" cy="402336"/>
          </a:xfrm>
          <a:prstGeom prst="rect">
            <a:avLst/>
          </a:prstGeom>
          <a:noFill/>
          <a:ln/>
        </p:spPr>
        <p:txBody>
          <a:bodyPr wrap="square" lIns="0" tIns="0" rIns="0" bIns="0" rtlCol="0" anchor="ctr"/>
          <a:lstStyle/>
          <a:p>
            <a:pPr marL="0" indent="0" algn="ctr">
              <a:lnSpc>
                <a:spcPts val="900"/>
              </a:lnSpc>
              <a:buNone/>
            </a:pPr>
            <a:r>
              <a:rPr lang="en-US" sz="650" i="1" dirty="0">
                <a:solidFill>
                  <a:srgbClr val="A9C7E4"/>
                </a:solidFill>
                <a:latin typeface="Calibri" pitchFamily="34" charset="0"/>
                <a:ea typeface="Calibri" pitchFamily="34" charset="-122"/>
                <a:cs typeface="Calibri" pitchFamily="34" charset="-120"/>
              </a:rPr>
              <a:t>RWJBarnabas Health logo</a:t>
            </a:r>
            <a:endParaRPr lang="en-US" sz="650" dirty="0"/>
          </a:p>
          <a:p>
            <a:pPr marL="0" indent="0" algn="ctr">
              <a:lnSpc>
                <a:spcPts val="900"/>
              </a:lnSpc>
              <a:buNone/>
            </a:pPr>
            <a:r>
              <a:rPr lang="en-US" sz="650" i="1" dirty="0">
                <a:solidFill>
                  <a:srgbClr val="A9C7E4"/>
                </a:solidFill>
                <a:latin typeface="Calibri" pitchFamily="34" charset="0"/>
                <a:ea typeface="Calibri" pitchFamily="34" charset="-122"/>
                <a:cs typeface="Calibri" pitchFamily="34" charset="-120"/>
              </a:rPr>
              <a:t>place approved reversed lockup here</a:t>
            </a:r>
            <a:endParaRPr lang="en-US" sz="650" dirty="0"/>
          </a:p>
        </p:txBody>
      </p:sp>
      <p:sp>
        <p:nvSpPr>
          <p:cNvPr id="101" name="Text 98"/>
          <p:cNvSpPr txBox="1"/>
          <p:nvPr/>
        </p:nvSpPr>
        <p:spPr>
          <a:xfrm>
            <a:off x="502920" y="6729984"/>
            <a:ext cx="11183112" cy="146304"/>
          </a:xfrm>
          <a:prstGeom prst="rect">
            <a:avLst/>
          </a:prstGeom>
          <a:noFill/>
          <a:ln/>
        </p:spPr>
        <p:txBody>
          <a:bodyPr wrap="square" lIns="0" tIns="0" rIns="0" bIns="0" rtlCol="0" anchor="ctr"/>
          <a:lstStyle/>
          <a:p>
            <a:pPr marL="0" indent="0">
              <a:buNone/>
            </a:pPr>
            <a:r>
              <a:rPr lang="en-US" sz="650" dirty="0">
                <a:solidFill>
                  <a:srgbClr val="8496A8"/>
                </a:solidFill>
                <a:latin typeface="Calibri" pitchFamily="34" charset="0"/>
                <a:ea typeface="Calibri" pitchFamily="34" charset="-122"/>
                <a:cs typeface="Calibri" pitchFamily="34" charset="-120"/>
              </a:rPr>
              <a:t>Marker numbers are da Vinci systems in place at that hospital · Fleet data as of July 2026 · Shading: CDC/ATSDR Social Vulnerability Index 2022, all 2,165 New Jersey census tracts ranked against one another · 138 procedure types is 2026 year-to-date</a:t>
            </a:r>
            <a:endParaRPr lang="en-US" sz="6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B8F43FDF-10C7-B339-D60B-CEB4873F3552}"/>
              </a:ext>
            </a:extLst>
          </p:cNvPr>
          <p:cNvSpPr/>
          <p:nvPr/>
        </p:nvSpPr>
        <p:spPr>
          <a:xfrm>
            <a:off x="3916230" y="75999"/>
            <a:ext cx="3873460" cy="3657600"/>
          </a:xfrm>
          <a:prstGeom prst="ellipse">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D32F6AD-5E0A-AE6E-0784-9FF110F1814D}"/>
              </a:ext>
            </a:extLst>
          </p:cNvPr>
          <p:cNvSpPr txBox="1"/>
          <p:nvPr/>
        </p:nvSpPr>
        <p:spPr>
          <a:xfrm>
            <a:off x="4861369" y="555584"/>
            <a:ext cx="1609351" cy="646331"/>
          </a:xfrm>
          <a:prstGeom prst="rect">
            <a:avLst/>
          </a:prstGeom>
          <a:noFill/>
        </p:spPr>
        <p:txBody>
          <a:bodyPr wrap="none" rtlCol="0">
            <a:spAutoFit/>
          </a:bodyPr>
          <a:lstStyle/>
          <a:p>
            <a:r>
              <a:rPr lang="en-US" dirty="0"/>
              <a:t>Intraoperative </a:t>
            </a:r>
          </a:p>
          <a:p>
            <a:r>
              <a:rPr lang="en-US" dirty="0"/>
              <a:t>data capture</a:t>
            </a:r>
          </a:p>
        </p:txBody>
      </p:sp>
      <p:sp>
        <p:nvSpPr>
          <p:cNvPr id="5" name="TextBox 4">
            <a:extLst>
              <a:ext uri="{FF2B5EF4-FFF2-40B4-BE49-F238E27FC236}">
                <a16:creationId xmlns:a16="http://schemas.microsoft.com/office/drawing/2014/main" id="{D7766C50-C08A-4A27-9B2D-215ABB45398A}"/>
              </a:ext>
            </a:extLst>
          </p:cNvPr>
          <p:cNvSpPr txBox="1"/>
          <p:nvPr/>
        </p:nvSpPr>
        <p:spPr>
          <a:xfrm>
            <a:off x="5251122" y="1087998"/>
            <a:ext cx="2355132" cy="2585323"/>
          </a:xfrm>
          <a:prstGeom prst="rect">
            <a:avLst/>
          </a:prstGeom>
          <a:noFill/>
        </p:spPr>
        <p:txBody>
          <a:bodyPr wrap="none" rtlCol="0">
            <a:spAutoFit/>
          </a:bodyPr>
          <a:lstStyle/>
          <a:p>
            <a:r>
              <a:rPr lang="en-US" dirty="0"/>
              <a:t>Base anatomic model</a:t>
            </a:r>
          </a:p>
          <a:p>
            <a:r>
              <a:rPr lang="en-US" dirty="0"/>
              <a:t>EHR</a:t>
            </a:r>
            <a:br>
              <a:rPr lang="en-US" dirty="0"/>
            </a:br>
            <a:r>
              <a:rPr lang="en-US" dirty="0"/>
              <a:t>CT/MRI imaging</a:t>
            </a:r>
          </a:p>
          <a:p>
            <a:r>
              <a:rPr lang="en-US" dirty="0"/>
              <a:t>Vital signs</a:t>
            </a:r>
          </a:p>
          <a:p>
            <a:r>
              <a:rPr lang="en-US" dirty="0"/>
              <a:t>Video</a:t>
            </a:r>
          </a:p>
          <a:p>
            <a:r>
              <a:rPr lang="en-US" dirty="0"/>
              <a:t>Control movements</a:t>
            </a:r>
          </a:p>
          <a:p>
            <a:r>
              <a:rPr lang="en-US" dirty="0"/>
              <a:t>Meta data</a:t>
            </a:r>
          </a:p>
          <a:p>
            <a:r>
              <a:rPr lang="en-US" dirty="0"/>
              <a:t>AI abstractions</a:t>
            </a:r>
          </a:p>
          <a:p>
            <a:endParaRPr lang="en-US" dirty="0"/>
          </a:p>
        </p:txBody>
      </p:sp>
      <p:sp>
        <p:nvSpPr>
          <p:cNvPr id="10" name="TextBox 9">
            <a:extLst>
              <a:ext uri="{FF2B5EF4-FFF2-40B4-BE49-F238E27FC236}">
                <a16:creationId xmlns:a16="http://schemas.microsoft.com/office/drawing/2014/main" id="{B2118104-78FF-0037-2684-EC4D97D1153C}"/>
              </a:ext>
            </a:extLst>
          </p:cNvPr>
          <p:cNvSpPr txBox="1"/>
          <p:nvPr/>
        </p:nvSpPr>
        <p:spPr>
          <a:xfrm>
            <a:off x="9110094" y="2910074"/>
            <a:ext cx="1569660" cy="1200329"/>
          </a:xfrm>
          <a:prstGeom prst="rect">
            <a:avLst/>
          </a:prstGeom>
          <a:noFill/>
        </p:spPr>
        <p:txBody>
          <a:bodyPr wrap="none" rtlCol="0">
            <a:spAutoFit/>
          </a:bodyPr>
          <a:lstStyle/>
          <a:p>
            <a:r>
              <a:rPr lang="en-US" b="1" dirty="0"/>
              <a:t>Patient digital</a:t>
            </a:r>
            <a:br>
              <a:rPr lang="en-US" b="1" dirty="0"/>
            </a:br>
            <a:r>
              <a:rPr lang="en-US" b="1" dirty="0"/>
              <a:t>Twin with</a:t>
            </a:r>
            <a:br>
              <a:rPr lang="en-US" b="1" dirty="0"/>
            </a:br>
            <a:r>
              <a:rPr lang="en-US" b="1" dirty="0"/>
              <a:t>Surgical</a:t>
            </a:r>
            <a:br>
              <a:rPr lang="en-US" b="1" dirty="0"/>
            </a:br>
            <a:r>
              <a:rPr lang="en-US" b="1" dirty="0"/>
              <a:t>Record</a:t>
            </a:r>
          </a:p>
        </p:txBody>
      </p:sp>
      <p:sp>
        <p:nvSpPr>
          <p:cNvPr id="11" name="TextBox 10">
            <a:extLst>
              <a:ext uri="{FF2B5EF4-FFF2-40B4-BE49-F238E27FC236}">
                <a16:creationId xmlns:a16="http://schemas.microsoft.com/office/drawing/2014/main" id="{25E56298-3690-1E8D-90F7-F5BB21EDC2C5}"/>
              </a:ext>
            </a:extLst>
          </p:cNvPr>
          <p:cNvSpPr txBox="1"/>
          <p:nvPr/>
        </p:nvSpPr>
        <p:spPr>
          <a:xfrm>
            <a:off x="1867655" y="3332214"/>
            <a:ext cx="1595758" cy="1200329"/>
          </a:xfrm>
          <a:prstGeom prst="rect">
            <a:avLst/>
          </a:prstGeom>
          <a:noFill/>
        </p:spPr>
        <p:txBody>
          <a:bodyPr wrap="none" rtlCol="0">
            <a:spAutoFit/>
          </a:bodyPr>
          <a:lstStyle/>
          <a:p>
            <a:r>
              <a:rPr lang="en-US" dirty="0"/>
              <a:t>Safety </a:t>
            </a:r>
            <a:br>
              <a:rPr lang="en-US" dirty="0"/>
            </a:br>
            <a:r>
              <a:rPr lang="en-US" dirty="0"/>
              <a:t> Signals</a:t>
            </a:r>
          </a:p>
          <a:p>
            <a:r>
              <a:rPr lang="en-US" dirty="0"/>
              <a:t> and Outcome</a:t>
            </a:r>
            <a:br>
              <a:rPr lang="en-US" dirty="0"/>
            </a:br>
            <a:r>
              <a:rPr lang="en-US" dirty="0"/>
              <a:t>Data</a:t>
            </a:r>
          </a:p>
        </p:txBody>
      </p:sp>
      <p:cxnSp>
        <p:nvCxnSpPr>
          <p:cNvPr id="15" name="Curved Connector 14">
            <a:extLst>
              <a:ext uri="{FF2B5EF4-FFF2-40B4-BE49-F238E27FC236}">
                <a16:creationId xmlns:a16="http://schemas.microsoft.com/office/drawing/2014/main" id="{E0D6C782-A88D-87DB-F683-B3334CB33D20}"/>
              </a:ext>
            </a:extLst>
          </p:cNvPr>
          <p:cNvCxnSpPr>
            <a:cxnSpLocks/>
            <a:stCxn id="12" idx="6"/>
            <a:endCxn id="10" idx="0"/>
          </p:cNvCxnSpPr>
          <p:nvPr/>
        </p:nvCxnSpPr>
        <p:spPr>
          <a:xfrm>
            <a:off x="7789690" y="1904799"/>
            <a:ext cx="2105234" cy="1005275"/>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Curved Connector 17">
            <a:extLst>
              <a:ext uri="{FF2B5EF4-FFF2-40B4-BE49-F238E27FC236}">
                <a16:creationId xmlns:a16="http://schemas.microsoft.com/office/drawing/2014/main" id="{FC3051BE-33C5-B452-48E1-5070154C7C4B}"/>
              </a:ext>
            </a:extLst>
          </p:cNvPr>
          <p:cNvCxnSpPr>
            <a:cxnSpLocks/>
            <a:stCxn id="10" idx="2"/>
            <a:endCxn id="32" idx="6"/>
          </p:cNvCxnSpPr>
          <p:nvPr/>
        </p:nvCxnSpPr>
        <p:spPr>
          <a:xfrm rot="5400000">
            <a:off x="8420150" y="3921503"/>
            <a:ext cx="1285875" cy="1663674"/>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pic>
        <p:nvPicPr>
          <p:cNvPr id="23" name="Graphic 22" descr="Syncing cloud outline">
            <a:extLst>
              <a:ext uri="{FF2B5EF4-FFF2-40B4-BE49-F238E27FC236}">
                <a16:creationId xmlns:a16="http://schemas.microsoft.com/office/drawing/2014/main" id="{D59D938D-2EF5-8ECF-8B71-545377523E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09765" y="2910074"/>
            <a:ext cx="1200329" cy="1200329"/>
          </a:xfrm>
          <a:prstGeom prst="rect">
            <a:avLst/>
          </a:prstGeom>
        </p:spPr>
      </p:pic>
      <p:pic>
        <p:nvPicPr>
          <p:cNvPr id="25" name="Graphic 24" descr="Hospital outline">
            <a:extLst>
              <a:ext uri="{FF2B5EF4-FFF2-40B4-BE49-F238E27FC236}">
                <a16:creationId xmlns:a16="http://schemas.microsoft.com/office/drawing/2014/main" id="{71BBAB28-3722-48AF-A64C-69BCD42CDC6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49871" y="421549"/>
            <a:ext cx="914400" cy="914400"/>
          </a:xfrm>
          <a:prstGeom prst="rect">
            <a:avLst/>
          </a:prstGeom>
        </p:spPr>
      </p:pic>
      <p:grpSp>
        <p:nvGrpSpPr>
          <p:cNvPr id="34" name="Group 33">
            <a:extLst>
              <a:ext uri="{FF2B5EF4-FFF2-40B4-BE49-F238E27FC236}">
                <a16:creationId xmlns:a16="http://schemas.microsoft.com/office/drawing/2014/main" id="{EC25FC18-7C1B-FC13-6CE5-25B37F41C2AE}"/>
              </a:ext>
            </a:extLst>
          </p:cNvPr>
          <p:cNvGrpSpPr/>
          <p:nvPr/>
        </p:nvGrpSpPr>
        <p:grpSpPr>
          <a:xfrm>
            <a:off x="3290881" y="4543922"/>
            <a:ext cx="4940369" cy="1704711"/>
            <a:chOff x="2769455" y="5044180"/>
            <a:chExt cx="6279803" cy="1704711"/>
          </a:xfrm>
        </p:grpSpPr>
        <p:sp>
          <p:nvSpPr>
            <p:cNvPr id="32" name="Oval 31">
              <a:extLst>
                <a:ext uri="{FF2B5EF4-FFF2-40B4-BE49-F238E27FC236}">
                  <a16:creationId xmlns:a16="http://schemas.microsoft.com/office/drawing/2014/main" id="{067255C9-2FAD-2F58-D76F-BA51F61194DF}"/>
                </a:ext>
              </a:extLst>
            </p:cNvPr>
            <p:cNvSpPr/>
            <p:nvPr/>
          </p:nvSpPr>
          <p:spPr>
            <a:xfrm>
              <a:off x="2769455" y="5044180"/>
              <a:ext cx="6279803" cy="1704711"/>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8652ADB0-2267-5BD8-75CE-A66E46F9B0FA}"/>
                </a:ext>
              </a:extLst>
            </p:cNvPr>
            <p:cNvGrpSpPr/>
            <p:nvPr/>
          </p:nvGrpSpPr>
          <p:grpSpPr>
            <a:xfrm>
              <a:off x="4413625" y="5310431"/>
              <a:ext cx="3515034" cy="1107996"/>
              <a:chOff x="4252019" y="4619357"/>
              <a:chExt cx="3515034" cy="1107996"/>
            </a:xfrm>
          </p:grpSpPr>
          <p:sp>
            <p:nvSpPr>
              <p:cNvPr id="6" name="TextBox 5">
                <a:extLst>
                  <a:ext uri="{FF2B5EF4-FFF2-40B4-BE49-F238E27FC236}">
                    <a16:creationId xmlns:a16="http://schemas.microsoft.com/office/drawing/2014/main" id="{58B7A02F-4C2C-036D-6235-7459586D14B8}"/>
                  </a:ext>
                </a:extLst>
              </p:cNvPr>
              <p:cNvSpPr txBox="1"/>
              <p:nvPr/>
            </p:nvSpPr>
            <p:spPr>
              <a:xfrm>
                <a:off x="4833108" y="4988689"/>
                <a:ext cx="1613903" cy="369332"/>
              </a:xfrm>
              <a:prstGeom prst="rect">
                <a:avLst/>
              </a:prstGeom>
              <a:noFill/>
            </p:spPr>
            <p:txBody>
              <a:bodyPr wrap="none" rtlCol="0">
                <a:spAutoFit/>
              </a:bodyPr>
              <a:lstStyle/>
              <a:p>
                <a:r>
                  <a:rPr lang="en-US" dirty="0"/>
                  <a:t>Virtual surgery</a:t>
                </a:r>
              </a:p>
            </p:txBody>
          </p:sp>
          <p:sp>
            <p:nvSpPr>
              <p:cNvPr id="7" name="TextBox 6">
                <a:extLst>
                  <a:ext uri="{FF2B5EF4-FFF2-40B4-BE49-F238E27FC236}">
                    <a16:creationId xmlns:a16="http://schemas.microsoft.com/office/drawing/2014/main" id="{992E6FBE-C1C8-D509-0BC0-E88D0DDF9605}"/>
                  </a:ext>
                </a:extLst>
              </p:cNvPr>
              <p:cNvSpPr txBox="1"/>
              <p:nvPr/>
            </p:nvSpPr>
            <p:spPr>
              <a:xfrm>
                <a:off x="4252019" y="4619357"/>
                <a:ext cx="2048061" cy="369332"/>
              </a:xfrm>
              <a:prstGeom prst="rect">
                <a:avLst/>
              </a:prstGeom>
              <a:noFill/>
            </p:spPr>
            <p:txBody>
              <a:bodyPr wrap="none" rtlCol="0">
                <a:spAutoFit/>
              </a:bodyPr>
              <a:lstStyle/>
              <a:p>
                <a:r>
                  <a:rPr lang="en-US" dirty="0"/>
                  <a:t>Simulation training</a:t>
                </a:r>
              </a:p>
            </p:txBody>
          </p:sp>
          <p:sp>
            <p:nvSpPr>
              <p:cNvPr id="8" name="TextBox 7">
                <a:extLst>
                  <a:ext uri="{FF2B5EF4-FFF2-40B4-BE49-F238E27FC236}">
                    <a16:creationId xmlns:a16="http://schemas.microsoft.com/office/drawing/2014/main" id="{A36F4A43-E8BD-4509-19B7-58E172560585}"/>
                  </a:ext>
                </a:extLst>
              </p:cNvPr>
              <p:cNvSpPr txBox="1"/>
              <p:nvPr/>
            </p:nvSpPr>
            <p:spPr>
              <a:xfrm>
                <a:off x="4833108" y="5358021"/>
                <a:ext cx="2933945" cy="369332"/>
              </a:xfrm>
              <a:prstGeom prst="rect">
                <a:avLst/>
              </a:prstGeom>
              <a:noFill/>
            </p:spPr>
            <p:txBody>
              <a:bodyPr wrap="none" rtlCol="0">
                <a:spAutoFit/>
              </a:bodyPr>
              <a:lstStyle/>
              <a:p>
                <a:r>
                  <a:rPr lang="en-US" dirty="0"/>
                  <a:t>Technical skill development</a:t>
                </a:r>
              </a:p>
            </p:txBody>
          </p:sp>
        </p:grpSp>
        <p:pic>
          <p:nvPicPr>
            <p:cNvPr id="29" name="Graphic 28" descr="Classroom with solid fill">
              <a:extLst>
                <a:ext uri="{FF2B5EF4-FFF2-40B4-BE49-F238E27FC236}">
                  <a16:creationId xmlns:a16="http://schemas.microsoft.com/office/drawing/2014/main" id="{878196D7-1012-B041-C3F4-E480D691722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918886" y="5310431"/>
              <a:ext cx="914400" cy="914400"/>
            </a:xfrm>
            <a:prstGeom prst="rect">
              <a:avLst/>
            </a:prstGeom>
          </p:spPr>
        </p:pic>
        <p:pic>
          <p:nvPicPr>
            <p:cNvPr id="31" name="Graphic 30" descr="Open book with solid fill">
              <a:extLst>
                <a:ext uri="{FF2B5EF4-FFF2-40B4-BE49-F238E27FC236}">
                  <a16:creationId xmlns:a16="http://schemas.microsoft.com/office/drawing/2014/main" id="{F4BA6EE1-3061-6EE7-F691-06ADC10615D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99225" y="5407229"/>
              <a:ext cx="914400" cy="914400"/>
            </a:xfrm>
            <a:prstGeom prst="rect">
              <a:avLst/>
            </a:prstGeom>
          </p:spPr>
        </p:pic>
      </p:grpSp>
      <p:pic>
        <p:nvPicPr>
          <p:cNvPr id="36" name="Graphic 35" descr="Server outline">
            <a:extLst>
              <a:ext uri="{FF2B5EF4-FFF2-40B4-BE49-F238E27FC236}">
                <a16:creationId xmlns:a16="http://schemas.microsoft.com/office/drawing/2014/main" id="{06C23597-B118-E3D0-7EFD-19FA71034AF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93772" y="3198179"/>
            <a:ext cx="914400" cy="914400"/>
          </a:xfrm>
          <a:prstGeom prst="rect">
            <a:avLst/>
          </a:prstGeom>
        </p:spPr>
      </p:pic>
      <p:cxnSp>
        <p:nvCxnSpPr>
          <p:cNvPr id="38" name="Curved Connector 37">
            <a:extLst>
              <a:ext uri="{FF2B5EF4-FFF2-40B4-BE49-F238E27FC236}">
                <a16:creationId xmlns:a16="http://schemas.microsoft.com/office/drawing/2014/main" id="{1A89FB76-25CE-D5DD-1762-C3739DCC73C2}"/>
              </a:ext>
            </a:extLst>
          </p:cNvPr>
          <p:cNvCxnSpPr>
            <a:cxnSpLocks/>
            <a:stCxn id="12" idx="2"/>
            <a:endCxn id="11" idx="0"/>
          </p:cNvCxnSpPr>
          <p:nvPr/>
        </p:nvCxnSpPr>
        <p:spPr>
          <a:xfrm rot="10800000" flipV="1">
            <a:off x="2665534" y="1904798"/>
            <a:ext cx="1250696" cy="1427415"/>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Curved Connector 41">
            <a:extLst>
              <a:ext uri="{FF2B5EF4-FFF2-40B4-BE49-F238E27FC236}">
                <a16:creationId xmlns:a16="http://schemas.microsoft.com/office/drawing/2014/main" id="{FDB9F2D7-6EDC-15CC-25D3-6062CD6A895C}"/>
              </a:ext>
            </a:extLst>
          </p:cNvPr>
          <p:cNvCxnSpPr>
            <a:stCxn id="11" idx="2"/>
            <a:endCxn id="32" idx="2"/>
          </p:cNvCxnSpPr>
          <p:nvPr/>
        </p:nvCxnSpPr>
        <p:spPr>
          <a:xfrm rot="16200000" flipH="1">
            <a:off x="2546340" y="4651736"/>
            <a:ext cx="863735" cy="625347"/>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247013B8-DDAD-13E2-30CD-C3489C21EF33}"/>
              </a:ext>
            </a:extLst>
          </p:cNvPr>
          <p:cNvSpPr txBox="1"/>
          <p:nvPr/>
        </p:nvSpPr>
        <p:spPr>
          <a:xfrm>
            <a:off x="236283" y="341546"/>
            <a:ext cx="2546916" cy="2062103"/>
          </a:xfrm>
          <a:prstGeom prst="rect">
            <a:avLst/>
          </a:prstGeom>
          <a:noFill/>
        </p:spPr>
        <p:txBody>
          <a:bodyPr wrap="none" rtlCol="0">
            <a:spAutoFit/>
          </a:bodyPr>
          <a:lstStyle/>
          <a:p>
            <a:r>
              <a:rPr lang="en-US" sz="3200" b="1" dirty="0">
                <a:solidFill>
                  <a:schemeClr val="accent1"/>
                </a:solidFill>
              </a:rPr>
              <a:t>Surgical </a:t>
            </a:r>
            <a:br>
              <a:rPr lang="en-US" sz="3200" b="1" dirty="0">
                <a:solidFill>
                  <a:schemeClr val="accent1"/>
                </a:solidFill>
              </a:rPr>
            </a:br>
            <a:r>
              <a:rPr lang="en-US" sz="3200" b="1" dirty="0">
                <a:solidFill>
                  <a:schemeClr val="accent1"/>
                </a:solidFill>
              </a:rPr>
              <a:t>Robotics</a:t>
            </a:r>
            <a:br>
              <a:rPr lang="en-US" sz="3200" b="1" dirty="0">
                <a:solidFill>
                  <a:schemeClr val="accent1"/>
                </a:solidFill>
              </a:rPr>
            </a:br>
            <a:r>
              <a:rPr lang="en-US" sz="3200" b="1" dirty="0">
                <a:solidFill>
                  <a:schemeClr val="accent1"/>
                </a:solidFill>
              </a:rPr>
              <a:t>and</a:t>
            </a:r>
            <a:br>
              <a:rPr lang="en-US" sz="3200" b="1" dirty="0">
                <a:solidFill>
                  <a:schemeClr val="accent1"/>
                </a:solidFill>
              </a:rPr>
            </a:br>
            <a:r>
              <a:rPr lang="en-US" sz="3200" b="1" dirty="0">
                <a:solidFill>
                  <a:schemeClr val="accent1"/>
                </a:solidFill>
              </a:rPr>
              <a:t>Digital Twins</a:t>
            </a:r>
          </a:p>
        </p:txBody>
      </p:sp>
      <p:pic>
        <p:nvPicPr>
          <p:cNvPr id="55" name="Graphic 54" descr="Doctor female with solid fill">
            <a:extLst>
              <a:ext uri="{FF2B5EF4-FFF2-40B4-BE49-F238E27FC236}">
                <a16:creationId xmlns:a16="http://schemas.microsoft.com/office/drawing/2014/main" id="{67CDDAAD-A473-395A-E605-5FE296A3ADE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759953" y="5659834"/>
            <a:ext cx="914400" cy="914400"/>
          </a:xfrm>
          <a:prstGeom prst="rect">
            <a:avLst/>
          </a:prstGeom>
        </p:spPr>
      </p:pic>
      <p:grpSp>
        <p:nvGrpSpPr>
          <p:cNvPr id="64" name="Group 63">
            <a:extLst>
              <a:ext uri="{FF2B5EF4-FFF2-40B4-BE49-F238E27FC236}">
                <a16:creationId xmlns:a16="http://schemas.microsoft.com/office/drawing/2014/main" id="{2FC5FF51-E194-A320-77E2-DC278C6E9151}"/>
              </a:ext>
            </a:extLst>
          </p:cNvPr>
          <p:cNvGrpSpPr/>
          <p:nvPr/>
        </p:nvGrpSpPr>
        <p:grpSpPr>
          <a:xfrm>
            <a:off x="8189449" y="1051018"/>
            <a:ext cx="3240123" cy="5389181"/>
            <a:chOff x="8189449" y="1051018"/>
            <a:chExt cx="3240123" cy="5389181"/>
          </a:xfrm>
        </p:grpSpPr>
        <p:pic>
          <p:nvPicPr>
            <p:cNvPr id="52" name="Graphic 51" descr="Doctor female with solid fill">
              <a:extLst>
                <a:ext uri="{FF2B5EF4-FFF2-40B4-BE49-F238E27FC236}">
                  <a16:creationId xmlns:a16="http://schemas.microsoft.com/office/drawing/2014/main" id="{C81761E2-0C84-F60B-1D81-2E6FDF0B048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189449" y="5525799"/>
              <a:ext cx="914400" cy="914400"/>
            </a:xfrm>
            <a:prstGeom prst="rect">
              <a:avLst/>
            </a:prstGeom>
          </p:spPr>
        </p:pic>
        <p:sp>
          <p:nvSpPr>
            <p:cNvPr id="61" name="TextBox 60">
              <a:extLst>
                <a:ext uri="{FF2B5EF4-FFF2-40B4-BE49-F238E27FC236}">
                  <a16:creationId xmlns:a16="http://schemas.microsoft.com/office/drawing/2014/main" id="{4D0B860B-F1F4-A451-3CB2-42EC66B2D3D8}"/>
                </a:ext>
              </a:extLst>
            </p:cNvPr>
            <p:cNvSpPr txBox="1"/>
            <p:nvPr/>
          </p:nvSpPr>
          <p:spPr>
            <a:xfrm>
              <a:off x="9124582" y="1051018"/>
              <a:ext cx="2304990" cy="923330"/>
            </a:xfrm>
            <a:prstGeom prst="rect">
              <a:avLst/>
            </a:prstGeom>
            <a:noFill/>
          </p:spPr>
          <p:txBody>
            <a:bodyPr wrap="none" rtlCol="0">
              <a:spAutoFit/>
            </a:bodyPr>
            <a:lstStyle/>
            <a:p>
              <a:r>
                <a:rPr lang="en-US" dirty="0"/>
                <a:t>Cluster hire of faculty</a:t>
              </a:r>
            </a:p>
            <a:p>
              <a:r>
                <a:rPr lang="en-US" dirty="0"/>
                <a:t>Through BMIHAI</a:t>
              </a:r>
              <a:br>
                <a:rPr lang="en-US" dirty="0"/>
              </a:br>
              <a:r>
                <a:rPr lang="en-US" dirty="0"/>
                <a:t>Drives Innovation</a:t>
              </a:r>
            </a:p>
          </p:txBody>
        </p:sp>
      </p:grpSp>
      <p:pic>
        <p:nvPicPr>
          <p:cNvPr id="63" name="Picture 62">
            <a:extLst>
              <a:ext uri="{FF2B5EF4-FFF2-40B4-BE49-F238E27FC236}">
                <a16:creationId xmlns:a16="http://schemas.microsoft.com/office/drawing/2014/main" id="{D3A37A29-6C24-A608-95CB-36D234E16EDE}"/>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4356069" y="2072516"/>
            <a:ext cx="887216" cy="887216"/>
          </a:xfrm>
          <a:prstGeom prst="rect">
            <a:avLst/>
          </a:prstGeom>
        </p:spPr>
      </p:pic>
      <p:cxnSp>
        <p:nvCxnSpPr>
          <p:cNvPr id="3" name="Straight Arrow Connector 2">
            <a:extLst>
              <a:ext uri="{FF2B5EF4-FFF2-40B4-BE49-F238E27FC236}">
                <a16:creationId xmlns:a16="http://schemas.microsoft.com/office/drawing/2014/main" id="{59B12100-EA7A-7E7E-0113-1B2A21F26252}"/>
              </a:ext>
            </a:extLst>
          </p:cNvPr>
          <p:cNvCxnSpPr>
            <a:cxnSpLocks/>
            <a:stCxn id="32" idx="0"/>
            <a:endCxn id="12" idx="4"/>
          </p:cNvCxnSpPr>
          <p:nvPr/>
        </p:nvCxnSpPr>
        <p:spPr>
          <a:xfrm flipV="1">
            <a:off x="5761066" y="3733599"/>
            <a:ext cx="91894" cy="8103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04E3147B-63E4-DF36-9EA7-97436C46A929}"/>
              </a:ext>
            </a:extLst>
          </p:cNvPr>
          <p:cNvSpPr txBox="1"/>
          <p:nvPr/>
        </p:nvSpPr>
        <p:spPr>
          <a:xfrm>
            <a:off x="4154289" y="3994475"/>
            <a:ext cx="1745991" cy="369332"/>
          </a:xfrm>
          <a:prstGeom prst="rect">
            <a:avLst/>
          </a:prstGeom>
          <a:noFill/>
        </p:spPr>
        <p:txBody>
          <a:bodyPr wrap="none" rtlCol="0">
            <a:spAutoFit/>
          </a:bodyPr>
          <a:lstStyle/>
          <a:p>
            <a:r>
              <a:rPr lang="en-US" dirty="0"/>
              <a:t>Enhanced skills</a:t>
            </a:r>
          </a:p>
        </p:txBody>
      </p:sp>
      <p:sp>
        <p:nvSpPr>
          <p:cNvPr id="2" name="TextBox 1">
            <a:extLst>
              <a:ext uri="{FF2B5EF4-FFF2-40B4-BE49-F238E27FC236}">
                <a16:creationId xmlns:a16="http://schemas.microsoft.com/office/drawing/2014/main" id="{347BE739-E8E2-170B-D4FE-63A2A6FF951C}"/>
              </a:ext>
            </a:extLst>
          </p:cNvPr>
          <p:cNvSpPr txBox="1"/>
          <p:nvPr/>
        </p:nvSpPr>
        <p:spPr>
          <a:xfrm>
            <a:off x="816812" y="4462589"/>
            <a:ext cx="1261884" cy="646331"/>
          </a:xfrm>
          <a:prstGeom prst="rect">
            <a:avLst/>
          </a:prstGeom>
          <a:noFill/>
        </p:spPr>
        <p:txBody>
          <a:bodyPr wrap="none" rtlCol="0">
            <a:spAutoFit/>
          </a:bodyPr>
          <a:lstStyle/>
          <a:p>
            <a:r>
              <a:rPr lang="en-US" b="1" dirty="0"/>
              <a:t>Surgeon’s</a:t>
            </a:r>
            <a:br>
              <a:rPr lang="en-US" b="1" dirty="0"/>
            </a:br>
            <a:r>
              <a:rPr lang="en-US" b="1" dirty="0"/>
              <a:t>digital twin</a:t>
            </a:r>
          </a:p>
        </p:txBody>
      </p:sp>
    </p:spTree>
    <p:extLst>
      <p:ext uri="{BB962C8B-B14F-4D97-AF65-F5344CB8AC3E}">
        <p14:creationId xmlns:p14="http://schemas.microsoft.com/office/powerpoint/2010/main" val="2348225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E8DEA-C8BA-8924-21AC-B992978C6D0E}"/>
              </a:ext>
            </a:extLst>
          </p:cNvPr>
          <p:cNvSpPr>
            <a:spLocks noGrp="1"/>
          </p:cNvSpPr>
          <p:nvPr>
            <p:ph type="title"/>
          </p:nvPr>
        </p:nvSpPr>
        <p:spPr>
          <a:xfrm>
            <a:off x="861968" y="194408"/>
            <a:ext cx="11203032" cy="594360"/>
          </a:xfrm>
        </p:spPr>
        <p:txBody>
          <a:bodyPr/>
          <a:lstStyle/>
          <a:p>
            <a:r>
              <a:rPr lang="en-US" dirty="0"/>
              <a:t>Transitioning from Animal Models to New Approach Methodologies (NAMs)</a:t>
            </a:r>
          </a:p>
        </p:txBody>
      </p:sp>
      <p:graphicFrame>
        <p:nvGraphicFramePr>
          <p:cNvPr id="8" name="Content Placeholder 2">
            <a:extLst>
              <a:ext uri="{FF2B5EF4-FFF2-40B4-BE49-F238E27FC236}">
                <a16:creationId xmlns:a16="http://schemas.microsoft.com/office/drawing/2014/main" id="{28BEE062-8D5A-8C90-662A-005A333C893B}"/>
              </a:ext>
            </a:extLst>
          </p:cNvPr>
          <p:cNvGraphicFramePr>
            <a:graphicFrameLocks noGrp="1"/>
          </p:cNvGraphicFramePr>
          <p:nvPr>
            <p:ph idx="4294967295"/>
          </p:nvPr>
        </p:nvGraphicFramePr>
        <p:xfrm>
          <a:off x="6705600" y="1693863"/>
          <a:ext cx="5486400" cy="45608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7D3D3A1C-24F2-181F-CA17-F7FCC4F7C87A}"/>
              </a:ext>
            </a:extLst>
          </p:cNvPr>
          <p:cNvSpPr txBox="1"/>
          <p:nvPr/>
        </p:nvSpPr>
        <p:spPr>
          <a:xfrm>
            <a:off x="2074157" y="2082626"/>
            <a:ext cx="3717684" cy="4154984"/>
          </a:xfrm>
          <a:prstGeom prst="rect">
            <a:avLst/>
          </a:prstGeom>
          <a:solidFill>
            <a:srgbClr val="FFC2D1"/>
          </a:solidFill>
        </p:spPr>
        <p:txBody>
          <a:bodyPr wrap="none" rtlCol="0">
            <a:spAutoFit/>
          </a:bodyPr>
          <a:lstStyle/>
          <a:p>
            <a:pPr marL="285750" indent="-285750">
              <a:spcAft>
                <a:spcPts val="600"/>
              </a:spcAft>
              <a:buFont typeface="Arial" panose="020B0604020202020204" pitchFamily="34" charset="0"/>
              <a:buChar char="•"/>
            </a:pPr>
            <a:r>
              <a:rPr lang="en-US" b="1" dirty="0"/>
              <a:t>Literature synthesis and</a:t>
            </a:r>
            <a:br>
              <a:rPr lang="en-US" b="1" dirty="0"/>
            </a:br>
            <a:r>
              <a:rPr lang="en-US" b="1" dirty="0"/>
              <a:t> model comparisons</a:t>
            </a:r>
          </a:p>
          <a:p>
            <a:pPr marL="285750" indent="-285750">
              <a:spcAft>
                <a:spcPts val="600"/>
              </a:spcAft>
              <a:buFont typeface="Arial" panose="020B0604020202020204" pitchFamily="34" charset="0"/>
              <a:buChar char="•"/>
            </a:pPr>
            <a:r>
              <a:rPr lang="en-US" b="1" dirty="0"/>
              <a:t>Hands-on training</a:t>
            </a:r>
          </a:p>
          <a:p>
            <a:pPr marL="285750" indent="-285750">
              <a:spcAft>
                <a:spcPts val="600"/>
              </a:spcAft>
              <a:buFont typeface="Arial" panose="020B0604020202020204" pitchFamily="34" charset="0"/>
              <a:buChar char="•"/>
            </a:pPr>
            <a:r>
              <a:rPr lang="en-US" b="1" dirty="0"/>
              <a:t>Standards, standardized</a:t>
            </a:r>
            <a:br>
              <a:rPr lang="en-US" b="1" dirty="0"/>
            </a:br>
            <a:r>
              <a:rPr lang="en-US" b="1" dirty="0"/>
              <a:t> experiments and results sets</a:t>
            </a:r>
          </a:p>
          <a:p>
            <a:pPr marL="285750" indent="-285750">
              <a:spcAft>
                <a:spcPts val="600"/>
              </a:spcAft>
              <a:buFont typeface="Arial" panose="020B0604020202020204" pitchFamily="34" charset="0"/>
              <a:buChar char="•"/>
            </a:pPr>
            <a:r>
              <a:rPr lang="en-US" b="1" dirty="0"/>
              <a:t>Simplified analytical tools</a:t>
            </a:r>
          </a:p>
          <a:p>
            <a:pPr marL="285750" indent="-285750">
              <a:spcAft>
                <a:spcPts val="600"/>
              </a:spcAft>
              <a:buFont typeface="Arial" panose="020B0604020202020204" pitchFamily="34" charset="0"/>
              <a:buChar char="•"/>
            </a:pPr>
            <a:r>
              <a:rPr lang="en-US" b="1" dirty="0"/>
              <a:t>Select: similarity measures</a:t>
            </a:r>
            <a:br>
              <a:rPr lang="en-US" b="1" dirty="0"/>
            </a:br>
            <a:r>
              <a:rPr lang="en-US" b="1" dirty="0"/>
              <a:t>  of bionetwork topology</a:t>
            </a:r>
          </a:p>
          <a:p>
            <a:pPr marL="285750" indent="-285750">
              <a:spcAft>
                <a:spcPts val="600"/>
              </a:spcAft>
              <a:buFont typeface="Arial" panose="020B0604020202020204" pitchFamily="34" charset="0"/>
              <a:buChar char="•"/>
            </a:pPr>
            <a:r>
              <a:rPr lang="en-US" b="1" dirty="0"/>
              <a:t>Select: conservation of </a:t>
            </a:r>
            <a:br>
              <a:rPr lang="en-US" b="1" dirty="0"/>
            </a:br>
            <a:r>
              <a:rPr lang="en-US" b="1" dirty="0"/>
              <a:t>  regulatory mechanisms </a:t>
            </a:r>
            <a:br>
              <a:rPr lang="en-US" b="1" dirty="0"/>
            </a:br>
            <a:r>
              <a:rPr lang="en-US" b="1" dirty="0"/>
              <a:t>  in experiments</a:t>
            </a:r>
          </a:p>
          <a:p>
            <a:pPr marL="285750" indent="-285750">
              <a:spcAft>
                <a:spcPts val="600"/>
              </a:spcAft>
              <a:buFont typeface="Arial" panose="020B0604020202020204" pitchFamily="34" charset="0"/>
              <a:buChar char="•"/>
            </a:pPr>
            <a:r>
              <a:rPr lang="en-US" b="1" dirty="0"/>
              <a:t>Cost and risk to benefit </a:t>
            </a:r>
            <a:br>
              <a:rPr lang="en-US" b="1" dirty="0"/>
            </a:br>
            <a:r>
              <a:rPr lang="en-US" b="1" dirty="0"/>
              <a:t>  ratios for model systems</a:t>
            </a:r>
          </a:p>
        </p:txBody>
      </p:sp>
      <p:sp>
        <p:nvSpPr>
          <p:cNvPr id="5" name="TextBox 4">
            <a:extLst>
              <a:ext uri="{FF2B5EF4-FFF2-40B4-BE49-F238E27FC236}">
                <a16:creationId xmlns:a16="http://schemas.microsoft.com/office/drawing/2014/main" id="{799A0AFF-A0E7-3B59-7D67-7DF6C06E6273}"/>
              </a:ext>
            </a:extLst>
          </p:cNvPr>
          <p:cNvSpPr txBox="1"/>
          <p:nvPr/>
        </p:nvSpPr>
        <p:spPr>
          <a:xfrm>
            <a:off x="256674" y="3224463"/>
            <a:ext cx="1210588" cy="830997"/>
          </a:xfrm>
          <a:prstGeom prst="rect">
            <a:avLst/>
          </a:prstGeom>
          <a:noFill/>
        </p:spPr>
        <p:txBody>
          <a:bodyPr wrap="none" rtlCol="0">
            <a:spAutoFit/>
          </a:bodyPr>
          <a:lstStyle/>
          <a:p>
            <a:r>
              <a:rPr lang="en-US" sz="2400" b="1" dirty="0"/>
              <a:t>Animal</a:t>
            </a:r>
            <a:br>
              <a:rPr lang="en-US" sz="2400" b="1" dirty="0"/>
            </a:br>
            <a:r>
              <a:rPr lang="en-US" sz="2400" b="1" dirty="0"/>
              <a:t>model</a:t>
            </a:r>
          </a:p>
        </p:txBody>
      </p:sp>
      <p:sp>
        <p:nvSpPr>
          <p:cNvPr id="6" name="TextBox 5">
            <a:extLst>
              <a:ext uri="{FF2B5EF4-FFF2-40B4-BE49-F238E27FC236}">
                <a16:creationId xmlns:a16="http://schemas.microsoft.com/office/drawing/2014/main" id="{B2E65031-A4FE-0E2E-DF69-D5F5B58F7194}"/>
              </a:ext>
            </a:extLst>
          </p:cNvPr>
          <p:cNvSpPr txBox="1"/>
          <p:nvPr/>
        </p:nvSpPr>
        <p:spPr>
          <a:xfrm>
            <a:off x="2212017" y="1620961"/>
            <a:ext cx="3467616" cy="461665"/>
          </a:xfrm>
          <a:prstGeom prst="rect">
            <a:avLst/>
          </a:prstGeom>
          <a:noFill/>
        </p:spPr>
        <p:txBody>
          <a:bodyPr wrap="none" rtlCol="0">
            <a:spAutoFit/>
          </a:bodyPr>
          <a:lstStyle/>
          <a:p>
            <a:r>
              <a:rPr lang="en-US" sz="2400" b="1" i="1" dirty="0"/>
              <a:t>NAMs Conversion Lab</a:t>
            </a:r>
          </a:p>
        </p:txBody>
      </p:sp>
      <p:sp>
        <p:nvSpPr>
          <p:cNvPr id="12" name="Right Arrow 11">
            <a:extLst>
              <a:ext uri="{FF2B5EF4-FFF2-40B4-BE49-F238E27FC236}">
                <a16:creationId xmlns:a16="http://schemas.microsoft.com/office/drawing/2014/main" id="{1609D19D-F709-9D40-C4E4-471A1542B309}"/>
              </a:ext>
            </a:extLst>
          </p:cNvPr>
          <p:cNvSpPr/>
          <p:nvPr/>
        </p:nvSpPr>
        <p:spPr>
          <a:xfrm>
            <a:off x="1572768" y="3438793"/>
            <a:ext cx="417311" cy="41549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a:extLst>
              <a:ext uri="{FF2B5EF4-FFF2-40B4-BE49-F238E27FC236}">
                <a16:creationId xmlns:a16="http://schemas.microsoft.com/office/drawing/2014/main" id="{02E297EA-4039-56A2-D6AE-D0A4D3640AAB}"/>
              </a:ext>
            </a:extLst>
          </p:cNvPr>
          <p:cNvSpPr/>
          <p:nvPr/>
        </p:nvSpPr>
        <p:spPr>
          <a:xfrm>
            <a:off x="5887344" y="3438793"/>
            <a:ext cx="417311" cy="41549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B77746B-B1DA-E2CF-F0BB-32F4C9E30AB2}"/>
              </a:ext>
            </a:extLst>
          </p:cNvPr>
          <p:cNvSpPr txBox="1"/>
          <p:nvPr/>
        </p:nvSpPr>
        <p:spPr>
          <a:xfrm>
            <a:off x="2018598" y="6254496"/>
            <a:ext cx="3452035" cy="369332"/>
          </a:xfrm>
          <a:prstGeom prst="rect">
            <a:avLst/>
          </a:prstGeom>
          <a:noFill/>
        </p:spPr>
        <p:txBody>
          <a:bodyPr wrap="none" rtlCol="0">
            <a:spAutoFit/>
          </a:bodyPr>
          <a:lstStyle/>
          <a:p>
            <a:r>
              <a:rPr lang="en-US" dirty="0">
                <a:solidFill>
                  <a:schemeClr val="bg1"/>
                </a:solidFill>
              </a:rPr>
              <a:t>Prep-&gt; Practice -&gt; Select -&gt;Validate</a:t>
            </a:r>
          </a:p>
        </p:txBody>
      </p:sp>
      <p:sp>
        <p:nvSpPr>
          <p:cNvPr id="15" name="TextBox 14">
            <a:extLst>
              <a:ext uri="{FF2B5EF4-FFF2-40B4-BE49-F238E27FC236}">
                <a16:creationId xmlns:a16="http://schemas.microsoft.com/office/drawing/2014/main" id="{78D73A42-5379-5253-5DD0-764228989E92}"/>
              </a:ext>
            </a:extLst>
          </p:cNvPr>
          <p:cNvSpPr txBox="1"/>
          <p:nvPr/>
        </p:nvSpPr>
        <p:spPr>
          <a:xfrm>
            <a:off x="8736836" y="6294260"/>
            <a:ext cx="813043" cy="369332"/>
          </a:xfrm>
          <a:prstGeom prst="rect">
            <a:avLst/>
          </a:prstGeom>
          <a:noFill/>
        </p:spPr>
        <p:txBody>
          <a:bodyPr wrap="none" rtlCol="0">
            <a:spAutoFit/>
          </a:bodyPr>
          <a:lstStyle/>
          <a:p>
            <a:r>
              <a:rPr lang="en-US" dirty="0"/>
              <a:t>NAMs</a:t>
            </a:r>
          </a:p>
        </p:txBody>
      </p:sp>
    </p:spTree>
    <p:extLst>
      <p:ext uri="{BB962C8B-B14F-4D97-AF65-F5344CB8AC3E}">
        <p14:creationId xmlns:p14="http://schemas.microsoft.com/office/powerpoint/2010/main" val="29369477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1034F-D02C-F49C-DEDE-F137B0FFC12B}"/>
              </a:ext>
            </a:extLst>
          </p:cNvPr>
          <p:cNvSpPr>
            <a:spLocks noGrp="1"/>
          </p:cNvSpPr>
          <p:nvPr>
            <p:ph type="title"/>
          </p:nvPr>
        </p:nvSpPr>
        <p:spPr/>
        <p:txBody>
          <a:bodyPr/>
          <a:lstStyle/>
          <a:p>
            <a:r>
              <a:rPr lang="en-US" dirty="0"/>
              <a:t>LLMs outperform many physicians and diagnosis and therapy</a:t>
            </a:r>
          </a:p>
        </p:txBody>
      </p:sp>
      <p:sp>
        <p:nvSpPr>
          <p:cNvPr id="4" name="Footer Placeholder 3">
            <a:extLst>
              <a:ext uri="{FF2B5EF4-FFF2-40B4-BE49-F238E27FC236}">
                <a16:creationId xmlns:a16="http://schemas.microsoft.com/office/drawing/2014/main" id="{14D4851B-BCA6-9E02-7094-9A3FDAC7B40F}"/>
              </a:ext>
            </a:extLst>
          </p:cNvPr>
          <p:cNvSpPr>
            <a:spLocks noGrp="1"/>
          </p:cNvSpPr>
          <p:nvPr>
            <p:ph type="ftr" sz="quarter" idx="3"/>
          </p:nvPr>
        </p:nvSpPr>
        <p:spPr/>
        <p:txBody>
          <a:bodyPr/>
          <a:lstStyle/>
          <a:p>
            <a:r>
              <a:rPr lang="en-US" dirty="0"/>
              <a:t>Center for Biomedical Informatics and Health Artificial Intelligence (BMIHAI)</a:t>
            </a:r>
          </a:p>
        </p:txBody>
      </p:sp>
      <p:pic>
        <p:nvPicPr>
          <p:cNvPr id="6" name="Picture 5">
            <a:extLst>
              <a:ext uri="{FF2B5EF4-FFF2-40B4-BE49-F238E27FC236}">
                <a16:creationId xmlns:a16="http://schemas.microsoft.com/office/drawing/2014/main" id="{CE7D7989-E956-A09A-083E-86895E6ED102}"/>
              </a:ext>
            </a:extLst>
          </p:cNvPr>
          <p:cNvPicPr>
            <a:picLocks noChangeAspect="1"/>
          </p:cNvPicPr>
          <p:nvPr/>
        </p:nvPicPr>
        <p:blipFill>
          <a:blip r:embed="rId2"/>
          <a:stretch>
            <a:fillRect/>
          </a:stretch>
        </p:blipFill>
        <p:spPr>
          <a:xfrm>
            <a:off x="7112000" y="1142999"/>
            <a:ext cx="3301027" cy="4825461"/>
          </a:xfrm>
          <a:prstGeom prst="rect">
            <a:avLst/>
          </a:prstGeom>
        </p:spPr>
      </p:pic>
      <p:pic>
        <p:nvPicPr>
          <p:cNvPr id="8" name="Picture 7">
            <a:extLst>
              <a:ext uri="{FF2B5EF4-FFF2-40B4-BE49-F238E27FC236}">
                <a16:creationId xmlns:a16="http://schemas.microsoft.com/office/drawing/2014/main" id="{1A73DDB7-3CDB-9468-25A2-B260333C5D7F}"/>
              </a:ext>
            </a:extLst>
          </p:cNvPr>
          <p:cNvPicPr>
            <a:picLocks noChangeAspect="1"/>
          </p:cNvPicPr>
          <p:nvPr/>
        </p:nvPicPr>
        <p:blipFill>
          <a:blip r:embed="rId3"/>
          <a:stretch>
            <a:fillRect/>
          </a:stretch>
        </p:blipFill>
        <p:spPr>
          <a:xfrm>
            <a:off x="517567" y="1669536"/>
            <a:ext cx="4680335" cy="3953293"/>
          </a:xfrm>
          <a:prstGeom prst="rect">
            <a:avLst/>
          </a:prstGeom>
        </p:spPr>
      </p:pic>
      <p:pic>
        <p:nvPicPr>
          <p:cNvPr id="10" name="Picture 9">
            <a:extLst>
              <a:ext uri="{FF2B5EF4-FFF2-40B4-BE49-F238E27FC236}">
                <a16:creationId xmlns:a16="http://schemas.microsoft.com/office/drawing/2014/main" id="{DF16AF95-A2AB-08A0-DF96-271FF095E698}"/>
              </a:ext>
            </a:extLst>
          </p:cNvPr>
          <p:cNvPicPr>
            <a:picLocks noChangeAspect="1"/>
          </p:cNvPicPr>
          <p:nvPr/>
        </p:nvPicPr>
        <p:blipFill>
          <a:blip r:embed="rId4"/>
          <a:stretch>
            <a:fillRect/>
          </a:stretch>
        </p:blipFill>
        <p:spPr>
          <a:xfrm>
            <a:off x="3935787" y="5555716"/>
            <a:ext cx="3059020" cy="689953"/>
          </a:xfrm>
          <a:prstGeom prst="rect">
            <a:avLst/>
          </a:prstGeom>
        </p:spPr>
      </p:pic>
    </p:spTree>
    <p:extLst>
      <p:ext uri="{BB962C8B-B14F-4D97-AF65-F5344CB8AC3E}">
        <p14:creationId xmlns:p14="http://schemas.microsoft.com/office/powerpoint/2010/main" val="16820156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29BBE-76DE-A6A6-CA28-9D8876635F0A}"/>
              </a:ext>
            </a:extLst>
          </p:cNvPr>
          <p:cNvSpPr>
            <a:spLocks noGrp="1"/>
          </p:cNvSpPr>
          <p:nvPr>
            <p:ph type="title"/>
          </p:nvPr>
        </p:nvSpPr>
        <p:spPr>
          <a:xfrm>
            <a:off x="354149" y="80862"/>
            <a:ext cx="9509760" cy="594360"/>
          </a:xfrm>
        </p:spPr>
        <p:txBody>
          <a:bodyPr>
            <a:normAutofit fontScale="90000"/>
          </a:bodyPr>
          <a:lstStyle/>
          <a:p>
            <a:r>
              <a:rPr lang="en-US" dirty="0"/>
              <a:t>Human – AI systems combinations may not be additive or synergistic</a:t>
            </a:r>
          </a:p>
        </p:txBody>
      </p:sp>
      <p:pic>
        <p:nvPicPr>
          <p:cNvPr id="4" name="Picture 3">
            <a:extLst>
              <a:ext uri="{FF2B5EF4-FFF2-40B4-BE49-F238E27FC236}">
                <a16:creationId xmlns:a16="http://schemas.microsoft.com/office/drawing/2014/main" id="{FFE6574D-6E16-F171-1FB0-B9E012CF108D}"/>
              </a:ext>
            </a:extLst>
          </p:cNvPr>
          <p:cNvPicPr>
            <a:picLocks noChangeAspect="1"/>
          </p:cNvPicPr>
          <p:nvPr/>
        </p:nvPicPr>
        <p:blipFill>
          <a:blip r:embed="rId2"/>
          <a:stretch>
            <a:fillRect/>
          </a:stretch>
        </p:blipFill>
        <p:spPr>
          <a:xfrm>
            <a:off x="4623726" y="1277257"/>
            <a:ext cx="7436212" cy="5026810"/>
          </a:xfrm>
          <a:prstGeom prst="rect">
            <a:avLst/>
          </a:prstGeom>
        </p:spPr>
      </p:pic>
      <p:pic>
        <p:nvPicPr>
          <p:cNvPr id="3" name="Picture 2">
            <a:extLst>
              <a:ext uri="{FF2B5EF4-FFF2-40B4-BE49-F238E27FC236}">
                <a16:creationId xmlns:a16="http://schemas.microsoft.com/office/drawing/2014/main" id="{52724128-8CD4-A565-2B9D-E95BBB82A43C}"/>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31520" y="3790662"/>
            <a:ext cx="3842034" cy="1746380"/>
          </a:xfrm>
          <a:prstGeom prst="rect">
            <a:avLst/>
          </a:prstGeom>
        </p:spPr>
      </p:pic>
      <p:pic>
        <p:nvPicPr>
          <p:cNvPr id="5" name="Picture 4">
            <a:extLst>
              <a:ext uri="{FF2B5EF4-FFF2-40B4-BE49-F238E27FC236}">
                <a16:creationId xmlns:a16="http://schemas.microsoft.com/office/drawing/2014/main" id="{8063F926-D660-FBC4-8741-0525BCB97848}"/>
              </a:ext>
            </a:extLst>
          </p:cNvPr>
          <p:cNvPicPr>
            <a:picLocks noChangeAspect="1"/>
          </p:cNvPicPr>
          <p:nvPr/>
        </p:nvPicPr>
        <p:blipFill>
          <a:blip r:embed="rId4"/>
          <a:stretch>
            <a:fillRect/>
          </a:stretch>
        </p:blipFill>
        <p:spPr>
          <a:xfrm>
            <a:off x="132062" y="1350577"/>
            <a:ext cx="6226629" cy="1995406"/>
          </a:xfrm>
          <a:prstGeom prst="rect">
            <a:avLst/>
          </a:prstGeom>
        </p:spPr>
      </p:pic>
    </p:spTree>
    <p:extLst>
      <p:ext uri="{BB962C8B-B14F-4D97-AF65-F5344CB8AC3E}">
        <p14:creationId xmlns:p14="http://schemas.microsoft.com/office/powerpoint/2010/main" val="19634928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AD39F78-454E-C021-89A9-2AF68D4ABB9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99500" y="3227246"/>
            <a:ext cx="4226067" cy="974583"/>
          </a:xfrm>
          <a:prstGeom prst="rect">
            <a:avLst/>
          </a:prstGeom>
        </p:spPr>
      </p:pic>
      <p:pic>
        <p:nvPicPr>
          <p:cNvPr id="5" name="Picture 4" descr="A blue and red vertical lines&#10;&#10;AI-generated content may be incorrect.">
            <a:extLst>
              <a:ext uri="{FF2B5EF4-FFF2-40B4-BE49-F238E27FC236}">
                <a16:creationId xmlns:a16="http://schemas.microsoft.com/office/drawing/2014/main" id="{2BCD0542-EFC1-36A1-F4DA-5E2EFBDFE01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04717" y="4201828"/>
            <a:ext cx="9152484" cy="2478798"/>
          </a:xfrm>
          <a:prstGeom prst="rect">
            <a:avLst/>
          </a:prstGeom>
        </p:spPr>
      </p:pic>
      <p:cxnSp>
        <p:nvCxnSpPr>
          <p:cNvPr id="7" name="Straight Arrow Connector 6">
            <a:extLst>
              <a:ext uri="{FF2B5EF4-FFF2-40B4-BE49-F238E27FC236}">
                <a16:creationId xmlns:a16="http://schemas.microsoft.com/office/drawing/2014/main" id="{812F222E-A0E1-D702-4B3E-65DC36EEBD1B}"/>
              </a:ext>
            </a:extLst>
          </p:cNvPr>
          <p:cNvCxnSpPr>
            <a:cxnSpLocks/>
          </p:cNvCxnSpPr>
          <p:nvPr/>
        </p:nvCxnSpPr>
        <p:spPr>
          <a:xfrm flipV="1">
            <a:off x="4572000" y="3848669"/>
            <a:ext cx="1827500" cy="641444"/>
          </a:xfrm>
          <a:prstGeom prst="straightConnector1">
            <a:avLst/>
          </a:prstGeom>
          <a:ln w="4445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9" name="Picture 8" descr="A diagram of a tree of code&#10;&#10;AI-generated content may be incorrect.">
            <a:extLst>
              <a:ext uri="{FF2B5EF4-FFF2-40B4-BE49-F238E27FC236}">
                <a16:creationId xmlns:a16="http://schemas.microsoft.com/office/drawing/2014/main" id="{A2E82911-4F5D-DBCA-8A25-FD65004AD896}"/>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80100" y="243720"/>
            <a:ext cx="6609592" cy="3294238"/>
          </a:xfrm>
          <a:prstGeom prst="rect">
            <a:avLst/>
          </a:prstGeom>
        </p:spPr>
      </p:pic>
      <p:sp>
        <p:nvSpPr>
          <p:cNvPr id="12" name="TextBox 11">
            <a:extLst>
              <a:ext uri="{FF2B5EF4-FFF2-40B4-BE49-F238E27FC236}">
                <a16:creationId xmlns:a16="http://schemas.microsoft.com/office/drawing/2014/main" id="{6F73FFF2-40A3-D963-199B-C3D7A5EE7C76}"/>
              </a:ext>
            </a:extLst>
          </p:cNvPr>
          <p:cNvSpPr txBox="1"/>
          <p:nvPr/>
        </p:nvSpPr>
        <p:spPr>
          <a:xfrm>
            <a:off x="8378537" y="2577518"/>
            <a:ext cx="3466013" cy="738664"/>
          </a:xfrm>
          <a:prstGeom prst="rect">
            <a:avLst/>
          </a:prstGeom>
          <a:noFill/>
        </p:spPr>
        <p:txBody>
          <a:bodyPr wrap="none" rtlCol="0">
            <a:spAutoFit/>
          </a:bodyPr>
          <a:lstStyle/>
          <a:p>
            <a:r>
              <a:rPr lang="en-US" sz="1400" dirty="0"/>
              <a:t>https://</a:t>
            </a:r>
            <a:r>
              <a:rPr lang="en-US" sz="1400" dirty="0" err="1"/>
              <a:t>research.google</a:t>
            </a:r>
            <a:r>
              <a:rPr lang="en-US" sz="1400" dirty="0"/>
              <a:t>/blog/accelerating-</a:t>
            </a:r>
            <a:br>
              <a:rPr lang="en-US" sz="1400" dirty="0"/>
            </a:br>
            <a:r>
              <a:rPr lang="en-US" sz="1400" dirty="0"/>
              <a:t>scientific-discovery-</a:t>
            </a:r>
            <a:br>
              <a:rPr lang="en-US" sz="1400" dirty="0"/>
            </a:br>
            <a:r>
              <a:rPr lang="en-US" sz="1400" dirty="0"/>
              <a:t>with-ai-powered-empirical-software/</a:t>
            </a:r>
          </a:p>
        </p:txBody>
      </p:sp>
      <p:sp>
        <p:nvSpPr>
          <p:cNvPr id="2" name="Title 1">
            <a:extLst>
              <a:ext uri="{FF2B5EF4-FFF2-40B4-BE49-F238E27FC236}">
                <a16:creationId xmlns:a16="http://schemas.microsoft.com/office/drawing/2014/main" id="{12CAF569-0341-1988-1EDB-B0FE8994E704}"/>
              </a:ext>
            </a:extLst>
          </p:cNvPr>
          <p:cNvSpPr>
            <a:spLocks noGrp="1"/>
          </p:cNvSpPr>
          <p:nvPr>
            <p:ph type="title"/>
          </p:nvPr>
        </p:nvSpPr>
        <p:spPr>
          <a:xfrm>
            <a:off x="7192383" y="385189"/>
            <a:ext cx="5117912" cy="1240263"/>
          </a:xfrm>
        </p:spPr>
        <p:txBody>
          <a:bodyPr>
            <a:noAutofit/>
          </a:bodyPr>
          <a:lstStyle/>
          <a:p>
            <a:r>
              <a:rPr lang="en-US" sz="3200" dirty="0"/>
              <a:t>AI can advance science: </a:t>
            </a:r>
            <a:br>
              <a:rPr lang="en-US" sz="3200" dirty="0"/>
            </a:br>
            <a:r>
              <a:rPr lang="en-US" sz="3200" dirty="0"/>
              <a:t>Evan Johnson’s</a:t>
            </a:r>
            <a:br>
              <a:rPr lang="en-US" sz="3200" dirty="0"/>
            </a:br>
            <a:r>
              <a:rPr lang="en-US" sz="3200" dirty="0"/>
              <a:t>innovations in RNA-seq.</a:t>
            </a:r>
          </a:p>
        </p:txBody>
      </p:sp>
      <p:sp>
        <p:nvSpPr>
          <p:cNvPr id="14" name="TextBox 13">
            <a:extLst>
              <a:ext uri="{FF2B5EF4-FFF2-40B4-BE49-F238E27FC236}">
                <a16:creationId xmlns:a16="http://schemas.microsoft.com/office/drawing/2014/main" id="{5FF9CC42-03B7-D7EE-7BAD-54E3E53E0B56}"/>
              </a:ext>
            </a:extLst>
          </p:cNvPr>
          <p:cNvSpPr txBox="1"/>
          <p:nvPr/>
        </p:nvSpPr>
        <p:spPr>
          <a:xfrm>
            <a:off x="10111544" y="4811109"/>
            <a:ext cx="1479892" cy="1200329"/>
          </a:xfrm>
          <a:prstGeom prst="rect">
            <a:avLst/>
          </a:prstGeom>
          <a:noFill/>
        </p:spPr>
        <p:txBody>
          <a:bodyPr wrap="none" rtlCol="0">
            <a:spAutoFit/>
          </a:bodyPr>
          <a:lstStyle/>
          <a:p>
            <a:r>
              <a:rPr lang="en-US" dirty="0"/>
              <a:t>RNA-seq</a:t>
            </a:r>
          </a:p>
          <a:p>
            <a:r>
              <a:rPr lang="en-US" dirty="0"/>
              <a:t>Batch file </a:t>
            </a:r>
            <a:br>
              <a:rPr lang="en-US" dirty="0"/>
            </a:br>
            <a:r>
              <a:rPr lang="en-US" dirty="0"/>
              <a:t>analysis</a:t>
            </a:r>
          </a:p>
          <a:p>
            <a:r>
              <a:rPr lang="en-US" dirty="0"/>
              <a:t>performance</a:t>
            </a:r>
          </a:p>
        </p:txBody>
      </p:sp>
    </p:spTree>
    <p:extLst>
      <p:ext uri="{BB962C8B-B14F-4D97-AF65-F5344CB8AC3E}">
        <p14:creationId xmlns:p14="http://schemas.microsoft.com/office/powerpoint/2010/main" val="28151290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11091672" cy="777240"/>
          </a:xfrm>
          <a:prstGeom prst="rect">
            <a:avLst/>
          </a:prstGeom>
          <a:noFill/>
        </p:spPr>
        <p:txBody>
          <a:bodyPr wrap="square" lIns="0" tIns="0" rIns="0" bIns="0">
            <a:spAutoFit/>
          </a:bodyPr>
          <a:lstStyle/>
          <a:p>
            <a:pPr algn="l"/>
            <a:r>
              <a:rPr sz="4000" b="1">
                <a:solidFill>
                  <a:srgbClr val="1A1A1A"/>
                </a:solidFill>
                <a:latin typeface="Calibri"/>
              </a:rPr>
              <a:t>Tuberculosis (TB) Research</a:t>
            </a:r>
          </a:p>
        </p:txBody>
      </p:sp>
      <p:sp>
        <p:nvSpPr>
          <p:cNvPr id="3" name="TextBox 2"/>
          <p:cNvSpPr txBox="1"/>
          <p:nvPr/>
        </p:nvSpPr>
        <p:spPr>
          <a:xfrm>
            <a:off x="548640" y="1234440"/>
            <a:ext cx="11091672" cy="502920"/>
          </a:xfrm>
          <a:prstGeom prst="rect">
            <a:avLst/>
          </a:prstGeom>
          <a:noFill/>
        </p:spPr>
        <p:txBody>
          <a:bodyPr wrap="square" lIns="0" tIns="0" rIns="0" bIns="0">
            <a:spAutoFit/>
          </a:bodyPr>
          <a:lstStyle/>
          <a:p>
            <a:pPr algn="l"/>
            <a:r>
              <a:rPr sz="1800" i="1" dirty="0">
                <a:solidFill>
                  <a:srgbClr val="065A82"/>
                </a:solidFill>
                <a:latin typeface="Calibri"/>
              </a:rPr>
              <a:t>Federated, AI-driven platforms for global TB discovery (</a:t>
            </a:r>
            <a:r>
              <a:rPr sz="1800" i="1" dirty="0" err="1">
                <a:solidFill>
                  <a:srgbClr val="065A82"/>
                </a:solidFill>
                <a:latin typeface="Calibri"/>
              </a:rPr>
              <a:t>RePORT</a:t>
            </a:r>
            <a:r>
              <a:rPr sz="1800" i="1" dirty="0">
                <a:solidFill>
                  <a:srgbClr val="065A82"/>
                </a:solidFill>
                <a:latin typeface="Calibri"/>
              </a:rPr>
              <a:t> International)</a:t>
            </a:r>
          </a:p>
        </p:txBody>
      </p:sp>
      <p:pic>
        <p:nvPicPr>
          <p:cNvPr id="5" name="Picture 4" descr="tb2_s07_fl_concept1_0.png"/>
          <p:cNvPicPr>
            <a:picLocks noChangeAspect="1"/>
          </p:cNvPicPr>
          <p:nvPr/>
        </p:nvPicPr>
        <p:blipFill>
          <a:blip r:embed="rId3"/>
          <a:stretch>
            <a:fillRect/>
          </a:stretch>
        </p:blipFill>
        <p:spPr>
          <a:xfrm>
            <a:off x="5870107" y="1808033"/>
            <a:ext cx="6321893" cy="3556065"/>
          </a:xfrm>
          <a:prstGeom prst="rect">
            <a:avLst/>
          </a:prstGeom>
        </p:spPr>
      </p:pic>
      <p:sp>
        <p:nvSpPr>
          <p:cNvPr id="6" name="TextBox 5"/>
          <p:cNvSpPr txBox="1"/>
          <p:nvPr/>
        </p:nvSpPr>
        <p:spPr>
          <a:xfrm>
            <a:off x="6080759" y="5826474"/>
            <a:ext cx="5742432" cy="320040"/>
          </a:xfrm>
          <a:prstGeom prst="rect">
            <a:avLst/>
          </a:prstGeom>
          <a:noFill/>
        </p:spPr>
        <p:txBody>
          <a:bodyPr wrap="none" lIns="0" tIns="0">
            <a:spAutoFit/>
          </a:bodyPr>
          <a:lstStyle/>
          <a:p>
            <a:pPr algn="ctr"/>
            <a:r>
              <a:rPr sz="1000" i="1">
                <a:solidFill>
                  <a:srgbClr val="555555"/>
                </a:solidFill>
                <a:latin typeface="Calibri"/>
              </a:rPr>
              <a:t>Federated learning architecture for RePORT International TB data</a:t>
            </a:r>
          </a:p>
        </p:txBody>
      </p:sp>
      <p:graphicFrame>
        <p:nvGraphicFramePr>
          <p:cNvPr id="10" name="TextBox 3">
            <a:extLst>
              <a:ext uri="{FF2B5EF4-FFF2-40B4-BE49-F238E27FC236}">
                <a16:creationId xmlns:a16="http://schemas.microsoft.com/office/drawing/2014/main" id="{3D9116C0-24CD-8B82-ACE7-13D9E9F832A6}"/>
              </a:ext>
            </a:extLst>
          </p:cNvPr>
          <p:cNvGraphicFramePr/>
          <p:nvPr>
            <p:extLst>
              <p:ext uri="{D42A27DB-BD31-4B8C-83A1-F6EECF244321}">
                <p14:modId xmlns:p14="http://schemas.microsoft.com/office/powerpoint/2010/main" val="2374016337"/>
              </p:ext>
            </p:extLst>
          </p:nvPr>
        </p:nvGraphicFramePr>
        <p:xfrm>
          <a:off x="169077" y="1737360"/>
          <a:ext cx="6145458" cy="496052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80B0C-904E-FE63-CAC9-E703A84AAB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49149E-3FC3-AD6F-FB7F-DAE4799B951D}"/>
              </a:ext>
            </a:extLst>
          </p:cNvPr>
          <p:cNvSpPr>
            <a:spLocks noGrp="1"/>
          </p:cNvSpPr>
          <p:nvPr>
            <p:ph type="title"/>
          </p:nvPr>
        </p:nvSpPr>
        <p:spPr/>
        <p:txBody>
          <a:bodyPr>
            <a:normAutofit fontScale="90000"/>
          </a:bodyPr>
          <a:lstStyle/>
          <a:p>
            <a:r>
              <a:rPr lang="en-US" dirty="0"/>
              <a:t>TB Research AI Alliance</a:t>
            </a:r>
          </a:p>
        </p:txBody>
      </p:sp>
      <p:graphicFrame>
        <p:nvGraphicFramePr>
          <p:cNvPr id="14" name="Content Placeholder 5">
            <a:extLst>
              <a:ext uri="{FF2B5EF4-FFF2-40B4-BE49-F238E27FC236}">
                <a16:creationId xmlns:a16="http://schemas.microsoft.com/office/drawing/2014/main" id="{483FDC53-61BD-BE0B-B99C-F7CDB4FE3842}"/>
              </a:ext>
            </a:extLst>
          </p:cNvPr>
          <p:cNvGraphicFramePr>
            <a:graphicFrameLocks noGrp="1"/>
          </p:cNvGraphicFramePr>
          <p:nvPr>
            <p:ph idx="1"/>
            <p:extLst>
              <p:ext uri="{D42A27DB-BD31-4B8C-83A1-F6EECF244321}">
                <p14:modId xmlns:p14="http://schemas.microsoft.com/office/powerpoint/2010/main" val="2289539900"/>
              </p:ext>
            </p:extLst>
          </p:nvPr>
        </p:nvGraphicFramePr>
        <p:xfrm>
          <a:off x="198032" y="1427795"/>
          <a:ext cx="4183774" cy="42508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1" name="Picture 10" descr="A diagram of a computer system&#10;&#10;AI-generated content may be incorrect.">
            <a:extLst>
              <a:ext uri="{FF2B5EF4-FFF2-40B4-BE49-F238E27FC236}">
                <a16:creationId xmlns:a16="http://schemas.microsoft.com/office/drawing/2014/main" id="{5ABFFE94-F9B0-4E45-F1F9-1B855BB6158B}"/>
              </a:ext>
            </a:extLst>
          </p:cNvPr>
          <p:cNvPicPr>
            <a:picLocks noChangeAspect="1"/>
          </p:cNvPicPr>
          <p:nvPr/>
        </p:nvPicPr>
        <p:blipFill>
          <a:blip r:embed="rId8"/>
          <a:stretch>
            <a:fillRect/>
          </a:stretch>
        </p:blipFill>
        <p:spPr>
          <a:xfrm>
            <a:off x="4742877" y="1184597"/>
            <a:ext cx="6863907" cy="4804732"/>
          </a:xfrm>
          <a:prstGeom prst="rect">
            <a:avLst/>
          </a:prstGeom>
        </p:spPr>
      </p:pic>
      <p:sp>
        <p:nvSpPr>
          <p:cNvPr id="12" name="Content Placeholder 5">
            <a:extLst>
              <a:ext uri="{FF2B5EF4-FFF2-40B4-BE49-F238E27FC236}">
                <a16:creationId xmlns:a16="http://schemas.microsoft.com/office/drawing/2014/main" id="{CAF34739-D6A1-FA48-DF32-F2C486A059DE}"/>
              </a:ext>
            </a:extLst>
          </p:cNvPr>
          <p:cNvSpPr txBox="1">
            <a:spLocks/>
          </p:cNvSpPr>
          <p:nvPr/>
        </p:nvSpPr>
        <p:spPr>
          <a:xfrm>
            <a:off x="0" y="961787"/>
            <a:ext cx="10985206" cy="55285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i="1" dirty="0">
                <a:solidFill>
                  <a:srgbClr val="065A82"/>
                </a:solidFill>
                <a:latin typeface="Calibri"/>
                <a:sym typeface="Calibri"/>
              </a:rPr>
              <a:t>Unifying clinical, imaging, and research tuberculosis data across the Northeast and turning it into AI-ready evidence.</a:t>
            </a:r>
            <a:br>
              <a:rPr lang="en-US" sz="1800" i="1" dirty="0">
                <a:solidFill>
                  <a:srgbClr val="065A82"/>
                </a:solidFill>
                <a:latin typeface="Calibri"/>
              </a:rPr>
            </a:br>
            <a:endParaRPr lang="en-US" sz="1800" i="1" dirty="0">
              <a:solidFill>
                <a:srgbClr val="065A82"/>
              </a:solidFill>
              <a:latin typeface="Calibri"/>
            </a:endParaRPr>
          </a:p>
        </p:txBody>
      </p:sp>
    </p:spTree>
    <p:extLst>
      <p:ext uri="{BB962C8B-B14F-4D97-AF65-F5344CB8AC3E}">
        <p14:creationId xmlns:p14="http://schemas.microsoft.com/office/powerpoint/2010/main" val="15891653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FE240F1-903D-7C4D-2D91-E6493030002F}"/>
              </a:ext>
            </a:extLst>
          </p:cNvPr>
          <p:cNvPicPr>
            <a:picLocks noChangeAspect="1"/>
          </p:cNvPicPr>
          <p:nvPr/>
        </p:nvPicPr>
        <p:blipFill>
          <a:blip r:embed="rId3"/>
          <a:stretch>
            <a:fillRect/>
          </a:stretch>
        </p:blipFill>
        <p:spPr>
          <a:xfrm>
            <a:off x="518875" y="346167"/>
            <a:ext cx="3026563" cy="1588946"/>
          </a:xfrm>
          <a:prstGeom prst="rect">
            <a:avLst/>
          </a:prstGeom>
        </p:spPr>
      </p:pic>
      <p:pic>
        <p:nvPicPr>
          <p:cNvPr id="8" name="Picture 7">
            <a:extLst>
              <a:ext uri="{FF2B5EF4-FFF2-40B4-BE49-F238E27FC236}">
                <a16:creationId xmlns:a16="http://schemas.microsoft.com/office/drawing/2014/main" id="{0EC141AE-45AA-C4A2-10F7-D909E3097C12}"/>
              </a:ext>
            </a:extLst>
          </p:cNvPr>
          <p:cNvPicPr>
            <a:picLocks noChangeAspect="1"/>
          </p:cNvPicPr>
          <p:nvPr/>
        </p:nvPicPr>
        <p:blipFill>
          <a:blip r:embed="rId4"/>
          <a:stretch>
            <a:fillRect/>
          </a:stretch>
        </p:blipFill>
        <p:spPr>
          <a:xfrm>
            <a:off x="4384208" y="640612"/>
            <a:ext cx="3251032" cy="959054"/>
          </a:xfrm>
          <a:prstGeom prst="rect">
            <a:avLst/>
          </a:prstGeom>
        </p:spPr>
      </p:pic>
      <p:pic>
        <p:nvPicPr>
          <p:cNvPr id="10" name="Picture 9">
            <a:extLst>
              <a:ext uri="{FF2B5EF4-FFF2-40B4-BE49-F238E27FC236}">
                <a16:creationId xmlns:a16="http://schemas.microsoft.com/office/drawing/2014/main" id="{B65E1793-A5B1-3577-F994-675BC1A4AC91}"/>
              </a:ext>
            </a:extLst>
          </p:cNvPr>
          <p:cNvPicPr>
            <a:picLocks noChangeAspect="1"/>
          </p:cNvPicPr>
          <p:nvPr/>
        </p:nvPicPr>
        <p:blipFill>
          <a:blip r:embed="rId5"/>
          <a:stretch>
            <a:fillRect/>
          </a:stretch>
        </p:blipFill>
        <p:spPr>
          <a:xfrm>
            <a:off x="506976" y="2639045"/>
            <a:ext cx="3050360" cy="1588934"/>
          </a:xfrm>
          <a:prstGeom prst="rect">
            <a:avLst/>
          </a:prstGeom>
        </p:spPr>
      </p:pic>
      <p:pic>
        <p:nvPicPr>
          <p:cNvPr id="9" name="Picture 8">
            <a:extLst>
              <a:ext uri="{FF2B5EF4-FFF2-40B4-BE49-F238E27FC236}">
                <a16:creationId xmlns:a16="http://schemas.microsoft.com/office/drawing/2014/main" id="{A5E45493-802B-0742-CF81-A489EEB66BA0}"/>
              </a:ext>
            </a:extLst>
          </p:cNvPr>
          <p:cNvPicPr>
            <a:picLocks noChangeAspect="1"/>
          </p:cNvPicPr>
          <p:nvPr/>
        </p:nvPicPr>
        <p:blipFill>
          <a:blip r:embed="rId6"/>
          <a:stretch>
            <a:fillRect/>
          </a:stretch>
        </p:blipFill>
        <p:spPr>
          <a:xfrm>
            <a:off x="417689" y="5024253"/>
            <a:ext cx="3225770" cy="1395229"/>
          </a:xfrm>
          <a:prstGeom prst="rect">
            <a:avLst/>
          </a:prstGeom>
        </p:spPr>
      </p:pic>
      <p:pic>
        <p:nvPicPr>
          <p:cNvPr id="4" name="Content Placeholder 3">
            <a:extLst>
              <a:ext uri="{FF2B5EF4-FFF2-40B4-BE49-F238E27FC236}">
                <a16:creationId xmlns:a16="http://schemas.microsoft.com/office/drawing/2014/main" id="{2AE25A85-A97A-F8C6-C1F6-E9141C43312C}"/>
              </a:ext>
            </a:extLst>
          </p:cNvPr>
          <p:cNvPicPr>
            <a:picLocks noGrp="1" noChangeAspect="1"/>
          </p:cNvPicPr>
          <p:nvPr>
            <p:ph idx="1"/>
          </p:nvPr>
        </p:nvPicPr>
        <p:blipFill>
          <a:blip r:embed="rId7"/>
          <a:stretch>
            <a:fillRect/>
          </a:stretch>
        </p:blipFill>
        <p:spPr>
          <a:xfrm>
            <a:off x="4535843" y="4930535"/>
            <a:ext cx="3007376" cy="1581298"/>
          </a:xfrm>
          <a:prstGeom prst="rect">
            <a:avLst/>
          </a:prstGeom>
        </p:spPr>
      </p:pic>
      <p:sp>
        <p:nvSpPr>
          <p:cNvPr id="15" name="Rectangle 14">
            <a:extLst>
              <a:ext uri="{FF2B5EF4-FFF2-40B4-BE49-F238E27FC236}">
                <a16:creationId xmlns:a16="http://schemas.microsoft.com/office/drawing/2014/main" id="{A5A17FC0-D416-4C8B-A9E6-5924D352B9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55127" y="-680"/>
            <a:ext cx="4236873" cy="6858681"/>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48890BF-89A3-30A8-8218-788ACD85C061}"/>
              </a:ext>
            </a:extLst>
          </p:cNvPr>
          <p:cNvSpPr>
            <a:spLocks noGrp="1"/>
          </p:cNvSpPr>
          <p:nvPr>
            <p:ph type="title"/>
          </p:nvPr>
        </p:nvSpPr>
        <p:spPr>
          <a:xfrm>
            <a:off x="8282152" y="1010485"/>
            <a:ext cx="2840391" cy="3353959"/>
          </a:xfrm>
        </p:spPr>
        <p:txBody>
          <a:bodyPr vert="horz" lIns="91440" tIns="45720" rIns="91440" bIns="45720" rtlCol="0" anchor="b">
            <a:normAutofit/>
          </a:bodyPr>
          <a:lstStyle/>
          <a:p>
            <a:r>
              <a:rPr lang="en-US" sz="4800" kern="1200">
                <a:solidFill>
                  <a:srgbClr val="FFFFFF"/>
                </a:solidFill>
                <a:latin typeface="+mj-lt"/>
                <a:ea typeface="+mj-ea"/>
                <a:cs typeface="+mj-cs"/>
              </a:rPr>
              <a:t>Partners: TB </a:t>
            </a:r>
            <a:r>
              <a:rPr lang="en-US" sz="4800" kern="1200" dirty="0">
                <a:solidFill>
                  <a:srgbClr val="FFFFFF"/>
                </a:solidFill>
                <a:latin typeface="+mj-lt"/>
                <a:ea typeface="+mj-ea"/>
                <a:cs typeface="+mj-cs"/>
              </a:rPr>
              <a:t>AI Alliance</a:t>
            </a:r>
          </a:p>
        </p:txBody>
      </p:sp>
      <p:cxnSp>
        <p:nvCxnSpPr>
          <p:cNvPr id="17" name="Straight Connector 16">
            <a:extLst>
              <a:ext uri="{FF2B5EF4-FFF2-40B4-BE49-F238E27FC236}">
                <a16:creationId xmlns:a16="http://schemas.microsoft.com/office/drawing/2014/main" id="{982DC870-E8E5-4050-B10C-CC24FC67E5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2285774"/>
            <a:ext cx="8020742" cy="0"/>
          </a:xfrm>
          <a:prstGeom prst="line">
            <a:avLst/>
          </a:prstGeom>
          <a:ln w="1016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F76A74F-C283-4DED-BD4D-086753B7CB0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 y="4571549"/>
            <a:ext cx="8113985" cy="0"/>
          </a:xfrm>
          <a:prstGeom prst="line">
            <a:avLst/>
          </a:prstGeom>
          <a:ln w="1016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B2791FB-B2F7-4BBE-B8D8-74C37FF9E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64319" y="-680"/>
            <a:ext cx="0" cy="6858003"/>
          </a:xfrm>
          <a:prstGeom prst="line">
            <a:avLst/>
          </a:prstGeom>
          <a:ln w="1016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891B5DE-6811-4844-BB18-472A3F360EE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20742" y="-680"/>
            <a:ext cx="0" cy="2240280"/>
          </a:xfrm>
          <a:prstGeom prst="line">
            <a:avLst/>
          </a:prstGeom>
          <a:ln w="101600">
            <a:solidFill>
              <a:srgbClr val="404040"/>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E6A28695-15B2-64FA-B7C8-4D3735C6B2D2}"/>
              </a:ext>
            </a:extLst>
          </p:cNvPr>
          <p:cNvPicPr>
            <a:picLocks noChangeAspect="1"/>
          </p:cNvPicPr>
          <p:nvPr/>
        </p:nvPicPr>
        <p:blipFill>
          <a:blip r:embed="rId8"/>
          <a:stretch>
            <a:fillRect/>
          </a:stretch>
        </p:blipFill>
        <p:spPr>
          <a:xfrm>
            <a:off x="4610493" y="2636436"/>
            <a:ext cx="2858079" cy="1714847"/>
          </a:xfrm>
          <a:prstGeom prst="rect">
            <a:avLst/>
          </a:prstGeom>
        </p:spPr>
      </p:pic>
      <p:cxnSp>
        <p:nvCxnSpPr>
          <p:cNvPr id="25" name="Straight Connector 24">
            <a:extLst>
              <a:ext uri="{FF2B5EF4-FFF2-40B4-BE49-F238E27FC236}">
                <a16:creationId xmlns:a16="http://schemas.microsoft.com/office/drawing/2014/main" id="{77A9CA3A-7216-41E0-B3CD-058077FD39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340636" y="4571549"/>
            <a:ext cx="1892695" cy="0"/>
          </a:xfrm>
          <a:prstGeom prst="line">
            <a:avLst/>
          </a:prstGeom>
          <a:ln w="15875">
            <a:solidFill>
              <a:srgbClr val="FFFFFF">
                <a:alpha val="7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33606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8463E84-52AD-110F-80B8-9883A1DFAC28}"/>
              </a:ext>
            </a:extLst>
          </p:cNvPr>
          <p:cNvSpPr>
            <a:spLocks noGrp="1"/>
          </p:cNvSpPr>
          <p:nvPr>
            <p:ph sz="quarter" idx="10"/>
          </p:nvPr>
        </p:nvSpPr>
        <p:spPr>
          <a:xfrm>
            <a:off x="226497" y="1061491"/>
            <a:ext cx="6919913" cy="3750000"/>
          </a:xfrm>
        </p:spPr>
        <p:txBody>
          <a:bodyPr/>
          <a:lstStyle/>
          <a:p>
            <a:r>
              <a:rPr lang="en-US" dirty="0"/>
              <a:t>Come to Rutgers!</a:t>
            </a:r>
          </a:p>
          <a:p>
            <a:r>
              <a:rPr lang="en-US" dirty="0"/>
              <a:t>Joint bootcamps and short courses</a:t>
            </a:r>
          </a:p>
          <a:p>
            <a:pPr lvl="1"/>
            <a:r>
              <a:rPr lang="en-US" dirty="0"/>
              <a:t>Co-taught in Riyadh and at Rutgers</a:t>
            </a:r>
          </a:p>
          <a:p>
            <a:r>
              <a:rPr lang="en-US" dirty="0"/>
              <a:t>Visiting trainees and faculty</a:t>
            </a:r>
          </a:p>
          <a:p>
            <a:r>
              <a:rPr lang="en-US" dirty="0"/>
              <a:t>Co-supervised students</a:t>
            </a:r>
          </a:p>
          <a:p>
            <a:pPr lvl="1"/>
            <a:r>
              <a:rPr lang="en-US" dirty="0"/>
              <a:t>PhD in Health AI, MS in AI in Healthcare</a:t>
            </a:r>
          </a:p>
          <a:p>
            <a:r>
              <a:rPr lang="en-US" dirty="0"/>
              <a:t>Shared TB data and federated analysis</a:t>
            </a:r>
          </a:p>
          <a:p>
            <a:pPr lvl="1"/>
            <a:r>
              <a:rPr lang="en-US" dirty="0"/>
              <a:t>RePORT International, TB AI Alliance</a:t>
            </a:r>
          </a:p>
          <a:p>
            <a:r>
              <a:rPr lang="en-US" dirty="0"/>
              <a:t>Joint grant mechanisms - KAIMRC and beyond</a:t>
            </a:r>
          </a:p>
        </p:txBody>
      </p:sp>
      <p:sp>
        <p:nvSpPr>
          <p:cNvPr id="4" name="Title 3">
            <a:extLst>
              <a:ext uri="{FF2B5EF4-FFF2-40B4-BE49-F238E27FC236}">
                <a16:creationId xmlns:a16="http://schemas.microsoft.com/office/drawing/2014/main" id="{40A7F91D-0E6D-0A45-D9FC-F6D42CF42D2D}"/>
              </a:ext>
            </a:extLst>
          </p:cNvPr>
          <p:cNvSpPr>
            <a:spLocks noGrp="1"/>
          </p:cNvSpPr>
          <p:nvPr>
            <p:ph type="title"/>
          </p:nvPr>
        </p:nvSpPr>
        <p:spPr/>
        <p:txBody>
          <a:bodyPr/>
          <a:lstStyle/>
          <a:p>
            <a:r>
              <a:rPr lang="en-US" dirty="0"/>
              <a:t>Collaborate with BMIHAI</a:t>
            </a:r>
          </a:p>
        </p:txBody>
      </p:sp>
    </p:spTree>
    <p:extLst>
      <p:ext uri="{BB962C8B-B14F-4D97-AF65-F5344CB8AC3E}">
        <p14:creationId xmlns:p14="http://schemas.microsoft.com/office/powerpoint/2010/main" val="23930348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6DE810C9-9511-997A-C8FF-10E9A278E598}"/>
              </a:ext>
            </a:extLst>
          </p:cNvPr>
          <p:cNvPicPr>
            <a:picLocks noChangeAspect="1"/>
          </p:cNvPicPr>
          <p:nvPr/>
        </p:nvPicPr>
        <p:blipFill>
          <a:blip r:embed="rId3"/>
          <a:stretch>
            <a:fillRect/>
          </a:stretch>
        </p:blipFill>
        <p:spPr>
          <a:xfrm>
            <a:off x="7828496" y="3160346"/>
            <a:ext cx="1574019" cy="1574019"/>
          </a:xfrm>
          <a:prstGeom prst="rect">
            <a:avLst/>
          </a:prstGeom>
        </p:spPr>
      </p:pic>
      <p:sp>
        <p:nvSpPr>
          <p:cNvPr id="2" name="Title 1">
            <a:extLst>
              <a:ext uri="{FF2B5EF4-FFF2-40B4-BE49-F238E27FC236}">
                <a16:creationId xmlns:a16="http://schemas.microsoft.com/office/drawing/2014/main" id="{DC001694-7309-26B8-7F2F-5A1A898E69C7}"/>
              </a:ext>
            </a:extLst>
          </p:cNvPr>
          <p:cNvSpPr>
            <a:spLocks noGrp="1"/>
          </p:cNvSpPr>
          <p:nvPr>
            <p:ph type="title"/>
          </p:nvPr>
        </p:nvSpPr>
        <p:spPr>
          <a:xfrm>
            <a:off x="715754" y="330380"/>
            <a:ext cx="9509760" cy="594360"/>
          </a:xfrm>
        </p:spPr>
        <p:txBody>
          <a:bodyPr>
            <a:normAutofit fontScale="90000"/>
          </a:bodyPr>
          <a:lstStyle/>
          <a:p>
            <a:pPr algn="ctr"/>
            <a:r>
              <a:rPr lang="en-US" dirty="0"/>
              <a:t>Gratitude to our Support Team and Leadership!</a:t>
            </a:r>
          </a:p>
        </p:txBody>
      </p:sp>
      <p:pic>
        <p:nvPicPr>
          <p:cNvPr id="4" name="Picture 2" descr="Jeffrey DiGiovanni, Ph.D., Dean">
            <a:extLst>
              <a:ext uri="{FF2B5EF4-FFF2-40B4-BE49-F238E27FC236}">
                <a16:creationId xmlns:a16="http://schemas.microsoft.com/office/drawing/2014/main" id="{670ECF2D-409B-8B88-4207-251E8789A461}"/>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8697608" y="5288364"/>
            <a:ext cx="1049117" cy="154281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Rutgers School of Health Professions Announces New Chief Administrative  Officer | Edison, NJ News TAPinto | TAPinto">
            <a:extLst>
              <a:ext uri="{FF2B5EF4-FFF2-40B4-BE49-F238E27FC236}">
                <a16:creationId xmlns:a16="http://schemas.microsoft.com/office/drawing/2014/main" id="{149F1287-B447-C50B-B060-970B8F234B55}"/>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a:stretch>
            <a:fillRect/>
          </a:stretch>
        </p:blipFill>
        <p:spPr bwMode="auto">
          <a:xfrm>
            <a:off x="9746725" y="5207053"/>
            <a:ext cx="1238898" cy="1537502"/>
          </a:xfrm>
          <a:prstGeom prst="rect">
            <a:avLst/>
          </a:prstGeom>
          <a:noFill/>
          <a:ln>
            <a:noFill/>
          </a:ln>
          <a:extLst>
            <a:ext uri="{53640926-AAD7-44D8-BBD7-CCE9431645EC}">
              <a14:shadowObscured xmlns:a14="http://schemas.microsoft.com/office/drawing/2010/main"/>
            </a:ext>
          </a:extLst>
        </p:spPr>
      </p:pic>
      <p:pic>
        <p:nvPicPr>
          <p:cNvPr id="6" name="Picture 5" descr="Rutgers School of Health Professions - Congrats to Filiz Carus Ozen,  instructional designer for #RutgersSHP, for being awarded the 2021  Chancellor Sustained Service Award. 👏 Her nominator wrote “not only does  she">
            <a:extLst>
              <a:ext uri="{FF2B5EF4-FFF2-40B4-BE49-F238E27FC236}">
                <a16:creationId xmlns:a16="http://schemas.microsoft.com/office/drawing/2014/main" id="{DEB537F5-A7D8-66CE-E239-471D4642DB61}"/>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bwMode="auto">
          <a:xfrm>
            <a:off x="5066001" y="1566328"/>
            <a:ext cx="1411182" cy="1424109"/>
          </a:xfrm>
          <a:prstGeom prst="rect">
            <a:avLst/>
          </a:prstGeom>
          <a:noFill/>
          <a:ln>
            <a:noFill/>
          </a:ln>
          <a:extLst>
            <a:ext uri="{53640926-AAD7-44D8-BBD7-CCE9431645EC}">
              <a14:shadowObscured xmlns:a14="http://schemas.microsoft.com/office/drawing/2010/main"/>
            </a:ext>
          </a:extLst>
        </p:spPr>
      </p:pic>
      <p:pic>
        <p:nvPicPr>
          <p:cNvPr id="7" name="Picture 6" descr="Niamboue BADO | Ph.D, Instructional Technology | Rutgers, The State  University of New Jersey, New Brunswick | Rutgers | Research profile">
            <a:extLst>
              <a:ext uri="{FF2B5EF4-FFF2-40B4-BE49-F238E27FC236}">
                <a16:creationId xmlns:a16="http://schemas.microsoft.com/office/drawing/2014/main" id="{5AF8F6C3-AC96-EA67-C853-8F8290C24D69}"/>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bwMode="auto">
          <a:xfrm>
            <a:off x="3833830" y="1490769"/>
            <a:ext cx="1429221" cy="1367127"/>
          </a:xfrm>
          <a:prstGeom prst="rect">
            <a:avLst/>
          </a:prstGeom>
          <a:noFill/>
          <a:ln>
            <a:noFill/>
          </a:ln>
          <a:extLst>
            <a:ext uri="{53640926-AAD7-44D8-BBD7-CCE9431645EC}">
              <a14:shadowObscured xmlns:a14="http://schemas.microsoft.com/office/drawing/2010/main"/>
            </a:ext>
          </a:extLst>
        </p:spPr>
      </p:pic>
      <p:pic>
        <p:nvPicPr>
          <p:cNvPr id="8" name="Picture 7" descr="2021 SHERO Awards – County of Union">
            <a:extLst>
              <a:ext uri="{FF2B5EF4-FFF2-40B4-BE49-F238E27FC236}">
                <a16:creationId xmlns:a16="http://schemas.microsoft.com/office/drawing/2014/main" id="{1851722C-105C-A8F9-11FC-3BC1EC11B4E4}"/>
              </a:ext>
            </a:extLst>
          </p:cNvPr>
          <p:cNvPicPr>
            <a:picLocks noChangeAspect="1"/>
          </p:cNvPicPr>
          <p:nvPr/>
        </p:nvPicPr>
        <p:blipFill>
          <a:blip r:embed="rId8" cstate="print">
            <a:extLst>
              <a:ext uri="{28A0092B-C50C-407E-A947-70E740481C1C}">
                <a14:useLocalDpi xmlns:a14="http://schemas.microsoft.com/office/drawing/2010/main"/>
              </a:ext>
            </a:extLst>
          </a:blip>
          <a:srcRect/>
          <a:stretch>
            <a:fillRect/>
          </a:stretch>
        </p:blipFill>
        <p:spPr bwMode="auto">
          <a:xfrm>
            <a:off x="7583345" y="1520466"/>
            <a:ext cx="1435679" cy="1435679"/>
          </a:xfrm>
          <a:prstGeom prst="rect">
            <a:avLst/>
          </a:prstGeom>
          <a:noFill/>
          <a:ln>
            <a:noFill/>
          </a:ln>
        </p:spPr>
      </p:pic>
      <p:pic>
        <p:nvPicPr>
          <p:cNvPr id="9" name="Picture 8">
            <a:extLst>
              <a:ext uri="{FF2B5EF4-FFF2-40B4-BE49-F238E27FC236}">
                <a16:creationId xmlns:a16="http://schemas.microsoft.com/office/drawing/2014/main" id="{E476401F-2DE8-9784-C37F-553C4DBF1899}"/>
              </a:ext>
            </a:extLst>
          </p:cNvPr>
          <p:cNvPicPr>
            <a:picLocks noChangeAspect="1"/>
          </p:cNvPicPr>
          <p:nvPr/>
        </p:nvPicPr>
        <p:blipFill rotWithShape="1">
          <a:blip r:embed="rId9" cstate="print">
            <a:extLst>
              <a:ext uri="{28A0092B-C50C-407E-A947-70E740481C1C}">
                <a14:useLocalDpi xmlns:a14="http://schemas.microsoft.com/office/drawing/2010/main"/>
              </a:ext>
            </a:extLst>
          </a:blip>
          <a:srcRect/>
          <a:stretch>
            <a:fillRect/>
          </a:stretch>
        </p:blipFill>
        <p:spPr bwMode="auto">
          <a:xfrm>
            <a:off x="6495222" y="1376465"/>
            <a:ext cx="1214132" cy="1442064"/>
          </a:xfrm>
          <a:prstGeom prst="rect">
            <a:avLst/>
          </a:prstGeom>
          <a:noFill/>
          <a:ln>
            <a:noFill/>
          </a:ln>
          <a:extLst>
            <a:ext uri="{53640926-AAD7-44D8-BBD7-CCE9431645EC}">
              <a14:shadowObscured xmlns:a14="http://schemas.microsoft.com/office/drawing/2010/main"/>
            </a:ext>
          </a:extLst>
        </p:spPr>
      </p:pic>
      <p:pic>
        <p:nvPicPr>
          <p:cNvPr id="10" name="Picture 4" descr="Cindy Merlino - Real Estate Agent in Westfield, NJ - Reviews ...">
            <a:extLst>
              <a:ext uri="{FF2B5EF4-FFF2-40B4-BE49-F238E27FC236}">
                <a16:creationId xmlns:a16="http://schemas.microsoft.com/office/drawing/2014/main" id="{575B3AD8-242B-F354-9969-1967703BB8C7}"/>
              </a:ext>
            </a:extLst>
          </p:cNvPr>
          <p:cNvPicPr>
            <a:picLocks noChangeAspect="1" noChangeArrowheads="1"/>
          </p:cNvPicPr>
          <p:nvPr/>
        </p:nvPicPr>
        <p:blipFill>
          <a:blip r:embed="rId10">
            <a:extLst>
              <a:ext uri="{28A0092B-C50C-407E-A947-70E740481C1C}">
                <a14:useLocalDpi xmlns:a14="http://schemas.microsoft.com/office/drawing/2010/main"/>
              </a:ext>
            </a:extLst>
          </a:blip>
          <a:srcRect/>
          <a:stretch>
            <a:fillRect/>
          </a:stretch>
        </p:blipFill>
        <p:spPr bwMode="auto">
          <a:xfrm>
            <a:off x="6426677" y="3522131"/>
            <a:ext cx="1574019" cy="157401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School Administration - Rutgers - School of Health Professions">
            <a:extLst>
              <a:ext uri="{FF2B5EF4-FFF2-40B4-BE49-F238E27FC236}">
                <a16:creationId xmlns:a16="http://schemas.microsoft.com/office/drawing/2014/main" id="{5C5D136E-2C9E-C521-7EF7-6EB948A07B6F}"/>
              </a:ext>
            </a:extLst>
          </p:cNvPr>
          <p:cNvPicPr>
            <a:picLocks noChangeAspect="1" noChangeArrowheads="1"/>
          </p:cNvPicPr>
          <p:nvPr/>
        </p:nvPicPr>
        <p:blipFill>
          <a:blip r:embed="rId11">
            <a:extLst>
              <a:ext uri="{28A0092B-C50C-407E-A947-70E740481C1C}">
                <a14:useLocalDpi xmlns:a14="http://schemas.microsoft.com/office/drawing/2010/main"/>
              </a:ext>
            </a:extLst>
          </a:blip>
          <a:srcRect/>
          <a:stretch>
            <a:fillRect/>
          </a:stretch>
        </p:blipFill>
        <p:spPr bwMode="auto">
          <a:xfrm>
            <a:off x="4982240" y="3113729"/>
            <a:ext cx="1581226" cy="1581226"/>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Sharon Canavesio - Manager, Administrative Services - Rutgers School of  Health Professions | LinkedIn">
            <a:extLst>
              <a:ext uri="{FF2B5EF4-FFF2-40B4-BE49-F238E27FC236}">
                <a16:creationId xmlns:a16="http://schemas.microsoft.com/office/drawing/2014/main" id="{C2FE38FE-8D59-C40B-0A16-26258AF97159}"/>
              </a:ext>
            </a:extLst>
          </p:cNvPr>
          <p:cNvPicPr>
            <a:picLocks noChangeAspect="1"/>
          </p:cNvPicPr>
          <p:nvPr/>
        </p:nvPicPr>
        <p:blipFill rotWithShape="1">
          <a:blip r:embed="rId12" cstate="print">
            <a:extLst>
              <a:ext uri="{28A0092B-C50C-407E-A947-70E740481C1C}">
                <a14:useLocalDpi xmlns:a14="http://schemas.microsoft.com/office/drawing/2010/main"/>
              </a:ext>
            </a:extLst>
          </a:blip>
          <a:srcRect/>
          <a:stretch/>
        </p:blipFill>
        <p:spPr bwMode="auto">
          <a:xfrm>
            <a:off x="325648" y="1457539"/>
            <a:ext cx="1446762" cy="1400357"/>
          </a:xfrm>
          <a:prstGeom prst="rect">
            <a:avLst/>
          </a:prstGeom>
          <a:ln>
            <a:noFill/>
          </a:ln>
          <a:effectLst>
            <a:outerShdw blurRad="292100" dist="139700" dir="2700000" algn="tl" rotWithShape="0">
              <a:srgbClr val="333333">
                <a:alpha val="65000"/>
              </a:srgbClr>
            </a:outerShdw>
          </a:effectLst>
          <a:extLst>
            <a:ext uri="{53640926-AAD7-44D8-BBD7-CCE9431645EC}">
              <a14:shadowObscured xmlns:a14="http://schemas.microsoft.com/office/drawing/2010/main"/>
            </a:ext>
          </a:extLst>
        </p:spPr>
      </p:pic>
      <p:pic>
        <p:nvPicPr>
          <p:cNvPr id="14" name="Picture 2" descr="Dee Magnoni - Rutgers">
            <a:extLst>
              <a:ext uri="{FF2B5EF4-FFF2-40B4-BE49-F238E27FC236}">
                <a16:creationId xmlns:a16="http://schemas.microsoft.com/office/drawing/2014/main" id="{8C5C1CC0-5C40-6C14-2F98-5B1F388DF763}"/>
              </a:ext>
            </a:extLst>
          </p:cNvPr>
          <p:cNvPicPr>
            <a:picLocks noChangeAspect="1" noChangeArrowheads="1"/>
          </p:cNvPicPr>
          <p:nvPr/>
        </p:nvPicPr>
        <p:blipFill>
          <a:blip r:embed="rId13" cstate="print">
            <a:extLst>
              <a:ext uri="{28A0092B-C50C-407E-A947-70E740481C1C}">
                <a14:useLocalDpi xmlns:a14="http://schemas.microsoft.com/office/drawing/2010/main"/>
              </a:ext>
            </a:extLst>
          </a:blip>
          <a:srcRect/>
          <a:stretch>
            <a:fillRect/>
          </a:stretch>
        </p:blipFill>
        <p:spPr bwMode="auto">
          <a:xfrm>
            <a:off x="128718" y="3132135"/>
            <a:ext cx="1613979" cy="1609904"/>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a:extLst>
              <a:ext uri="{FF2B5EF4-FFF2-40B4-BE49-F238E27FC236}">
                <a16:creationId xmlns:a16="http://schemas.microsoft.com/office/drawing/2014/main" id="{95EE76F1-D812-37DD-63FE-97E7494D1B33}"/>
              </a:ext>
            </a:extLst>
          </p:cNvPr>
          <p:cNvPicPr>
            <a:picLocks noChangeAspect="1" noChangeArrowheads="1"/>
          </p:cNvPicPr>
          <p:nvPr/>
        </p:nvPicPr>
        <p:blipFill>
          <a:blip r:embed="rId14" cstate="print">
            <a:extLst>
              <a:ext uri="{28A0092B-C50C-407E-A947-70E740481C1C}">
                <a14:useLocalDpi xmlns:a14="http://schemas.microsoft.com/office/drawing/2010/main"/>
              </a:ext>
            </a:extLst>
          </a:blip>
          <a:srcRect/>
          <a:stretch>
            <a:fillRect/>
          </a:stretch>
        </p:blipFill>
        <p:spPr bwMode="auto">
          <a:xfrm>
            <a:off x="9093526" y="3450948"/>
            <a:ext cx="1574019" cy="157401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6" descr="Najoua Borkadi | Rutgers Research">
            <a:extLst>
              <a:ext uri="{FF2B5EF4-FFF2-40B4-BE49-F238E27FC236}">
                <a16:creationId xmlns:a16="http://schemas.microsoft.com/office/drawing/2014/main" id="{BF012BDF-AF28-79D9-2E4A-C4828130B3C7}"/>
              </a:ext>
            </a:extLst>
          </p:cNvPr>
          <p:cNvPicPr>
            <a:picLocks noChangeAspect="1" noChangeArrowheads="1"/>
          </p:cNvPicPr>
          <p:nvPr/>
        </p:nvPicPr>
        <p:blipFill rotWithShape="1">
          <a:blip r:embed="rId15" cstate="print">
            <a:extLst>
              <a:ext uri="{28A0092B-C50C-407E-A947-70E740481C1C}">
                <a14:useLocalDpi xmlns:a14="http://schemas.microsoft.com/office/drawing/2010/main"/>
              </a:ext>
            </a:extLst>
          </a:blip>
          <a:srcRect/>
          <a:stretch/>
        </p:blipFill>
        <p:spPr bwMode="auto">
          <a:xfrm>
            <a:off x="3698221" y="3505593"/>
            <a:ext cx="1523946" cy="154281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Barbara Gladson | Rutgers Global Health Institute">
            <a:extLst>
              <a:ext uri="{FF2B5EF4-FFF2-40B4-BE49-F238E27FC236}">
                <a16:creationId xmlns:a16="http://schemas.microsoft.com/office/drawing/2014/main" id="{661A649E-7FA6-55A1-C066-C3E053D726A3}"/>
              </a:ext>
            </a:extLst>
          </p:cNvPr>
          <p:cNvPicPr>
            <a:picLocks noChangeAspect="1" noChangeArrowheads="1"/>
          </p:cNvPicPr>
          <p:nvPr/>
        </p:nvPicPr>
        <p:blipFill>
          <a:blip r:embed="rId16">
            <a:extLst>
              <a:ext uri="{28A0092B-C50C-407E-A947-70E740481C1C}">
                <a14:useLocalDpi xmlns:a14="http://schemas.microsoft.com/office/drawing/2010/main"/>
              </a:ext>
            </a:extLst>
          </a:blip>
          <a:srcRect/>
          <a:stretch>
            <a:fillRect/>
          </a:stretch>
        </p:blipFill>
        <p:spPr bwMode="auto">
          <a:xfrm>
            <a:off x="1318662" y="3505593"/>
            <a:ext cx="1510685" cy="1510685"/>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4" descr="Shankar Srinivasan, Ph.D. - Rutgers - School of Health Professions">
            <a:extLst>
              <a:ext uri="{FF2B5EF4-FFF2-40B4-BE49-F238E27FC236}">
                <a16:creationId xmlns:a16="http://schemas.microsoft.com/office/drawing/2014/main" id="{00C7366F-7499-8EF7-B558-BB6876F67172}"/>
              </a:ext>
            </a:extLst>
          </p:cNvPr>
          <p:cNvPicPr>
            <a:picLocks noChangeAspect="1" noChangeArrowheads="1"/>
          </p:cNvPicPr>
          <p:nvPr/>
        </p:nvPicPr>
        <p:blipFill>
          <a:blip r:embed="rId17">
            <a:extLst>
              <a:ext uri="{28A0092B-C50C-407E-A947-70E740481C1C}">
                <a14:useLocalDpi xmlns:a14="http://schemas.microsoft.com/office/drawing/2010/main"/>
              </a:ext>
            </a:extLst>
          </a:blip>
          <a:srcRect/>
          <a:stretch>
            <a:fillRect/>
          </a:stretch>
        </p:blipFill>
        <p:spPr bwMode="auto">
          <a:xfrm>
            <a:off x="2535895" y="3102739"/>
            <a:ext cx="1349921" cy="1592216"/>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4" descr="James Geller | People">
            <a:extLst>
              <a:ext uri="{FF2B5EF4-FFF2-40B4-BE49-F238E27FC236}">
                <a16:creationId xmlns:a16="http://schemas.microsoft.com/office/drawing/2014/main" id="{FE72BA93-C919-4ED0-3004-BAFA273B882E}"/>
              </a:ext>
            </a:extLst>
          </p:cNvPr>
          <p:cNvPicPr>
            <a:picLocks noChangeAspect="1" noChangeArrowheads="1"/>
          </p:cNvPicPr>
          <p:nvPr/>
        </p:nvPicPr>
        <p:blipFill>
          <a:blip r:embed="rId18" cstate="print">
            <a:extLst>
              <a:ext uri="{28A0092B-C50C-407E-A947-70E740481C1C}">
                <a14:useLocalDpi xmlns:a14="http://schemas.microsoft.com/office/drawing/2010/main"/>
              </a:ext>
            </a:extLst>
          </a:blip>
          <a:srcRect/>
          <a:stretch>
            <a:fillRect/>
          </a:stretch>
        </p:blipFill>
        <p:spPr bwMode="auto">
          <a:xfrm>
            <a:off x="10534939" y="3169422"/>
            <a:ext cx="1599621" cy="159962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9E218B86-5B0A-361E-58F4-020045D82762}"/>
              </a:ext>
            </a:extLst>
          </p:cNvPr>
          <p:cNvPicPr>
            <a:picLocks noChangeAspect="1"/>
          </p:cNvPicPr>
          <p:nvPr/>
        </p:nvPicPr>
        <p:blipFill>
          <a:blip r:embed="rId19" cstate="print">
            <a:extLst>
              <a:ext uri="{28A0092B-C50C-407E-A947-70E740481C1C}">
                <a14:useLocalDpi xmlns:a14="http://schemas.microsoft.com/office/drawing/2010/main"/>
              </a:ext>
            </a:extLst>
          </a:blip>
          <a:srcRect/>
          <a:stretch>
            <a:fillRect/>
          </a:stretch>
        </p:blipFill>
        <p:spPr>
          <a:xfrm>
            <a:off x="1816987" y="1305313"/>
            <a:ext cx="922262" cy="1400357"/>
          </a:xfrm>
          <a:prstGeom prst="rect">
            <a:avLst/>
          </a:prstGeom>
        </p:spPr>
      </p:pic>
      <p:pic>
        <p:nvPicPr>
          <p:cNvPr id="24" name="Picture 23">
            <a:extLst>
              <a:ext uri="{FF2B5EF4-FFF2-40B4-BE49-F238E27FC236}">
                <a16:creationId xmlns:a16="http://schemas.microsoft.com/office/drawing/2014/main" id="{A6127502-13DD-260D-A3F9-B5A4880D2F8F}"/>
              </a:ext>
            </a:extLst>
          </p:cNvPr>
          <p:cNvPicPr>
            <a:picLocks noChangeAspect="1"/>
          </p:cNvPicPr>
          <p:nvPr/>
        </p:nvPicPr>
        <p:blipFill>
          <a:blip r:embed="rId20"/>
          <a:stretch>
            <a:fillRect/>
          </a:stretch>
        </p:blipFill>
        <p:spPr>
          <a:xfrm>
            <a:off x="2739249" y="1584787"/>
            <a:ext cx="1418208" cy="1418208"/>
          </a:xfrm>
          <a:prstGeom prst="rect">
            <a:avLst/>
          </a:prstGeom>
        </p:spPr>
      </p:pic>
      <p:pic>
        <p:nvPicPr>
          <p:cNvPr id="25" name="Picture 2" descr="Brian Strom | Rutgers Global Health Institute">
            <a:extLst>
              <a:ext uri="{FF2B5EF4-FFF2-40B4-BE49-F238E27FC236}">
                <a16:creationId xmlns:a16="http://schemas.microsoft.com/office/drawing/2014/main" id="{FAF91668-F256-7A43-8D66-E0DC1E66934D}"/>
              </a:ext>
            </a:extLst>
          </p:cNvPr>
          <p:cNvPicPr>
            <a:picLocks noChangeAspect="1" noChangeArrowheads="1"/>
          </p:cNvPicPr>
          <p:nvPr/>
        </p:nvPicPr>
        <p:blipFill rotWithShape="1">
          <a:blip r:embed="rId21" cstate="print">
            <a:extLst>
              <a:ext uri="{28A0092B-C50C-407E-A947-70E740481C1C}">
                <a14:useLocalDpi xmlns:a14="http://schemas.microsoft.com/office/drawing/2010/main"/>
              </a:ext>
            </a:extLst>
          </a:blip>
          <a:srcRect/>
          <a:stretch>
            <a:fillRect/>
          </a:stretch>
        </p:blipFill>
        <p:spPr bwMode="auto">
          <a:xfrm>
            <a:off x="2384642" y="5137605"/>
            <a:ext cx="1201315" cy="1505369"/>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Rutgers Health - Congratulations to Bishr Omary, Senior Vice Chancellor for  Academic Affairs and Research at #RutgersBHS, who has been honored by The  American Gastroenterological Association (AGA) with its 2023 Distinguished  Service">
            <a:extLst>
              <a:ext uri="{FF2B5EF4-FFF2-40B4-BE49-F238E27FC236}">
                <a16:creationId xmlns:a16="http://schemas.microsoft.com/office/drawing/2014/main" id="{D67CE61D-3C48-F516-E9C5-39762A4B0BED}"/>
              </a:ext>
            </a:extLst>
          </p:cNvPr>
          <p:cNvPicPr>
            <a:picLocks noChangeAspect="1" noChangeArrowheads="1"/>
          </p:cNvPicPr>
          <p:nvPr/>
        </p:nvPicPr>
        <p:blipFill rotWithShape="1">
          <a:blip r:embed="rId22" cstate="print">
            <a:extLst>
              <a:ext uri="{28A0092B-C50C-407E-A947-70E740481C1C}">
                <a14:useLocalDpi xmlns:a14="http://schemas.microsoft.com/office/drawing/2010/main"/>
              </a:ext>
            </a:extLst>
          </a:blip>
          <a:srcRect/>
          <a:stretch>
            <a:fillRect/>
          </a:stretch>
        </p:blipFill>
        <p:spPr bwMode="auto">
          <a:xfrm>
            <a:off x="3585957" y="5185658"/>
            <a:ext cx="1249419" cy="1645525"/>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Kathleen Scotto | Rutgers School of Graduate Studies">
            <a:extLst>
              <a:ext uri="{FF2B5EF4-FFF2-40B4-BE49-F238E27FC236}">
                <a16:creationId xmlns:a16="http://schemas.microsoft.com/office/drawing/2014/main" id="{02B61152-2A1B-2E39-4CEA-120D8B3CA088}"/>
              </a:ext>
            </a:extLst>
          </p:cNvPr>
          <p:cNvPicPr>
            <a:picLocks noChangeAspect="1" noChangeArrowheads="1"/>
          </p:cNvPicPr>
          <p:nvPr/>
        </p:nvPicPr>
        <p:blipFill rotWithShape="1">
          <a:blip r:embed="rId23" cstate="print">
            <a:extLst>
              <a:ext uri="{28A0092B-C50C-407E-A947-70E740481C1C}">
                <a14:useLocalDpi xmlns:a14="http://schemas.microsoft.com/office/drawing/2010/main"/>
              </a:ext>
            </a:extLst>
          </a:blip>
          <a:srcRect/>
          <a:stretch/>
        </p:blipFill>
        <p:spPr bwMode="auto">
          <a:xfrm>
            <a:off x="6083129" y="5259221"/>
            <a:ext cx="1305993" cy="150859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10" descr="Henry S. Turner | Rutgers University">
            <a:extLst>
              <a:ext uri="{FF2B5EF4-FFF2-40B4-BE49-F238E27FC236}">
                <a16:creationId xmlns:a16="http://schemas.microsoft.com/office/drawing/2014/main" id="{59309178-9C6C-0D8F-EA04-5F96EEA998B3}"/>
              </a:ext>
            </a:extLst>
          </p:cNvPr>
          <p:cNvPicPr>
            <a:picLocks noChangeAspect="1" noChangeArrowheads="1"/>
          </p:cNvPicPr>
          <p:nvPr/>
        </p:nvPicPr>
        <p:blipFill>
          <a:blip r:embed="rId24" cstate="print">
            <a:extLst>
              <a:ext uri="{28A0092B-C50C-407E-A947-70E740481C1C}">
                <a14:useLocalDpi xmlns:a14="http://schemas.microsoft.com/office/drawing/2010/main"/>
              </a:ext>
            </a:extLst>
          </a:blip>
          <a:srcRect/>
          <a:stretch>
            <a:fillRect/>
          </a:stretch>
        </p:blipFill>
        <p:spPr bwMode="auto">
          <a:xfrm>
            <a:off x="1241642" y="5307945"/>
            <a:ext cx="1143001" cy="152323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Keena Arbuthnot">
            <a:extLst>
              <a:ext uri="{FF2B5EF4-FFF2-40B4-BE49-F238E27FC236}">
                <a16:creationId xmlns:a16="http://schemas.microsoft.com/office/drawing/2014/main" id="{2AD5EB88-7D0B-95D2-DD3C-B2E209228CD8}"/>
              </a:ext>
            </a:extLst>
          </p:cNvPr>
          <p:cNvPicPr>
            <a:picLocks noChangeAspect="1" noChangeArrowheads="1"/>
          </p:cNvPicPr>
          <p:nvPr/>
        </p:nvPicPr>
        <p:blipFill>
          <a:blip r:embed="rId25">
            <a:extLst>
              <a:ext uri="{28A0092B-C50C-407E-A947-70E740481C1C}">
                <a14:useLocalDpi xmlns:a14="http://schemas.microsoft.com/office/drawing/2010/main"/>
              </a:ext>
            </a:extLst>
          </a:blip>
          <a:srcRect/>
          <a:stretch>
            <a:fillRect/>
          </a:stretch>
        </p:blipFill>
        <p:spPr bwMode="auto">
          <a:xfrm>
            <a:off x="148703" y="5215767"/>
            <a:ext cx="1143000" cy="152724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Reynold Panettieri | Rutgers Global Health Institute">
            <a:extLst>
              <a:ext uri="{FF2B5EF4-FFF2-40B4-BE49-F238E27FC236}">
                <a16:creationId xmlns:a16="http://schemas.microsoft.com/office/drawing/2014/main" id="{9018088B-86E9-4574-6A08-818320DA07AC}"/>
              </a:ext>
            </a:extLst>
          </p:cNvPr>
          <p:cNvPicPr>
            <a:picLocks noChangeAspect="1" noChangeArrowheads="1"/>
          </p:cNvPicPr>
          <p:nvPr/>
        </p:nvPicPr>
        <p:blipFill rotWithShape="1">
          <a:blip r:embed="rId26" cstate="print">
            <a:extLst>
              <a:ext uri="{28A0092B-C50C-407E-A947-70E740481C1C}">
                <a14:useLocalDpi xmlns:a14="http://schemas.microsoft.com/office/drawing/2010/main"/>
              </a:ext>
            </a:extLst>
          </a:blip>
          <a:srcRect/>
          <a:stretch>
            <a:fillRect/>
          </a:stretch>
        </p:blipFill>
        <p:spPr bwMode="auto">
          <a:xfrm>
            <a:off x="10985623" y="5299075"/>
            <a:ext cx="1164908" cy="1506555"/>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a:extLst>
              <a:ext uri="{FF2B5EF4-FFF2-40B4-BE49-F238E27FC236}">
                <a16:creationId xmlns:a16="http://schemas.microsoft.com/office/drawing/2014/main" id="{A85D70B6-2F4E-3299-6D18-C0A0C69F1ED3}"/>
              </a:ext>
            </a:extLst>
          </p:cNvPr>
          <p:cNvPicPr>
            <a:picLocks noChangeAspect="1"/>
          </p:cNvPicPr>
          <p:nvPr/>
        </p:nvPicPr>
        <p:blipFill>
          <a:blip r:embed="rId27" cstate="print">
            <a:extLst>
              <a:ext uri="{28A0092B-C50C-407E-A947-70E740481C1C}">
                <a14:useLocalDpi xmlns:a14="http://schemas.microsoft.com/office/drawing/2010/main"/>
              </a:ext>
            </a:extLst>
          </a:blip>
          <a:stretch>
            <a:fillRect/>
          </a:stretch>
        </p:blipFill>
        <p:spPr>
          <a:xfrm>
            <a:off x="7436236" y="5230032"/>
            <a:ext cx="1249419" cy="1412942"/>
          </a:xfrm>
          <a:prstGeom prst="rect">
            <a:avLst/>
          </a:prstGeom>
        </p:spPr>
      </p:pic>
      <p:pic>
        <p:nvPicPr>
          <p:cNvPr id="21" name="Picture 20">
            <a:extLst>
              <a:ext uri="{FF2B5EF4-FFF2-40B4-BE49-F238E27FC236}">
                <a16:creationId xmlns:a16="http://schemas.microsoft.com/office/drawing/2014/main" id="{74E077BE-BB79-3608-0AD3-688C24DBC959}"/>
              </a:ext>
            </a:extLst>
          </p:cNvPr>
          <p:cNvPicPr>
            <a:picLocks noChangeAspect="1"/>
          </p:cNvPicPr>
          <p:nvPr/>
        </p:nvPicPr>
        <p:blipFill>
          <a:blip r:embed="rId28"/>
          <a:stretch>
            <a:fillRect/>
          </a:stretch>
        </p:blipFill>
        <p:spPr>
          <a:xfrm>
            <a:off x="9077203" y="1428655"/>
            <a:ext cx="1339044" cy="1339044"/>
          </a:xfrm>
          <a:prstGeom prst="rect">
            <a:avLst/>
          </a:prstGeom>
        </p:spPr>
      </p:pic>
      <p:pic>
        <p:nvPicPr>
          <p:cNvPr id="31" name="Picture 30">
            <a:extLst>
              <a:ext uri="{FF2B5EF4-FFF2-40B4-BE49-F238E27FC236}">
                <a16:creationId xmlns:a16="http://schemas.microsoft.com/office/drawing/2014/main" id="{FDB18C9F-0239-25C9-E34D-3C67BD609FEC}"/>
              </a:ext>
            </a:extLst>
          </p:cNvPr>
          <p:cNvPicPr>
            <a:picLocks noChangeAspect="1"/>
          </p:cNvPicPr>
          <p:nvPr/>
        </p:nvPicPr>
        <p:blipFill>
          <a:blip r:embed="rId29"/>
          <a:stretch>
            <a:fillRect/>
          </a:stretch>
        </p:blipFill>
        <p:spPr>
          <a:xfrm>
            <a:off x="10169201" y="948176"/>
            <a:ext cx="1359019" cy="1359019"/>
          </a:xfrm>
          <a:prstGeom prst="rect">
            <a:avLst/>
          </a:prstGeom>
        </p:spPr>
      </p:pic>
      <p:pic>
        <p:nvPicPr>
          <p:cNvPr id="13" name="Picture 12">
            <a:extLst>
              <a:ext uri="{FF2B5EF4-FFF2-40B4-BE49-F238E27FC236}">
                <a16:creationId xmlns:a16="http://schemas.microsoft.com/office/drawing/2014/main" id="{5D23A4EA-DB18-8625-BF72-B16222417A39}"/>
              </a:ext>
            </a:extLst>
          </p:cNvPr>
          <p:cNvPicPr>
            <a:picLocks noChangeAspect="1"/>
          </p:cNvPicPr>
          <p:nvPr/>
        </p:nvPicPr>
        <p:blipFill>
          <a:blip r:embed="rId30"/>
          <a:srcRect l="27682" r="20625"/>
          <a:stretch>
            <a:fillRect/>
          </a:stretch>
        </p:blipFill>
        <p:spPr>
          <a:xfrm>
            <a:off x="4728958" y="5257286"/>
            <a:ext cx="1483353" cy="1642423"/>
          </a:xfrm>
          <a:prstGeom prst="rect">
            <a:avLst/>
          </a:prstGeom>
        </p:spPr>
      </p:pic>
      <p:pic>
        <p:nvPicPr>
          <p:cNvPr id="3" name="Picture 2">
            <a:extLst>
              <a:ext uri="{FF2B5EF4-FFF2-40B4-BE49-F238E27FC236}">
                <a16:creationId xmlns:a16="http://schemas.microsoft.com/office/drawing/2014/main" id="{F3446914-7A64-844C-126F-8BA8CE42BBC6}"/>
              </a:ext>
            </a:extLst>
          </p:cNvPr>
          <p:cNvPicPr>
            <a:picLocks noChangeAspect="1"/>
          </p:cNvPicPr>
          <p:nvPr/>
        </p:nvPicPr>
        <p:blipFill>
          <a:blip r:embed="rId31"/>
          <a:stretch>
            <a:fillRect/>
          </a:stretch>
        </p:blipFill>
        <p:spPr>
          <a:xfrm>
            <a:off x="10940982" y="2031454"/>
            <a:ext cx="1174475" cy="1174475"/>
          </a:xfrm>
          <a:prstGeom prst="rect">
            <a:avLst/>
          </a:prstGeom>
        </p:spPr>
      </p:pic>
    </p:spTree>
    <p:extLst>
      <p:ext uri="{BB962C8B-B14F-4D97-AF65-F5344CB8AC3E}">
        <p14:creationId xmlns:p14="http://schemas.microsoft.com/office/powerpoint/2010/main" val="40400600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1761</TotalTime>
  <Words>3292</Words>
  <Application>Microsoft Macintosh PowerPoint</Application>
  <PresentationFormat>Widescreen</PresentationFormat>
  <Paragraphs>432</Paragraphs>
  <Slides>39</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39</vt:i4>
      </vt:variant>
    </vt:vector>
  </HeadingPairs>
  <TitlesOfParts>
    <vt:vector size="48" baseType="lpstr">
      <vt:lpstr>Aptos</vt:lpstr>
      <vt:lpstr>Aptos Display</vt:lpstr>
      <vt:lpstr>Arial</vt:lpstr>
      <vt:lpstr>Calibri</vt:lpstr>
      <vt:lpstr>Georgia</vt:lpstr>
      <vt:lpstr>Segoe UI</vt:lpstr>
      <vt:lpstr>Times</vt:lpstr>
      <vt:lpstr>Wingdings</vt:lpstr>
      <vt:lpstr>Office Theme</vt:lpstr>
      <vt:lpstr>PowerPoint Presentation</vt:lpstr>
      <vt:lpstr>Why do we need a Center for AI?</vt:lpstr>
      <vt:lpstr>We need a Center at Rutgers Health to create the future we want</vt:lpstr>
      <vt:lpstr>We best create this future by building   bridges across all of Rutgers Health</vt:lpstr>
      <vt:lpstr>“Ethical Plus” AI: Ethical, synergistic,  skills enhancing</vt:lpstr>
      <vt:lpstr>The (Short) History of the BMIHAI</vt:lpstr>
      <vt:lpstr>PowerPoint Presentation</vt:lpstr>
      <vt:lpstr>Foundational Pillars of  BMIHAI</vt:lpstr>
      <vt:lpstr>Avoiding de-skilling/Never  Skilling with AI</vt:lpstr>
      <vt:lpstr>Actions: Educational Programs</vt:lpstr>
      <vt:lpstr>Actions: Educational Programs</vt:lpstr>
      <vt:lpstr>Educational Programs</vt:lpstr>
      <vt:lpstr>Educational Programs</vt:lpstr>
      <vt:lpstr>Distinction in AI in Medicine </vt:lpstr>
      <vt:lpstr>Educational Programs</vt:lpstr>
      <vt:lpstr>Community Building</vt:lpstr>
      <vt:lpstr>Rutgers Health AI Virtual Seminar Series</vt:lpstr>
      <vt:lpstr>Community Building</vt:lpstr>
      <vt:lpstr>Grant making</vt:lpstr>
      <vt:lpstr>Grant making</vt:lpstr>
      <vt:lpstr>Foundational Pillars  of BMIHAI</vt:lpstr>
      <vt:lpstr>PowerPoint Presentation</vt:lpstr>
      <vt:lpstr>PowerPoint Presentation</vt:lpstr>
      <vt:lpstr>PowerPoint Presentation</vt:lpstr>
      <vt:lpstr>Living Laboratories</vt:lpstr>
      <vt:lpstr>Foundational Pillars  of BMIHAI</vt:lpstr>
      <vt:lpstr>Targeted recruitment into transformative research programs</vt:lpstr>
      <vt:lpstr> The AI co-scientist (Google): AI masters   the meta-processes of science to become a team member</vt:lpstr>
      <vt:lpstr>PowerPoint Presentation</vt:lpstr>
      <vt:lpstr>PowerPoint Presentation</vt:lpstr>
      <vt:lpstr>Transitioning from Animal Models to New Approach Methodologies (NAMs)</vt:lpstr>
      <vt:lpstr>LLMs outperform many physicians and diagnosis and therapy</vt:lpstr>
      <vt:lpstr>Human – AI systems combinations may not be additive or synergistic</vt:lpstr>
      <vt:lpstr>AI can advance science:  Evan Johnson’s innovations in RNA-seq.</vt:lpstr>
      <vt:lpstr>PowerPoint Presentation</vt:lpstr>
      <vt:lpstr>TB Research AI Alliance</vt:lpstr>
      <vt:lpstr>Partners: TB AI Alliance</vt:lpstr>
      <vt:lpstr>Collaborate with BMIHAI</vt:lpstr>
      <vt:lpstr>Gratitude to our Support Team and Leadership!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Sonia Bell</dc:creator>
  <cp:lastModifiedBy>Evan Johnson</cp:lastModifiedBy>
  <cp:revision>18</cp:revision>
  <dcterms:created xsi:type="dcterms:W3CDTF">2026-08-27T21:48:52Z</dcterms:created>
  <dcterms:modified xsi:type="dcterms:W3CDTF">2026-09-14T18:13:20Z</dcterms:modified>
</cp:coreProperties>
</file>