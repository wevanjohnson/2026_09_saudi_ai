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1032" r:id="rId2"/>
    <p:sldId id="1043" r:id="rId3"/>
    <p:sldId id="1069" r:id="rId4"/>
    <p:sldId id="1070" r:id="rId5"/>
    <p:sldId id="1071" r:id="rId6"/>
    <p:sldId id="1034" r:id="rId7"/>
    <p:sldId id="1033" r:id="rId8"/>
    <p:sldId id="1029" r:id="rId9"/>
    <p:sldId id="1035" r:id="rId10"/>
    <p:sldId id="1036" r:id="rId11"/>
    <p:sldId id="1037" r:id="rId12"/>
    <p:sldId id="1038" r:id="rId13"/>
    <p:sldId id="1039" r:id="rId14"/>
    <p:sldId id="1040" r:id="rId15"/>
    <p:sldId id="1041" r:id="rId16"/>
    <p:sldId id="1042" r:id="rId17"/>
    <p:sldId id="1068" r:id="rId18"/>
    <p:sldId id="1084" r:id="rId19"/>
    <p:sldId id="1072" r:id="rId20"/>
    <p:sldId id="1019" r:id="rId21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E002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48" autoAdjust="0"/>
    <p:restoredTop sz="96197" autoAdjust="0"/>
  </p:normalViewPr>
  <p:slideViewPr>
    <p:cSldViewPr snapToGrid="0">
      <p:cViewPr varScale="1">
        <p:scale>
          <a:sx n="166" d="100"/>
          <a:sy n="166" d="100"/>
        </p:scale>
        <p:origin x="59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02A63-8238-CF49-95F6-4E73F04318D6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5D43-6794-0847-9F6F-8A7B2FD27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FB5D43-6794-0847-9F6F-8A7B2FD273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2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best day of my life was…”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calculates probabilities like: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“the” (30%)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“when” (25%)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“because” (10%)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insight: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“ChatGPT is a very advanced autocomplete.”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5C66E-8ACA-6148-8AB4-CF2DD4C1F1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7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115170"/>
            <a:ext cx="6400800" cy="1314450"/>
          </a:xfrm>
        </p:spPr>
        <p:txBody>
          <a:bodyPr/>
          <a:lstStyle>
            <a:lvl1pPr marL="0" indent="0" algn="ctr"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98339"/>
            <a:ext cx="7772400" cy="1102519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6FC5D-4381-B541-9E3A-50CF02937B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165" y="461378"/>
            <a:ext cx="2813336" cy="89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57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264">
          <p15:clr>
            <a:srgbClr val="FBAE40"/>
          </p15:clr>
        </p15:guide>
        <p15:guide id="3" pos="1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88343-B159-074D-B355-B61FD1A20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2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24AE8-78F8-144E-A4FE-553D35E590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3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6940"/>
            <a:ext cx="4038600" cy="31347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6941"/>
            <a:ext cx="4038600" cy="31430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DA8B8-D04C-214E-83CE-5B60915F93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692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6741"/>
            <a:ext cx="4040188" cy="275517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7692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6741"/>
            <a:ext cx="4041775" cy="277188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5261A5-F588-D34E-A84B-E514DA90C9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07850"/>
            <a:ext cx="8229600" cy="6060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04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C725B-9C86-6E43-AAF9-1A329DDB2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2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A03EE-8AFD-D547-9E71-0BD0BE6F93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4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81022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81023"/>
            <a:ext cx="5111750" cy="39141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52561"/>
            <a:ext cx="3008313" cy="3042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F1C61-654F-EF4C-B7CF-635108DFC6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7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51943"/>
            <a:ext cx="5486400" cy="27937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5825F-7512-8045-B403-CF218AA201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8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23BF7-9F5A-9E42-B502-689AC6A1E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8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26878"/>
            <a:ext cx="2057400" cy="38165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26878"/>
            <a:ext cx="6019800" cy="38165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A2D79-D5B9-9E44-BC26-5C4012EF6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2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07850"/>
            <a:ext cx="8229600" cy="606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93650"/>
            <a:ext cx="8229600" cy="318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558800"/>
            <a:ext cx="9144000" cy="6350"/>
          </a:xfrm>
          <a:prstGeom prst="line">
            <a:avLst/>
          </a:prstGeom>
          <a:ln w="3175" cmpd="sng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263" y="137514"/>
            <a:ext cx="1385973" cy="3750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ヒラギノ角ゴ Pro W3" charset="0"/>
          <a:cs typeface="Geneva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  <a:ea typeface="ヒラギノ角ゴ Pro W3" charset="0"/>
          <a:cs typeface="Genev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2"/>
          </a:solidFill>
          <a:latin typeface="+mn-lt"/>
          <a:ea typeface="ヒラギノ角ゴ Pro W3" charset="0"/>
          <a:cs typeface="Geneva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2"/>
          </a:solidFill>
          <a:latin typeface="+mn-lt"/>
          <a:ea typeface="Geneva" charset="0"/>
          <a:cs typeface="Geneva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2"/>
          </a:solidFill>
          <a:latin typeface="+mn-lt"/>
          <a:ea typeface="Geneva" charset="0"/>
          <a:cs typeface="Geneva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2"/>
          </a:solidFill>
          <a:latin typeface="+mn-lt"/>
          <a:ea typeface="Geneva" charset="0"/>
          <a:cs typeface="Geneva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2"/>
          </a:solidFill>
          <a:latin typeface="+mn-lt"/>
          <a:ea typeface="Geneva" charset="0"/>
          <a:cs typeface="Geneva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BC7B-4BF1-7622-423A-24487545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9A3C-AB89-CADA-08B2-341493BD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 (ML) </a:t>
            </a:r>
            <a:r>
              <a:rPr lang="en-US" dirty="0"/>
              <a:t>is a computer’s way of learning from examples, and it is one of the most useful tools we have for the construction of </a:t>
            </a:r>
            <a:r>
              <a:rPr lang="en-US" i="1" dirty="0"/>
              <a:t>artificially intelligent </a:t>
            </a:r>
            <a:r>
              <a:rPr lang="en-US" dirty="0"/>
              <a:t>systems</a:t>
            </a:r>
          </a:p>
          <a:p>
            <a:endParaRPr lang="en-US" dirty="0"/>
          </a:p>
          <a:p>
            <a:r>
              <a:rPr lang="en-US" b="1" dirty="0"/>
              <a:t>Artificial intelligence (AI) </a:t>
            </a:r>
            <a:r>
              <a:rPr lang="en-US" dirty="0"/>
              <a:t>is a term used when machines or computers can </a:t>
            </a:r>
            <a:r>
              <a:rPr lang="en-US" u="sng" dirty="0"/>
              <a:t>mimic functions that humans </a:t>
            </a:r>
            <a:r>
              <a:rPr lang="en-US" dirty="0"/>
              <a:t>can do.</a:t>
            </a:r>
          </a:p>
        </p:txBody>
      </p:sp>
    </p:spTree>
    <p:extLst>
      <p:ext uri="{BB962C8B-B14F-4D97-AF65-F5344CB8AC3E}">
        <p14:creationId xmlns:p14="http://schemas.microsoft.com/office/powerpoint/2010/main" val="332587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603E-0ACC-D4CE-AA6E-5832CBC7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AC02FD-9D46-B463-9A94-C3F81444A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4537" y="1571476"/>
            <a:ext cx="651492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is not magic; it’s math.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-Peter Norvig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25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5243-1D13-2724-1ED2-65BD05B9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4107B5F-8DD9-09E6-5339-BAFF259DF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6163" y="1232922"/>
            <a:ext cx="563167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will not replace us,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it will amplify us."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-Pedro Domingos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0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F749-5D2D-9529-277F-26498A0B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1019979-BA99-E38F-6034-284A892F7E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8580" y="1417588"/>
            <a:ext cx="64668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With great power comes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great responsibility.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-Uncle Ben, Spiderman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16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BC7B-4BF1-7622-423A-24487545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9A3C-AB89-CADA-08B2-341493BD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Machine learning (ML) </a:t>
            </a:r>
            <a:r>
              <a:rPr lang="en-US" dirty="0"/>
              <a:t>is a computer’s way of learning from examples, and it is one of the most useful tools we have for the construction of </a:t>
            </a:r>
            <a:r>
              <a:rPr lang="en-US" i="1" dirty="0"/>
              <a:t>artificially intelligent </a:t>
            </a:r>
            <a:r>
              <a:rPr lang="en-US" dirty="0"/>
              <a:t>systems</a:t>
            </a:r>
          </a:p>
          <a:p>
            <a:endParaRPr lang="en-US" dirty="0"/>
          </a:p>
          <a:p>
            <a:r>
              <a:rPr lang="en-US" b="1" dirty="0"/>
              <a:t>Artificial intelligence (AI) </a:t>
            </a:r>
            <a:r>
              <a:rPr lang="en-US" dirty="0"/>
              <a:t>is a term used when machines or computers can </a:t>
            </a:r>
            <a:r>
              <a:rPr lang="en-US" u="sng" dirty="0"/>
              <a:t>mimic functions that humans </a:t>
            </a:r>
            <a:r>
              <a:rPr lang="en-US" dirty="0"/>
              <a:t>can do.</a:t>
            </a:r>
          </a:p>
        </p:txBody>
      </p:sp>
    </p:spTree>
    <p:extLst>
      <p:ext uri="{BB962C8B-B14F-4D97-AF65-F5344CB8AC3E}">
        <p14:creationId xmlns:p14="http://schemas.microsoft.com/office/powerpoint/2010/main" val="184435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DC36-A93C-4039-19F1-FCBD257C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Nerve Cells</a:t>
            </a:r>
          </a:p>
        </p:txBody>
      </p:sp>
      <p:pic>
        <p:nvPicPr>
          <p:cNvPr id="5" name="Content Placeholder 4" descr="A diagram of a nerve cell&#10;&#10;AI-generated content may be incorrect.">
            <a:extLst>
              <a:ext uri="{FF2B5EF4-FFF2-40B4-BE49-F238E27FC236}">
                <a16:creationId xmlns:a16="http://schemas.microsoft.com/office/drawing/2014/main" id="{E3A7060B-4248-ED63-719A-93D85DF6B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3" y="1589649"/>
            <a:ext cx="9021289" cy="2846001"/>
          </a:xfrm>
        </p:spPr>
      </p:pic>
    </p:spTree>
    <p:extLst>
      <p:ext uri="{BB962C8B-B14F-4D97-AF65-F5344CB8AC3E}">
        <p14:creationId xmlns:p14="http://schemas.microsoft.com/office/powerpoint/2010/main" val="163914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CB06D-6C58-D576-A22A-16ABD998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E36B0-1586-0675-C124-98FBC023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brain consists of billions of neural cells that process information. </a:t>
            </a:r>
          </a:p>
          <a:p>
            <a:r>
              <a:rPr lang="en-US" dirty="0"/>
              <a:t>Each neural cell is a simple processing system. </a:t>
            </a:r>
          </a:p>
          <a:p>
            <a:r>
              <a:rPr lang="en-US" dirty="0"/>
              <a:t>The interconnected web of neurons, a </a:t>
            </a:r>
            <a:r>
              <a:rPr lang="en-US" b="1" dirty="0"/>
              <a:t>biological neural network</a:t>
            </a:r>
            <a:r>
              <a:rPr lang="en-US" dirty="0"/>
              <a:t>, transmits information through electrical signals from neuron to neuron.</a:t>
            </a:r>
          </a:p>
        </p:txBody>
      </p:sp>
    </p:spTree>
    <p:extLst>
      <p:ext uri="{BB962C8B-B14F-4D97-AF65-F5344CB8AC3E}">
        <p14:creationId xmlns:p14="http://schemas.microsoft.com/office/powerpoint/2010/main" val="310055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C1D4-025A-5385-88BD-829046C4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le with lines and letters&#10;&#10;AI-generated content may be incorrect.">
            <a:extLst>
              <a:ext uri="{FF2B5EF4-FFF2-40B4-BE49-F238E27FC236}">
                <a16:creationId xmlns:a16="http://schemas.microsoft.com/office/drawing/2014/main" id="{3F916938-CD6D-1BFC-7A12-71337A863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66964"/>
            <a:ext cx="7772400" cy="4332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21AD9-CF7B-D26C-79C2-CF2D86177184}"/>
              </a:ext>
            </a:extLst>
          </p:cNvPr>
          <p:cNvSpPr txBox="1"/>
          <p:nvPr/>
        </p:nvSpPr>
        <p:spPr>
          <a:xfrm>
            <a:off x="5794407" y="570711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(1944)</a:t>
            </a:r>
          </a:p>
        </p:txBody>
      </p:sp>
    </p:spTree>
    <p:extLst>
      <p:ext uri="{BB962C8B-B14F-4D97-AF65-F5344CB8AC3E}">
        <p14:creationId xmlns:p14="http://schemas.microsoft.com/office/powerpoint/2010/main" val="51204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2D65-9396-386C-B874-ACCD7956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McCullough-Pitts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62BE-C0FC-2A5B-EB2B-A45C844B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McCullough and Pitts showed was that a neural net could compute any function that a digital computer could. </a:t>
            </a:r>
          </a:p>
          <a:p>
            <a:endParaRPr lang="en-US" dirty="0"/>
          </a:p>
          <a:p>
            <a:r>
              <a:rPr lang="en-US" dirty="0"/>
              <a:t>The result was more neuroscience than computer science </a:t>
            </a:r>
          </a:p>
          <a:p>
            <a:endParaRPr lang="en-US" dirty="0"/>
          </a:p>
          <a:p>
            <a:r>
              <a:rPr lang="en-US" dirty="0"/>
              <a:t>The point was to suggest that the human brain could be thought of as a computing device.</a:t>
            </a:r>
          </a:p>
        </p:txBody>
      </p:sp>
    </p:spTree>
    <p:extLst>
      <p:ext uri="{BB962C8B-B14F-4D97-AF65-F5344CB8AC3E}">
        <p14:creationId xmlns:p14="http://schemas.microsoft.com/office/powerpoint/2010/main" val="185512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4D7C-1F71-52A5-C0E8-AEAA0F9F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Frank Rosenblatt (1957)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AF982-6762-D579-E988-0AC83957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the first trainable neural network, the </a:t>
            </a:r>
            <a:r>
              <a:rPr lang="en-US" b="1" dirty="0"/>
              <a:t>Perceptron</a:t>
            </a:r>
            <a:endParaRPr lang="en-US" dirty="0"/>
          </a:p>
          <a:p>
            <a:endParaRPr lang="en-US" dirty="0"/>
          </a:p>
          <a:p>
            <a:r>
              <a:rPr lang="en-US" dirty="0"/>
              <a:t>Design was much like that of the modern neural net, except that it had only one layer with adjustable weights and thresholds, sandwiched between input and output layers.</a:t>
            </a:r>
          </a:p>
          <a:p>
            <a:endParaRPr lang="en-US" dirty="0"/>
          </a:p>
          <a:p>
            <a:r>
              <a:rPr lang="en-US" dirty="0"/>
              <a:t>But Minsky and </a:t>
            </a:r>
            <a:r>
              <a:rPr lang="en-US" dirty="0" err="1"/>
              <a:t>Papert</a:t>
            </a:r>
            <a:r>
              <a:rPr lang="en-US" dirty="0"/>
              <a:t> (1959) published a book, which demonstrated that executing certain fairly common computations would be </a:t>
            </a:r>
            <a:r>
              <a:rPr lang="en-US" i="1" dirty="0"/>
              <a:t>impractically time consuming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1891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E855-C045-DD44-E5E8-83253796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Perceptron model looked like this: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E3A35CAF-4089-879D-5431-DEA4C9239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72" y="1313879"/>
            <a:ext cx="8040055" cy="3749675"/>
          </a:xfrm>
        </p:spPr>
      </p:pic>
    </p:spTree>
    <p:extLst>
      <p:ext uri="{BB962C8B-B14F-4D97-AF65-F5344CB8AC3E}">
        <p14:creationId xmlns:p14="http://schemas.microsoft.com/office/powerpoint/2010/main" val="3564509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1B37-37D2-B40E-6375-9D050DF4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588326" cy="606029"/>
          </a:xfrm>
        </p:spPr>
        <p:txBody>
          <a:bodyPr/>
          <a:lstStyle/>
          <a:p>
            <a:r>
              <a:rPr lang="en-US" dirty="0"/>
              <a:t>Modern Neural Networks: Multi-layer </a:t>
            </a:r>
            <a:r>
              <a:rPr lang="en-US" dirty="0" err="1"/>
              <a:t>Perceptrons</a:t>
            </a:r>
            <a:endParaRPr lang="en-US" dirty="0"/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EE3DA91D-2011-3671-B8E5-E3B26019B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" y="1268896"/>
            <a:ext cx="9079489" cy="3874604"/>
          </a:xfrm>
        </p:spPr>
      </p:pic>
    </p:spTree>
    <p:extLst>
      <p:ext uri="{BB962C8B-B14F-4D97-AF65-F5344CB8AC3E}">
        <p14:creationId xmlns:p14="http://schemas.microsoft.com/office/powerpoint/2010/main" val="184214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34755-F6E9-E324-1F17-190E12D2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3A3B-C1A1-7843-B0FC-70B5B860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588326" cy="606029"/>
          </a:xfrm>
        </p:spPr>
        <p:txBody>
          <a:bodyPr/>
          <a:lstStyle/>
          <a:p>
            <a:r>
              <a:rPr lang="en-US" dirty="0"/>
              <a:t>Modern Neural Networks: Multi-layer </a:t>
            </a:r>
            <a:r>
              <a:rPr lang="en-US" dirty="0" err="1"/>
              <a:t>Perceptrons</a:t>
            </a:r>
            <a:endParaRPr lang="en-US" dirty="0"/>
          </a:p>
        </p:txBody>
      </p:sp>
      <p:pic>
        <p:nvPicPr>
          <p:cNvPr id="7" name="Content Placeholder 6" descr="A diagram of a network&#10;&#10;AI-generated content may be incorrect.">
            <a:extLst>
              <a:ext uri="{FF2B5EF4-FFF2-40B4-BE49-F238E27FC236}">
                <a16:creationId xmlns:a16="http://schemas.microsoft.com/office/drawing/2014/main" id="{27115F80-0AF0-1E24-D219-5B0591702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" y="1210945"/>
            <a:ext cx="7808279" cy="3932555"/>
          </a:xfrm>
        </p:spPr>
      </p:pic>
    </p:spTree>
    <p:extLst>
      <p:ext uri="{BB962C8B-B14F-4D97-AF65-F5344CB8AC3E}">
        <p14:creationId xmlns:p14="http://schemas.microsoft.com/office/powerpoint/2010/main" val="384303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01BF-1115-DFCF-6D61-8E22499E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Rule: When will I ever use this??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0240BB-64AB-4DD9-9349-2EAD63D16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731" y="1313879"/>
            <a:ext cx="5782537" cy="3855024"/>
          </a:xfrm>
        </p:spPr>
      </p:pic>
    </p:spTree>
    <p:extLst>
      <p:ext uri="{BB962C8B-B14F-4D97-AF65-F5344CB8AC3E}">
        <p14:creationId xmlns:p14="http://schemas.microsoft.com/office/powerpoint/2010/main" val="1766307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DE72-BFD5-DE6B-7486-73AE6EFF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92BA-2A01-DCAD-4CA4-FD2B8AEA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Rule: When will I ever use this??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815AB1-E021-CED9-B529-4C565D29D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47604"/>
            <a:ext cx="8918917" cy="2912300"/>
          </a:xfrm>
        </p:spPr>
      </p:pic>
    </p:spTree>
    <p:extLst>
      <p:ext uri="{BB962C8B-B14F-4D97-AF65-F5344CB8AC3E}">
        <p14:creationId xmlns:p14="http://schemas.microsoft.com/office/powerpoint/2010/main" val="52594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84CBB-8496-3259-4019-31EC52D4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7850"/>
            <a:ext cx="8668088" cy="606029"/>
          </a:xfrm>
        </p:spPr>
        <p:txBody>
          <a:bodyPr/>
          <a:lstStyle/>
          <a:p>
            <a:r>
              <a:rPr lang="en-US" dirty="0"/>
              <a:t>Chain Rule: Backward Propagation in Neural Nets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CBFAC-D419-2786-35FA-6BBA9B7E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7171" y="1520023"/>
            <a:ext cx="7233248" cy="329112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F3244C-54BB-9354-818B-51FF40957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5547" y="1520023"/>
            <a:ext cx="3309741" cy="3178586"/>
          </a:xfrm>
        </p:spPr>
      </p:pic>
    </p:spTree>
    <p:extLst>
      <p:ext uri="{BB962C8B-B14F-4D97-AF65-F5344CB8AC3E}">
        <p14:creationId xmlns:p14="http://schemas.microsoft.com/office/powerpoint/2010/main" val="411948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8A0C-487F-1791-22F8-E2605542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E1FE-CFE9-7ECD-F88A-9E365947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0" y="-40879"/>
            <a:ext cx="8668088" cy="606029"/>
          </a:xfrm>
        </p:spPr>
        <p:txBody>
          <a:bodyPr/>
          <a:lstStyle/>
          <a:p>
            <a:r>
              <a:rPr lang="en-US" dirty="0"/>
              <a:t>Chain Rule makes LLMs Possible</a:t>
            </a:r>
          </a:p>
        </p:txBody>
      </p:sp>
      <p:pic>
        <p:nvPicPr>
          <p:cNvPr id="8" name="Content Placeholder 7" descr="A diagram of a process&#10;&#10;AI-generated content may be incorrect.">
            <a:extLst>
              <a:ext uri="{FF2B5EF4-FFF2-40B4-BE49-F238E27FC236}">
                <a16:creationId xmlns:a16="http://schemas.microsoft.com/office/drawing/2014/main" id="{558C566F-3860-A740-8836-C89910A25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8" y="613304"/>
            <a:ext cx="8298531" cy="4530196"/>
          </a:xfrm>
        </p:spPr>
      </p:pic>
    </p:spTree>
    <p:extLst>
      <p:ext uri="{BB962C8B-B14F-4D97-AF65-F5344CB8AC3E}">
        <p14:creationId xmlns:p14="http://schemas.microsoft.com/office/powerpoint/2010/main" val="4269497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D7D67DB6-0BB1-91FC-91D4-F8AD553B3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338" y="1007245"/>
            <a:ext cx="6477299" cy="36053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2322E0-206B-87C4-60EE-A68C174D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838" y="220319"/>
            <a:ext cx="7202456" cy="786926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Transformer models: Language prediction</a:t>
            </a:r>
            <a:br>
              <a:rPr lang="en-US" sz="1650" dirty="0"/>
            </a:br>
            <a:r>
              <a:rPr lang="en-US" sz="2025" dirty="0"/>
              <a:t>“GPT” = Generative Pretrained Transformer Model</a:t>
            </a:r>
            <a:br>
              <a:rPr lang="en-US" sz="1650" dirty="0"/>
            </a:br>
            <a:endParaRPr lang="en-US" sz="16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36765-3721-E295-B67F-C93F718FF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37" y="1074758"/>
            <a:ext cx="3810730" cy="36053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800" dirty="0"/>
              <a:t>You type a prompt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800" dirty="0"/>
              <a:t>The model: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Looks at all the words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Assigns probabilities to possible next words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800" dirty="0"/>
              <a:t>It picks the most likely next word</a:t>
            </a:r>
          </a:p>
          <a:p>
            <a:pPr>
              <a:lnSpc>
                <a:spcPct val="110000"/>
              </a:lnSpc>
              <a:buFont typeface="+mj-lt"/>
              <a:buAutoNum type="arabicPeriod"/>
            </a:pPr>
            <a:r>
              <a:rPr lang="en-US" sz="1800" dirty="0"/>
              <a:t>Then repeats—again and again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dirty="0"/>
              <a:t>ChatGPT is a very advanced autocomplete.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975" dirty="0"/>
          </a:p>
          <a:p>
            <a:pPr marL="0" indent="0">
              <a:lnSpc>
                <a:spcPct val="110000"/>
              </a:lnSpc>
              <a:buNone/>
            </a:pPr>
            <a:endParaRPr lang="en-US" sz="975" dirty="0"/>
          </a:p>
          <a:p>
            <a:pPr marL="0" indent="0">
              <a:lnSpc>
                <a:spcPct val="110000"/>
              </a:lnSpc>
              <a:buNone/>
            </a:pPr>
            <a:endParaRPr lang="en-US" sz="975" dirty="0"/>
          </a:p>
          <a:p>
            <a:pPr marL="0" indent="0">
              <a:lnSpc>
                <a:spcPct val="110000"/>
              </a:lnSpc>
              <a:buNone/>
            </a:pP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186599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603E-0ACC-D4CE-AA6E-5832CBC70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3AC02FD-9D46-B463-9A94-C3F81444A6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4537" y="1571476"/>
            <a:ext cx="651492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1" u="none" strike="noStrike" cap="none" normalizeH="0" baseline="0" dirty="0">
                <a:ln>
                  <a:noFill/>
                </a:ln>
                <a:solidFill>
                  <a:srgbClr val="0C0C28"/>
                </a:solidFill>
                <a:effectLst/>
                <a:latin typeface="Inter"/>
              </a:rPr>
              <a:t>AI is not magic; it’s math.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DC2D59"/>
              </a:solidFill>
              <a:effectLst/>
              <a:latin typeface="Inter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DC2D59"/>
                </a:solidFill>
                <a:effectLst/>
                <a:latin typeface="Inter"/>
              </a:rPr>
              <a:t>-Peter Norvig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7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A picture containing outdoor, adventure, climbing, mountain&#10;&#10;Description automatically generated">
            <a:extLst>
              <a:ext uri="{FF2B5EF4-FFF2-40B4-BE49-F238E27FC236}">
                <a16:creationId xmlns:a16="http://schemas.microsoft.com/office/drawing/2014/main" id="{A3D67252-344E-0128-41B1-795E8EBD1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" y="-480060"/>
            <a:ext cx="9141926" cy="6885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0218A0-72EC-20F9-D6F9-BBC2FC15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4461935"/>
            <a:ext cx="5797296" cy="5376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101649406"/>
      </p:ext>
    </p:extLst>
  </p:cSld>
  <p:clrMapOvr>
    <a:masterClrMapping/>
  </p:clrMapOvr>
</p:sld>
</file>

<file path=ppt/theme/theme1.xml><?xml version="1.0" encoding="utf-8"?>
<a:theme xmlns:a="http://schemas.openxmlformats.org/drawingml/2006/main" name="RU_template_FASN_16x9 widescreen">
  <a:themeElements>
    <a:clrScheme name="RU_Template_Verdana_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RU_Template_Verdana_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U_Template_Verdana_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U_Template_Verdana_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U_Template_Verdana_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_template_CCAS_16;9" id="{DD4A8B92-6D83-094F-956C-CEF9C024824F}" vid="{1B19C7C8-82CB-E54C-94DC-BFAC1FBCEE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{475C37C6-E464-DB4D-B155-98CEC92926B2}tf10001120</Template>
  <TotalTime>4219</TotalTime>
  <Words>489</Words>
  <Application>Microsoft Macintosh PowerPoint</Application>
  <PresentationFormat>On-screen Show (16:9)</PresentationFormat>
  <Paragraphs>75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Inter</vt:lpstr>
      <vt:lpstr>RU_template_FASN_16x9 widescreen</vt:lpstr>
      <vt:lpstr>Machine Learning and Artificial Intelligence</vt:lpstr>
      <vt:lpstr>PowerPoint Presentation</vt:lpstr>
      <vt:lpstr>PowerPoint Presentation</vt:lpstr>
      <vt:lpstr>PowerPoint Presentation</vt:lpstr>
      <vt:lpstr>Machine Learning and Artificial Intelligence</vt:lpstr>
      <vt:lpstr>Biological Nerve Cells</vt:lpstr>
      <vt:lpstr>Neural Networks</vt:lpstr>
      <vt:lpstr>PowerPoint Presentation</vt:lpstr>
      <vt:lpstr>McCullough-Pitts Neuron</vt:lpstr>
      <vt:lpstr>Frank Rosenblatt (1957)</vt:lpstr>
      <vt:lpstr>The Perceptron model looked like this:</vt:lpstr>
      <vt:lpstr>Modern Neural Networks: Multi-layer Perceptrons</vt:lpstr>
      <vt:lpstr>Modern Neural Networks: Multi-layer Perceptrons</vt:lpstr>
      <vt:lpstr>Chain Rule: When will I ever use this??</vt:lpstr>
      <vt:lpstr>Chain Rule: When will I ever use this??</vt:lpstr>
      <vt:lpstr>Chain Rule: Backward Propagation in Neural Nets</vt:lpstr>
      <vt:lpstr>Chain Rule makes LLMs Possible</vt:lpstr>
      <vt:lpstr>Transformer models: Language prediction “GPT” = Generative Pretrained Transformer Model </vt:lpstr>
      <vt:lpstr>PowerPoint Presentation</vt:lpstr>
      <vt:lpstr>Thank you!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eburris</dc:creator>
  <cp:lastModifiedBy>Evan Johnson</cp:lastModifiedBy>
  <cp:revision>115</cp:revision>
  <cp:lastPrinted>2019-07-16T15:38:20Z</cp:lastPrinted>
  <dcterms:created xsi:type="dcterms:W3CDTF">2012-05-15T15:26:04Z</dcterms:created>
  <dcterms:modified xsi:type="dcterms:W3CDTF">2026-09-14T22:48:49Z</dcterms:modified>
</cp:coreProperties>
</file>