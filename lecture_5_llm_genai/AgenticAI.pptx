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64" r:id="rId4"/>
    <p:sldId id="259" r:id="rId5"/>
    <p:sldId id="260" r:id="rId6"/>
    <p:sldId id="261" r:id="rId7"/>
    <p:sldId id="262" r:id="rId8"/>
    <p:sldId id="265" r:id="rId9"/>
    <p:sldId id="258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5104"/>
  </p:normalViewPr>
  <p:slideViewPr>
    <p:cSldViewPr snapToGrid="0">
      <p:cViewPr varScale="1">
        <p:scale>
          <a:sx n="107" d="100"/>
          <a:sy n="107" d="100"/>
        </p:scale>
        <p:origin x="1280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D3BE16-B6E2-1244-B1A5-3EDCFCA154A9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1BBF78-E3E2-AE47-B48D-ACDECCC411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1848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is how AI agent works in a diagram: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So the concept of an </a:t>
            </a:r>
            <a:r>
              <a:rPr lang="en-US" b="1" dirty="0"/>
              <a:t>AI agent</a:t>
            </a:r>
            <a:r>
              <a:rPr lang="en-US" dirty="0"/>
              <a:t> isn’t new, it’s actually been around for quite a while.</a:t>
            </a:r>
          </a:p>
          <a:p>
            <a:r>
              <a:rPr lang="en-US" dirty="0"/>
              <a:t>For instance, </a:t>
            </a:r>
            <a:r>
              <a:rPr lang="en-US" b="1" dirty="0"/>
              <a:t>AlphaGo</a:t>
            </a:r>
            <a:r>
              <a:rPr lang="en-US" dirty="0"/>
              <a:t> is a classic example of an AI agent built using </a:t>
            </a:r>
            <a:r>
              <a:rPr lang="en-US" b="1" dirty="0"/>
              <a:t>reinforcement learning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It interacts with its environment — in this case, the Go board — by taking actions, receiving rewards or penalties, and continuously improving its strategy through self-play.</a:t>
            </a:r>
          </a:p>
          <a:p>
            <a:r>
              <a:rPr lang="en-US" dirty="0"/>
              <a:t>Another famous example is </a:t>
            </a:r>
            <a:r>
              <a:rPr lang="en-US" b="1" dirty="0"/>
              <a:t>OpenAI Five</a:t>
            </a:r>
            <a:r>
              <a:rPr lang="en-US" dirty="0"/>
              <a:t>, which mastered the complex strategy game </a:t>
            </a:r>
            <a:r>
              <a:rPr lang="en-US" i="1" dirty="0"/>
              <a:t>Dota 2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These are what we call </a:t>
            </a:r>
            <a:r>
              <a:rPr lang="en-US" b="1" dirty="0"/>
              <a:t>reinforcement</a:t>
            </a:r>
            <a:r>
              <a:rPr lang="zh-CN" altLang="en-US" b="1" dirty="0"/>
              <a:t> </a:t>
            </a:r>
            <a:r>
              <a:rPr lang="en-US" b="1" dirty="0"/>
              <a:t>learning-based agents</a:t>
            </a:r>
            <a:r>
              <a:rPr lang="en-US" dirty="0"/>
              <a:t> — agents that </a:t>
            </a:r>
            <a:r>
              <a:rPr lang="en-US" i="1" dirty="0"/>
              <a:t>learn by doing</a:t>
            </a:r>
            <a:r>
              <a:rPr lang="en-US" dirty="0"/>
              <a:t>, optimizing their actions through experience and reward signals.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dirty="0"/>
              <a:t>But more recently, with the </a:t>
            </a:r>
            <a:r>
              <a:rPr lang="en-US" b="1" dirty="0"/>
              <a:t>rise of large language models</a:t>
            </a:r>
            <a:r>
              <a:rPr lang="en-US" dirty="0"/>
              <a:t>, a new kind of agent has emerged — the </a:t>
            </a:r>
            <a:r>
              <a:rPr lang="en-US" b="1" dirty="0"/>
              <a:t>LLM-based agent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Instead of learning through explicit rewards, these agents rely on the </a:t>
            </a:r>
            <a:r>
              <a:rPr lang="en-US" b="1" dirty="0"/>
              <a:t>pre-trained reasoning and knowledge</a:t>
            </a:r>
            <a:r>
              <a:rPr lang="en-US" dirty="0"/>
              <a:t> embedded within large language models.</a:t>
            </a:r>
          </a:p>
          <a:p>
            <a:r>
              <a:rPr lang="en-US" dirty="0"/>
              <a:t>They can interpret natural language instructions, plan multi-step actions, and even use external tools — all driven by what the model already knows.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 co-scientist, a multi-agent AI system built with Gemini 2.0 as a virtual scientific collaborator to help scientists generate novel hypotheses and research proposals.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Multi-Agent Framework </a:t>
            </a:r>
            <a:r>
              <a:rPr lang="en-US" dirty="0"/>
              <a:t>that can automatically build, train, and evaluate machine learning models on datasets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dirty="0"/>
              <a:t>Now, the </a:t>
            </a:r>
            <a:r>
              <a:rPr lang="en-US" b="1" dirty="0"/>
              <a:t>advantage</a:t>
            </a:r>
            <a:r>
              <a:rPr lang="en-US" dirty="0"/>
              <a:t> of running agents with LLMs is flexibility.</a:t>
            </a:r>
            <a:br>
              <a:rPr lang="en-US" dirty="0"/>
            </a:br>
            <a:r>
              <a:rPr lang="en-US" dirty="0"/>
              <a:t>Unlike traditional RL agents that operate within fixed rules — like the 19x19 Go board —</a:t>
            </a:r>
            <a:br>
              <a:rPr lang="en-US" dirty="0"/>
            </a:br>
            <a:r>
              <a:rPr lang="en-US" dirty="0"/>
              <a:t>LLM-based agents have </a:t>
            </a:r>
            <a:r>
              <a:rPr lang="en-US" i="1" dirty="0"/>
              <a:t>nearly unlimited possibilities</a:t>
            </a:r>
            <a:r>
              <a:rPr lang="en-US" dirty="0"/>
              <a:t>.</a:t>
            </a:r>
          </a:p>
          <a:p>
            <a:r>
              <a:rPr lang="en-US" dirty="0"/>
              <a:t>They can integrate external data, connect to APIs, perform reasoning, and even control lab workflows or analysis pipelines — all through natural language instructions.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dirty="0"/>
              <a:t>So the big question we want to ask is:</a:t>
            </a:r>
          </a:p>
          <a:p>
            <a:r>
              <a:rPr lang="en-US" b="1" dirty="0"/>
              <a:t>How can we enhance LLMs to become even better agents?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 of now, AI Co-Scientist is available only through Google’s Trusted Tester Program, targeting research organizations and principal investigators. Individual access isn’t widely open yet.</a:t>
            </a:r>
          </a:p>
          <a:p>
            <a:endParaRPr lang="en-US" dirty="0"/>
          </a:p>
          <a:p>
            <a:r>
              <a:rPr lang="en-US" dirty="0"/>
              <a:t>frameworks that allow LLMs to pursue goals through reasoning and tool use.</a:t>
            </a:r>
            <a:br>
              <a:rPr lang="en-US" dirty="0"/>
            </a:b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Finding connections in large amounts of data does seem like one of the better use cases for current AI?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1BBF78-E3E2-AE47-B48D-ACDECCC411A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6924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There are really </a:t>
            </a:r>
            <a:r>
              <a:rPr lang="en-US" b="1" dirty="0"/>
              <a:t>two main ways</a:t>
            </a:r>
            <a:r>
              <a:rPr lang="en-US" dirty="0"/>
              <a:t> to enhance large language models, depending on your resources and the level of control you need.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Do not change model, change ourselves!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1BBF78-E3E2-AE47-B48D-ACDECCC411A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3199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self-checking and reflection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1BBF78-E3E2-AE47-B48D-ACDECCC411A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8841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Another core mechanism to enhance LLM is tool usage.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Tools can be viewed as </a:t>
            </a:r>
            <a:r>
              <a:rPr lang="en-US" b="1" dirty="0"/>
              <a:t>functions</a:t>
            </a:r>
            <a:r>
              <a:rPr lang="en-US" dirty="0"/>
              <a:t>; using a tool means calling that function.</a:t>
            </a:r>
          </a:p>
          <a:p>
            <a:r>
              <a:rPr lang="en-US" dirty="0"/>
              <a:t>The use of tools is also known as a </a:t>
            </a:r>
            <a:r>
              <a:rPr lang="en-US" b="1" dirty="0"/>
              <a:t>“Function Call.”</a:t>
            </a:r>
          </a:p>
          <a:p>
            <a:endParaRPr lang="en-US" b="1" dirty="0"/>
          </a:p>
          <a:p>
            <a:r>
              <a:rPr lang="en-US" b="1" dirty="0"/>
              <a:t>By using tools, LLM </a:t>
            </a:r>
            <a:r>
              <a:rPr lang="en-US" dirty="0"/>
              <a:t>don’t need to understand its </a:t>
            </a:r>
            <a:r>
              <a:rPr lang="en-US" i="1" dirty="0"/>
              <a:t>internal workings, instead, it </a:t>
            </a:r>
            <a:r>
              <a:rPr lang="en-US" dirty="0"/>
              <a:t>only needs to know </a:t>
            </a:r>
            <a:r>
              <a:rPr lang="en-US" i="1" dirty="0"/>
              <a:t>how</a:t>
            </a:r>
            <a:r>
              <a:rPr lang="en-US" dirty="0"/>
              <a:t> to use it</a:t>
            </a:r>
            <a:endParaRPr lang="en-US" b="1" dirty="0"/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Common tools like RAG, a 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echnique that improves LLM responses by having them first retrieve relevant information from an external knowledge base.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r>
              <a:rPr lang="en-US" dirty="0"/>
              <a:t>other AI: different capability, stronger but costly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1BBF78-E3E2-AE47-B48D-ACDECCC411A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4411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F999E7-B5F6-8740-9886-2917F0C93DB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8112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reduce hallucination</a:t>
            </a:r>
          </a:p>
          <a:p>
            <a:r>
              <a:rPr lang="en-US" dirty="0"/>
              <a:t>transforms it from a “stateless chatbot” into something that can reason </a:t>
            </a:r>
            <a:r>
              <a:rPr lang="en-US" b="1" dirty="0"/>
              <a:t>across turns, tasks, or sessions</a:t>
            </a:r>
            <a:r>
              <a:rPr lang="en-US" dirty="0"/>
              <a:t>.</a:t>
            </a:r>
          </a:p>
          <a:p>
            <a:br>
              <a:rPr lang="en-US" dirty="0"/>
            </a:br>
            <a:r>
              <a:rPr lang="en-US" dirty="0"/>
              <a:t>LLM inference is resource-intensive and slow on a single node</a:t>
            </a:r>
          </a:p>
          <a:p>
            <a:r>
              <a:rPr lang="en-US" dirty="0"/>
              <a:t>Frequent GPU memory exhaustion during large-batch or long-context inference</a:t>
            </a:r>
          </a:p>
          <a:p>
            <a:r>
              <a:rPr lang="en-US" dirty="0"/>
              <a:t>Need scalable multi-node parallelism for reliable distributed inference</a:t>
            </a:r>
          </a:p>
          <a:p>
            <a:r>
              <a:rPr lang="en-US" dirty="0"/>
              <a:t>Key bottleneck: </a:t>
            </a:r>
            <a:r>
              <a:rPr lang="en-US" b="1" dirty="0"/>
              <a:t>efficiently distributing inference workloads across nodes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1BBF78-E3E2-AE47-B48D-ACDECCC411A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2581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80097-5423-C85F-48B4-14D778EAAC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DA6155-8A86-6252-A700-E877942DED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CFEF7E-D0A3-6E38-760A-7CB9E7595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6CEF6-7B8B-A241-B376-7B67A2D1FAD5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787AE0-06DC-ABE2-4FA7-79FDEE54E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D80C21-44F0-3192-A9B8-0A1DA1215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6AB80-F412-0C42-B06A-028ADF0B45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8237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05D67-2FF7-744A-4943-348D85D6E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D151CA-928F-4C60-0606-4E35F1B4AA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A799EA-2307-7DA0-EDF2-91382BE8C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6CEF6-7B8B-A241-B376-7B67A2D1FAD5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68B540-015A-6EE6-3FE6-68D397F7D5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ECD37B-24D0-FD6E-1B7D-7F796FEA4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6AB80-F412-0C42-B06A-028ADF0B45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7198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C3EC3-BAF7-9426-803A-50EE4A66A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79318C-041F-D621-272E-898A4355B3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8925D1-DC33-80C6-99DD-62424C234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6CEF6-7B8B-A241-B376-7B67A2D1FAD5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B5404D-F535-674A-52A2-641EA3208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57C3E4-2639-A063-F342-9023EF722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6AB80-F412-0C42-B06A-028ADF0B45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4985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85146-E5B8-0A92-A333-5F480356E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A0A0F0-7DC1-0F21-BC27-1B2E94844D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EE65FA-0D4B-B99D-4072-01D8945009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9016FC-BD1F-E55D-44F2-72F763BFD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6CEF6-7B8B-A241-B376-7B67A2D1FAD5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5BAECD-2D9D-C8BE-5824-E3C2DB1F2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6628DD-0D2D-806F-830E-33F915067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6AB80-F412-0C42-B06A-028ADF0B45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012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0CB07-A6D7-DC63-30B7-2CABC1A0E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ECE3FF-12B9-98D1-B108-340F725592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01A41E-E0CA-3C7F-C191-6779EC6E08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8D1F6D-D26E-9FE8-4FCA-249560D2B1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628C61-51E2-A4D1-8C78-7D27ACE407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9075A-77E7-D09B-133C-672FF1DF6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6CEF6-7B8B-A241-B376-7B67A2D1FAD5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31198F2-C3DA-2EC1-03D7-48B64DA49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B4E827-2252-E03D-72C9-E0AEAA7D0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6AB80-F412-0C42-B06A-028ADF0B45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502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DB488-58E5-1ED8-5A94-5E9945DC8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9D4114-5B19-3B80-98EC-1EE1324B5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6CEF6-7B8B-A241-B376-7B67A2D1FAD5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B4A26A-55EE-E0E0-1B1E-A33DA0816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7B18F4-B0BD-5367-A1CE-3317D1290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6AB80-F412-0C42-B06A-028ADF0B45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281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A35BF2-6422-5EEA-ACA5-7A844BC58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6CEF6-7B8B-A241-B376-7B67A2D1FAD5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47D2B5-8863-EA64-B4AC-AC587B90B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E2D649-A9A7-C648-D2AA-277C4EA90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6AB80-F412-0C42-B06A-028ADF0B45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036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468AB-2051-7060-A5CC-63C448553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4EA015-AEC8-8FE9-7E86-254D92548D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A1A29C-15B4-1A5D-F6A9-DB14345687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9C65E8-55BA-0E7B-739D-C75953D62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6CEF6-7B8B-A241-B376-7B67A2D1FAD5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F1BF52-78B6-D070-E8E4-13E1253E6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4D044F-4B82-F796-B15E-3577F25C7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6AB80-F412-0C42-B06A-028ADF0B45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4999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735CF-DC5B-9670-11A9-B98203167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BF9B4D1-08AD-9B82-5CCB-17B6C3A58F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9EBDC1-A260-08C7-BF69-532181B3A6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C08977-8CDF-7411-DA6E-A1E6352E0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6CEF6-7B8B-A241-B376-7B67A2D1FAD5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F89200-12A7-18D4-96EB-269A1F56B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F80D76-3198-7F94-0C37-4638D4355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6AB80-F412-0C42-B06A-028ADF0B45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5194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FCAEA-75A9-90EA-4F45-EAD4B3CC1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FBE017-566A-7305-FD72-E266828C7F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8B4081-ABE8-EB01-60F5-6B2C0B4648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6CEF6-7B8B-A241-B376-7B67A2D1FAD5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0C7FE5-287E-06A3-9FD3-E53C13F35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AB74AF-CA7F-C47F-CBA9-FCDE3D306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6AB80-F412-0C42-B06A-028ADF0B45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8683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19D0F4-0317-2573-A63F-2C66BE69C4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3B6EE7-9483-4013-0336-BB1EF654C5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4D75E6-1066-9D1B-227C-4CBC1AD9E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6CEF6-7B8B-A241-B376-7B67A2D1FAD5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00286-490D-0D2F-9ECF-B346B3987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FD5D97-99E4-7592-B6B3-E7460F1CF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6AB80-F412-0C42-B06A-028ADF0B45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942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F9A6A2-6BE4-E4AE-7C46-CAFE74112E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797F13-2EDA-F6CC-FE48-4D4740DFC0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F5D8BB-7D91-FE43-9895-BFF0ECBB28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D6CEF6-7B8B-A241-B376-7B67A2D1FAD5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1AA9D0-9CB4-A322-8D75-2CC5295DEA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75201B-A5F9-2C03-214A-0FA18AC693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E6AB80-F412-0C42-B06A-028ADF0B45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6829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speech.ee.ntu.edu.tw/~hylee/genai/2024-spring-course-data/0301/0301_universal.pdf" TargetMode="External"/><Relationship Id="rId3" Type="http://schemas.openxmlformats.org/officeDocument/2006/relationships/image" Target="../media/image5.pn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hyperlink" Target="https://speech.ee.ntu.edu.tw/~hylee/genai/2024-spring-course-data/0301/0301_universal.pdf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5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0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13" Type="http://schemas.openxmlformats.org/officeDocument/2006/relationships/image" Target="../media/image24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10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svg"/><Relationship Id="rId11" Type="http://schemas.openxmlformats.org/officeDocument/2006/relationships/image" Target="../media/image5.png"/><Relationship Id="rId5" Type="http://schemas.openxmlformats.org/officeDocument/2006/relationships/image" Target="../media/image18.png"/><Relationship Id="rId10" Type="http://schemas.openxmlformats.org/officeDocument/2006/relationships/image" Target="../media/image23.svg"/><Relationship Id="rId4" Type="http://schemas.openxmlformats.org/officeDocument/2006/relationships/image" Target="../media/image17.jpg"/><Relationship Id="rId9" Type="http://schemas.openxmlformats.org/officeDocument/2006/relationships/image" Target="../media/image22.png"/><Relationship Id="rId1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jpg"/><Relationship Id="rId3" Type="http://schemas.openxmlformats.org/officeDocument/2006/relationships/image" Target="../media/image26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0.png"/><Relationship Id="rId4" Type="http://schemas.openxmlformats.org/officeDocument/2006/relationships/image" Target="../media/image27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F605E-2C90-BBC9-CCCD-C77E50DFF00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Overview of AI Agent and Prompt Engineering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B0E276-98FA-1F59-6831-7E43B7F024B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Xutao Wang</a:t>
            </a:r>
          </a:p>
          <a:p>
            <a:r>
              <a:rPr lang="en-US" dirty="0"/>
              <a:t>Nov. 6</a:t>
            </a:r>
            <a:r>
              <a:rPr lang="en-US" baseline="30000" dirty="0"/>
              <a:t>th</a:t>
            </a:r>
            <a:r>
              <a:rPr lang="en-US" dirty="0"/>
              <a:t> 2025</a:t>
            </a:r>
          </a:p>
        </p:txBody>
      </p:sp>
    </p:spTree>
    <p:extLst>
      <p:ext uri="{BB962C8B-B14F-4D97-AF65-F5344CB8AC3E}">
        <p14:creationId xmlns:p14="http://schemas.microsoft.com/office/powerpoint/2010/main" val="7681255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B1AAF-3AD9-9039-D5C7-A8EBCB402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an AI Agent?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45C6D1-9E47-5AE2-6FAC-31FBC2114954}"/>
              </a:ext>
            </a:extLst>
          </p:cNvPr>
          <p:cNvSpPr txBox="1"/>
          <p:nvPr/>
        </p:nvSpPr>
        <p:spPr>
          <a:xfrm>
            <a:off x="838200" y="1627411"/>
            <a:ext cx="5463746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How we use AI today</a:t>
            </a:r>
            <a:endParaRPr lang="en-US" sz="2800" dirty="0"/>
          </a:p>
          <a:p>
            <a:r>
              <a:rPr lang="en-US" sz="2400" dirty="0"/>
              <a:t>Human: Give explicit instruction</a:t>
            </a:r>
          </a:p>
          <a:p>
            <a:r>
              <a:rPr lang="en-US" sz="2400" dirty="0"/>
              <a:t>AI: Execute one command </a:t>
            </a:r>
            <a:r>
              <a:rPr lang="en-US" sz="2400" dirty="0">
                <a:sym typeface="Wingdings" pitchFamily="2" charset="2"/>
              </a:rPr>
              <a:t></a:t>
            </a:r>
            <a:r>
              <a:rPr lang="en-US" sz="2400" dirty="0"/>
              <a:t> one action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43AA13C-88EB-A28B-0BD2-304ACC3F8C65}"/>
              </a:ext>
            </a:extLst>
          </p:cNvPr>
          <p:cNvSpPr txBox="1"/>
          <p:nvPr/>
        </p:nvSpPr>
        <p:spPr>
          <a:xfrm>
            <a:off x="6995984" y="1627411"/>
            <a:ext cx="5196016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AI Agent</a:t>
            </a:r>
            <a:endParaRPr lang="en-US" sz="2800" dirty="0"/>
          </a:p>
          <a:p>
            <a:r>
              <a:rPr lang="en-US" sz="2400" dirty="0"/>
              <a:t>Human: Give a goal</a:t>
            </a:r>
          </a:p>
          <a:p>
            <a:r>
              <a:rPr lang="en-US" sz="2400" dirty="0"/>
              <a:t>AI: Figures out how to achieve it</a:t>
            </a:r>
          </a:p>
        </p:txBody>
      </p:sp>
      <p:sp>
        <p:nvSpPr>
          <p:cNvPr id="14" name="Rounded Rectangular Callout 13">
            <a:extLst>
              <a:ext uri="{FF2B5EF4-FFF2-40B4-BE49-F238E27FC236}">
                <a16:creationId xmlns:a16="http://schemas.microsoft.com/office/drawing/2014/main" id="{21CB5EA6-9905-253F-91FD-8AE1866A64E5}"/>
              </a:ext>
            </a:extLst>
          </p:cNvPr>
          <p:cNvSpPr/>
          <p:nvPr/>
        </p:nvSpPr>
        <p:spPr>
          <a:xfrm>
            <a:off x="1050326" y="3169364"/>
            <a:ext cx="2001794" cy="519272"/>
          </a:xfrm>
          <a:prstGeom prst="wedgeRoundRectCallout">
            <a:avLst>
              <a:gd name="adj1" fmla="val -53657"/>
              <a:gd name="adj2" fmla="val 69477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Explain RNA-seq</a:t>
            </a:r>
          </a:p>
        </p:txBody>
      </p:sp>
      <p:sp>
        <p:nvSpPr>
          <p:cNvPr id="15" name="Rounded Rectangular Callout 14">
            <a:extLst>
              <a:ext uri="{FF2B5EF4-FFF2-40B4-BE49-F238E27FC236}">
                <a16:creationId xmlns:a16="http://schemas.microsoft.com/office/drawing/2014/main" id="{4C4DDB7D-5881-9E9B-38FA-F3F995047140}"/>
              </a:ext>
            </a:extLst>
          </p:cNvPr>
          <p:cNvSpPr/>
          <p:nvPr/>
        </p:nvSpPr>
        <p:spPr>
          <a:xfrm flipH="1">
            <a:off x="2051223" y="3891945"/>
            <a:ext cx="1618735" cy="519272"/>
          </a:xfrm>
          <a:prstGeom prst="wedgeRoundRectCallout">
            <a:avLst>
              <a:gd name="adj1" fmla="val -53657"/>
              <a:gd name="adj2" fmla="val 69477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/>
              <a:t>RNA sequencing  </a:t>
            </a:r>
            <a:r>
              <a:rPr lang="en-US" sz="1000" dirty="0"/>
              <a:t>is a high-throughput sequencing technique …</a:t>
            </a:r>
          </a:p>
        </p:txBody>
      </p:sp>
      <p:pic>
        <p:nvPicPr>
          <p:cNvPr id="17" name="Graphic 16" descr="User with solid fill">
            <a:extLst>
              <a:ext uri="{FF2B5EF4-FFF2-40B4-BE49-F238E27FC236}">
                <a16:creationId xmlns:a16="http://schemas.microsoft.com/office/drawing/2014/main" id="{09356D4E-7593-B42F-A026-BF682454E9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2167" y="3429000"/>
            <a:ext cx="564292" cy="564292"/>
          </a:xfrm>
          <a:prstGeom prst="rect">
            <a:avLst/>
          </a:prstGeom>
        </p:spPr>
      </p:pic>
      <p:pic>
        <p:nvPicPr>
          <p:cNvPr id="21" name="Picture 20" descr="A black and white logo&#10;&#10;AI-generated content may be incorrect.">
            <a:extLst>
              <a:ext uri="{FF2B5EF4-FFF2-40B4-BE49-F238E27FC236}">
                <a16:creationId xmlns:a16="http://schemas.microsoft.com/office/drawing/2014/main" id="{FA7D55CE-FB5D-1EE7-C8FE-EB7A30F1D2B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1060" t="24807" r="21684" b="29887"/>
          <a:stretch>
            <a:fillRect/>
          </a:stretch>
        </p:blipFill>
        <p:spPr>
          <a:xfrm>
            <a:off x="3805881" y="4151581"/>
            <a:ext cx="839300" cy="715219"/>
          </a:xfrm>
          <a:prstGeom prst="rect">
            <a:avLst/>
          </a:prstGeom>
        </p:spPr>
      </p:pic>
      <p:pic>
        <p:nvPicPr>
          <p:cNvPr id="23" name="Graphic 22" descr="User with solid fill">
            <a:extLst>
              <a:ext uri="{FF2B5EF4-FFF2-40B4-BE49-F238E27FC236}">
                <a16:creationId xmlns:a16="http://schemas.microsoft.com/office/drawing/2014/main" id="{73E9E560-CFBE-D17F-2EA7-36FA83E5B9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2167" y="4916228"/>
            <a:ext cx="564292" cy="564292"/>
          </a:xfrm>
          <a:prstGeom prst="rect">
            <a:avLst/>
          </a:prstGeom>
        </p:spPr>
      </p:pic>
      <p:sp>
        <p:nvSpPr>
          <p:cNvPr id="24" name="Rounded Rectangular Callout 23">
            <a:extLst>
              <a:ext uri="{FF2B5EF4-FFF2-40B4-BE49-F238E27FC236}">
                <a16:creationId xmlns:a16="http://schemas.microsoft.com/office/drawing/2014/main" id="{6A72E988-D720-8F66-DB90-81CB56251EFF}"/>
              </a:ext>
            </a:extLst>
          </p:cNvPr>
          <p:cNvSpPr/>
          <p:nvPr/>
        </p:nvSpPr>
        <p:spPr>
          <a:xfrm>
            <a:off x="1050326" y="4619968"/>
            <a:ext cx="2011680" cy="519272"/>
          </a:xfrm>
          <a:prstGeom prst="wedgeRoundRectCallout">
            <a:avLst>
              <a:gd name="adj1" fmla="val -53657"/>
              <a:gd name="adj2" fmla="val 69477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tlCol="0" anchor="ctr"/>
          <a:lstStyle/>
          <a:p>
            <a:pPr algn="ctr"/>
            <a:r>
              <a:rPr lang="en-US" sz="1400" dirty="0"/>
              <a:t>Code for filtering outlier cells in </a:t>
            </a:r>
            <a:r>
              <a:rPr lang="en-US" sz="1400" dirty="0" err="1"/>
              <a:t>scRNA</a:t>
            </a:r>
            <a:r>
              <a:rPr lang="en-US" sz="1400" dirty="0"/>
              <a:t>-seq</a:t>
            </a:r>
          </a:p>
        </p:txBody>
      </p:sp>
      <p:pic>
        <p:nvPicPr>
          <p:cNvPr id="27" name="Picture 26" descr="A black and white logo&#10;&#10;AI-generated content may be incorrect.">
            <a:extLst>
              <a:ext uri="{FF2B5EF4-FFF2-40B4-BE49-F238E27FC236}">
                <a16:creationId xmlns:a16="http://schemas.microsoft.com/office/drawing/2014/main" id="{9F98EBA7-2994-B33D-E434-8334F64198C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1060" t="24807" r="21684" b="29887"/>
          <a:stretch>
            <a:fillRect/>
          </a:stretch>
        </p:blipFill>
        <p:spPr>
          <a:xfrm>
            <a:off x="3669958" y="5673503"/>
            <a:ext cx="839300" cy="715219"/>
          </a:xfrm>
          <a:prstGeom prst="rect">
            <a:avLst/>
          </a:prstGeom>
        </p:spPr>
      </p:pic>
      <p:sp>
        <p:nvSpPr>
          <p:cNvPr id="29" name="Rounded Rectangular Callout 28">
            <a:extLst>
              <a:ext uri="{FF2B5EF4-FFF2-40B4-BE49-F238E27FC236}">
                <a16:creationId xmlns:a16="http://schemas.microsoft.com/office/drawing/2014/main" id="{619F3DD9-43B5-26B2-8453-B4FFD265F27B}"/>
              </a:ext>
            </a:extLst>
          </p:cNvPr>
          <p:cNvSpPr/>
          <p:nvPr/>
        </p:nvSpPr>
        <p:spPr>
          <a:xfrm flipH="1">
            <a:off x="1951338" y="5551300"/>
            <a:ext cx="1618735" cy="519272"/>
          </a:xfrm>
          <a:prstGeom prst="wedgeRoundRectCallout">
            <a:avLst>
              <a:gd name="adj1" fmla="val -53657"/>
              <a:gd name="adj2" fmla="val 69477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/>
          </a:p>
        </p:txBody>
      </p:sp>
      <p:pic>
        <p:nvPicPr>
          <p:cNvPr id="26" name="Picture 25" descr="A computer screen with text and symbols&#10;&#10;AI-generated content may be incorrect.">
            <a:extLst>
              <a:ext uri="{FF2B5EF4-FFF2-40B4-BE49-F238E27FC236}">
                <a16:creationId xmlns:a16="http://schemas.microsoft.com/office/drawing/2014/main" id="{CCC48EFD-156A-E866-20E2-4DB05AEDEA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00733" y="5551300"/>
            <a:ext cx="519943" cy="519943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93573516-9FC2-32A1-8175-23073E5F9464}"/>
              </a:ext>
            </a:extLst>
          </p:cNvPr>
          <p:cNvSpPr txBox="1"/>
          <p:nvPr/>
        </p:nvSpPr>
        <p:spPr>
          <a:xfrm>
            <a:off x="1951338" y="6113300"/>
            <a:ext cx="18545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(No execution &amp; debug)</a:t>
            </a:r>
          </a:p>
        </p:txBody>
      </p:sp>
      <p:sp>
        <p:nvSpPr>
          <p:cNvPr id="31" name="Rounded Rectangular Callout 30">
            <a:extLst>
              <a:ext uri="{FF2B5EF4-FFF2-40B4-BE49-F238E27FC236}">
                <a16:creationId xmlns:a16="http://schemas.microsoft.com/office/drawing/2014/main" id="{CD1CD45F-A066-1039-66D3-F6CE08BD3F04}"/>
              </a:ext>
            </a:extLst>
          </p:cNvPr>
          <p:cNvSpPr/>
          <p:nvPr/>
        </p:nvSpPr>
        <p:spPr>
          <a:xfrm>
            <a:off x="6995984" y="3049915"/>
            <a:ext cx="2001794" cy="519272"/>
          </a:xfrm>
          <a:prstGeom prst="wedgeRoundRectCallout">
            <a:avLst>
              <a:gd name="adj1" fmla="val -53657"/>
              <a:gd name="adj2" fmla="val 69477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tlCol="0" anchor="ctr"/>
          <a:lstStyle/>
          <a:p>
            <a:pPr algn="ctr"/>
            <a:r>
              <a:rPr lang="en-US" sz="1400" dirty="0"/>
              <a:t>Perform DE analysis for the attached RNA-seq</a:t>
            </a:r>
          </a:p>
        </p:txBody>
      </p:sp>
      <p:pic>
        <p:nvPicPr>
          <p:cNvPr id="32" name="Graphic 31" descr="User with solid fill">
            <a:extLst>
              <a:ext uri="{FF2B5EF4-FFF2-40B4-BE49-F238E27FC236}">
                <a16:creationId xmlns:a16="http://schemas.microsoft.com/office/drawing/2014/main" id="{02AEE0F2-9C5E-CCD1-6DAB-62934593E7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04005" y="3338469"/>
            <a:ext cx="564292" cy="564292"/>
          </a:xfrm>
          <a:prstGeom prst="rect">
            <a:avLst/>
          </a:prstGeom>
        </p:spPr>
      </p:pic>
      <p:sp>
        <p:nvSpPr>
          <p:cNvPr id="33" name="Rounded Rectangular Callout 32">
            <a:extLst>
              <a:ext uri="{FF2B5EF4-FFF2-40B4-BE49-F238E27FC236}">
                <a16:creationId xmlns:a16="http://schemas.microsoft.com/office/drawing/2014/main" id="{32D55397-278C-FA58-461D-8C5323C82D46}"/>
              </a:ext>
            </a:extLst>
          </p:cNvPr>
          <p:cNvSpPr/>
          <p:nvPr/>
        </p:nvSpPr>
        <p:spPr>
          <a:xfrm flipH="1">
            <a:off x="8260492" y="3688636"/>
            <a:ext cx="2001794" cy="715219"/>
          </a:xfrm>
          <a:prstGeom prst="wedgeRoundRectCallout">
            <a:avLst>
              <a:gd name="adj1" fmla="val -53657"/>
              <a:gd name="adj2" fmla="val 69477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/>
              <a:t>Clarification… Choose package… Run code… Format output …</a:t>
            </a:r>
          </a:p>
        </p:txBody>
      </p:sp>
      <p:pic>
        <p:nvPicPr>
          <p:cNvPr id="34" name="Picture 33" descr="A black and white logo&#10;&#10;AI-generated content may be incorrect.">
            <a:extLst>
              <a:ext uri="{FF2B5EF4-FFF2-40B4-BE49-F238E27FC236}">
                <a16:creationId xmlns:a16="http://schemas.microsoft.com/office/drawing/2014/main" id="{EE7938A5-919C-D51B-2EEC-192EC921FA4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1060" t="24807" r="21684" b="29887"/>
          <a:stretch>
            <a:fillRect/>
          </a:stretch>
        </p:blipFill>
        <p:spPr>
          <a:xfrm>
            <a:off x="10451758" y="4125107"/>
            <a:ext cx="839300" cy="715219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1D944753-CCB9-D14B-CD85-061C6044652B}"/>
              </a:ext>
            </a:extLst>
          </p:cNvPr>
          <p:cNvSpPr txBox="1"/>
          <p:nvPr/>
        </p:nvSpPr>
        <p:spPr>
          <a:xfrm>
            <a:off x="7055090" y="4829021"/>
            <a:ext cx="41498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An autonomous system that plans, experiments, and analyzes to solve problems</a:t>
            </a:r>
          </a:p>
        </p:txBody>
      </p:sp>
    </p:spTree>
    <p:extLst>
      <p:ext uri="{BB962C8B-B14F-4D97-AF65-F5344CB8AC3E}">
        <p14:creationId xmlns:p14="http://schemas.microsoft.com/office/powerpoint/2010/main" val="1551548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31" grpId="0" animBg="1"/>
      <p:bldP spid="33" grpId="0" animBg="1"/>
      <p:bldP spid="3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CFE66-724F-DF16-346F-6D40E08B4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 an AI Agent</a:t>
            </a:r>
          </a:p>
        </p:txBody>
      </p:sp>
      <p:pic>
        <p:nvPicPr>
          <p:cNvPr id="5" name="Picture 4" descr="A black and white logo&#10;&#10;AI-generated content may be incorrect.">
            <a:extLst>
              <a:ext uri="{FF2B5EF4-FFF2-40B4-BE49-F238E27FC236}">
                <a16:creationId xmlns:a16="http://schemas.microsoft.com/office/drawing/2014/main" id="{49D6E5A6-0B95-F6DD-5E5B-2F78A6264B7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060" t="24807" r="21684" b="29887"/>
          <a:stretch>
            <a:fillRect/>
          </a:stretch>
        </p:blipFill>
        <p:spPr>
          <a:xfrm>
            <a:off x="1281564" y="2576220"/>
            <a:ext cx="839300" cy="71521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0B05F20-40C6-F23B-0167-05A87C8B9FAA}"/>
              </a:ext>
            </a:extLst>
          </p:cNvPr>
          <p:cNvSpPr txBox="1"/>
          <p:nvPr/>
        </p:nvSpPr>
        <p:spPr>
          <a:xfrm>
            <a:off x="420401" y="1985009"/>
            <a:ext cx="7104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Goal</a:t>
            </a:r>
          </a:p>
        </p:txBody>
      </p:sp>
      <p:sp>
        <p:nvSpPr>
          <p:cNvPr id="7" name="Curved Up Arrow 6">
            <a:extLst>
              <a:ext uri="{FF2B5EF4-FFF2-40B4-BE49-F238E27FC236}">
                <a16:creationId xmlns:a16="http://schemas.microsoft.com/office/drawing/2014/main" id="{415D0991-9DF5-B6D0-277A-F629203B7816}"/>
              </a:ext>
            </a:extLst>
          </p:cNvPr>
          <p:cNvSpPr/>
          <p:nvPr/>
        </p:nvSpPr>
        <p:spPr>
          <a:xfrm>
            <a:off x="1618732" y="3429000"/>
            <a:ext cx="2088292" cy="747584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DAD49C3-A3B8-4FD0-F216-A1CC46C875F8}"/>
              </a:ext>
            </a:extLst>
          </p:cNvPr>
          <p:cNvSpPr/>
          <p:nvPr/>
        </p:nvSpPr>
        <p:spPr>
          <a:xfrm>
            <a:off x="3194218" y="2648662"/>
            <a:ext cx="1025611" cy="63279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State</a:t>
            </a:r>
          </a:p>
        </p:txBody>
      </p:sp>
      <p:sp>
        <p:nvSpPr>
          <p:cNvPr id="9" name="Curved Up Arrow 8">
            <a:extLst>
              <a:ext uri="{FF2B5EF4-FFF2-40B4-BE49-F238E27FC236}">
                <a16:creationId xmlns:a16="http://schemas.microsoft.com/office/drawing/2014/main" id="{1D5A71D9-511F-AA38-E407-A2DB6231BD78}"/>
              </a:ext>
            </a:extLst>
          </p:cNvPr>
          <p:cNvSpPr/>
          <p:nvPr/>
        </p:nvSpPr>
        <p:spPr>
          <a:xfrm rot="10800000">
            <a:off x="1531216" y="1795883"/>
            <a:ext cx="2088292" cy="747584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FEF7174-6519-2F42-C5A9-C08EDC2D5472}"/>
              </a:ext>
            </a:extLst>
          </p:cNvPr>
          <p:cNvSpPr txBox="1"/>
          <p:nvPr/>
        </p:nvSpPr>
        <p:spPr>
          <a:xfrm>
            <a:off x="2174459" y="4188616"/>
            <a:ext cx="8963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Action</a:t>
            </a:r>
          </a:p>
        </p:txBody>
      </p:sp>
      <p:cxnSp>
        <p:nvCxnSpPr>
          <p:cNvPr id="11" name="直線單箭頭接點 31">
            <a:extLst>
              <a:ext uri="{FF2B5EF4-FFF2-40B4-BE49-F238E27FC236}">
                <a16:creationId xmlns:a16="http://schemas.microsoft.com/office/drawing/2014/main" id="{EB7CAA1B-D580-796E-C81C-67E7EDE32F3F}"/>
              </a:ext>
            </a:extLst>
          </p:cNvPr>
          <p:cNvCxnSpPr>
            <a:cxnSpLocks/>
          </p:cNvCxnSpPr>
          <p:nvPr/>
        </p:nvCxnSpPr>
        <p:spPr>
          <a:xfrm>
            <a:off x="869383" y="2354341"/>
            <a:ext cx="421419" cy="34326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ED36EF7-4C33-DAC2-6129-50E62C9A46AC}"/>
              </a:ext>
            </a:extLst>
          </p:cNvPr>
          <p:cNvSpPr txBox="1"/>
          <p:nvPr/>
        </p:nvSpPr>
        <p:spPr>
          <a:xfrm>
            <a:off x="1924510" y="1403783"/>
            <a:ext cx="15415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Observation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BCF2770-0317-EF51-A0A6-68377D1B1359}"/>
              </a:ext>
            </a:extLst>
          </p:cNvPr>
          <p:cNvSpPr txBox="1"/>
          <p:nvPr/>
        </p:nvSpPr>
        <p:spPr>
          <a:xfrm>
            <a:off x="4981063" y="2102816"/>
            <a:ext cx="334478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RL-Based Agent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Alpha-Go (GO)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OpenAI Five (Game)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EB22322-F4DC-BA21-53C5-A9244F08F777}"/>
              </a:ext>
            </a:extLst>
          </p:cNvPr>
          <p:cNvSpPr txBox="1"/>
          <p:nvPr/>
        </p:nvSpPr>
        <p:spPr>
          <a:xfrm>
            <a:off x="8651888" y="2083915"/>
            <a:ext cx="346314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LLM-Based Agent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AI co-scientist (Research)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/>
              <a:t>AutoKaggle</a:t>
            </a:r>
            <a:r>
              <a:rPr lang="en-US" sz="2000" dirty="0"/>
              <a:t> (Train Model)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B41EE6C-8E0B-4376-59C0-9D6F1A4299A2}"/>
              </a:ext>
            </a:extLst>
          </p:cNvPr>
          <p:cNvSpPr txBox="1"/>
          <p:nvPr/>
        </p:nvSpPr>
        <p:spPr>
          <a:xfrm>
            <a:off x="8999621" y="6169709"/>
            <a:ext cx="29299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RL: Reinforcement Learning</a:t>
            </a:r>
          </a:p>
          <a:p>
            <a:r>
              <a:rPr lang="en-US" dirty="0"/>
              <a:t>LLM: Large language model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4983203-F9B8-A8D2-2FD1-8D53DC9C324A}"/>
              </a:ext>
            </a:extLst>
          </p:cNvPr>
          <p:cNvSpPr txBox="1"/>
          <p:nvPr/>
        </p:nvSpPr>
        <p:spPr>
          <a:xfrm>
            <a:off x="7700437" y="2083313"/>
            <a:ext cx="7249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vs.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650F37B-03AD-95E5-48CE-13C0EE6C8816}"/>
              </a:ext>
            </a:extLst>
          </p:cNvPr>
          <p:cNvSpPr txBox="1"/>
          <p:nvPr/>
        </p:nvSpPr>
        <p:spPr>
          <a:xfrm>
            <a:off x="741282" y="5254162"/>
            <a:ext cx="609814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How can we make our LLM-based agent smarter, more reliable, and better aligned with our goals?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81C2997-1E05-CDE7-82DF-20EEB78A5C1C}"/>
              </a:ext>
            </a:extLst>
          </p:cNvPr>
          <p:cNvSpPr txBox="1"/>
          <p:nvPr/>
        </p:nvSpPr>
        <p:spPr>
          <a:xfrm>
            <a:off x="8863433" y="1318587"/>
            <a:ext cx="19707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C00000"/>
                </a:solidFill>
              </a:rPr>
              <a:t>More possibilities</a:t>
            </a:r>
          </a:p>
          <a:p>
            <a:r>
              <a:rPr lang="en-US" i="1" dirty="0">
                <a:solidFill>
                  <a:srgbClr val="C00000"/>
                </a:solidFill>
              </a:rPr>
              <a:t>Use external tools</a:t>
            </a:r>
          </a:p>
        </p:txBody>
      </p:sp>
      <p:sp>
        <p:nvSpPr>
          <p:cNvPr id="26" name="5-Point Star 25">
            <a:extLst>
              <a:ext uri="{FF2B5EF4-FFF2-40B4-BE49-F238E27FC236}">
                <a16:creationId xmlns:a16="http://schemas.microsoft.com/office/drawing/2014/main" id="{935C857D-5C67-EE3C-772E-92732E9AC4F7}"/>
              </a:ext>
            </a:extLst>
          </p:cNvPr>
          <p:cNvSpPr/>
          <p:nvPr/>
        </p:nvSpPr>
        <p:spPr>
          <a:xfrm>
            <a:off x="8389511" y="1693748"/>
            <a:ext cx="473922" cy="461665"/>
          </a:xfrm>
          <a:prstGeom prst="star5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9570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0" grpId="0"/>
      <p:bldP spid="17" grpId="0"/>
      <p:bldP spid="18" grpId="0"/>
      <p:bldP spid="20" grpId="0"/>
      <p:bldP spid="21" grpId="0"/>
      <p:bldP spid="23" grpId="0"/>
      <p:bldP spid="24" grpId="0"/>
      <p:bldP spid="2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96DAA-F16B-508F-9E30-883DDCBB4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Approach 1: Prompt Engineering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37CDF27-39C5-2654-3D8A-C1D9A73E6CA6}"/>
              </a:ext>
            </a:extLst>
          </p:cNvPr>
          <p:cNvSpPr txBox="1"/>
          <p:nvPr/>
        </p:nvSpPr>
        <p:spPr>
          <a:xfrm>
            <a:off x="983509" y="4290086"/>
            <a:ext cx="7490071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Strengthen LLM Interaction through better prompting: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Provide clear instruction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Add context or extra information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Enable tool integration or usage</a:t>
            </a:r>
          </a:p>
          <a:p>
            <a:r>
              <a:rPr lang="en-US" dirty="0"/>
              <a:t> </a:t>
            </a:r>
          </a:p>
        </p:txBody>
      </p:sp>
      <p:pic>
        <p:nvPicPr>
          <p:cNvPr id="26" name="Picture 2">
            <a:extLst>
              <a:ext uri="{FF2B5EF4-FFF2-40B4-BE49-F238E27FC236}">
                <a16:creationId xmlns:a16="http://schemas.microsoft.com/office/drawing/2014/main" id="{EA4AC441-D0BC-F71D-AD0D-3EA0CCDFB1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7541" y="2149878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字方塊 24">
                <a:extLst>
                  <a:ext uri="{FF2B5EF4-FFF2-40B4-BE49-F238E27FC236}">
                    <a16:creationId xmlns:a16="http://schemas.microsoft.com/office/drawing/2014/main" id="{7AC42233-8E6D-1C87-D97B-7D49E54DD0FB}"/>
                  </a:ext>
                </a:extLst>
              </p:cNvPr>
              <p:cNvSpPr txBox="1"/>
              <p:nvPr/>
            </p:nvSpPr>
            <p:spPr>
              <a:xfrm>
                <a:off x="2502363" y="2514001"/>
                <a:ext cx="2682979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zh-TW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r>
                        <a:rPr kumimoji="0" lang="en-US" altLang="zh-TW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𝑓</m:t>
                      </m:r>
                      <m:d>
                        <m:dPr>
                          <m:ctrlPr>
                            <a:rPr kumimoji="0" lang="en-US" altLang="zh-TW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zh-TW" alt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 </m:t>
                          </m:r>
                          <m:r>
                            <a:rPr kumimoji="0" lang="zh-TW" alt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</m:t>
                          </m:r>
                          <m:r>
                            <a:rPr kumimoji="0" lang="zh-TW" alt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</m:t>
                          </m:r>
                          <m:r>
                            <a:rPr kumimoji="0" lang="zh-TW" alt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</m:t>
                          </m:r>
                          <m:r>
                            <a:rPr kumimoji="0" lang="zh-TW" alt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</m:t>
                          </m:r>
                          <m:r>
                            <a:rPr kumimoji="0" lang="zh-TW" alt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</m:t>
                          </m:r>
                          <m:r>
                            <a:rPr kumimoji="0" lang="zh-TW" alt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</m:t>
                          </m:r>
                          <m:r>
                            <a:rPr kumimoji="0" lang="zh-TW" alt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</m:t>
                          </m:r>
                          <m:r>
                            <a:rPr kumimoji="0" lang="zh-TW" alt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</m:t>
                          </m:r>
                          <m:r>
                            <a:rPr kumimoji="0" lang="zh-TW" alt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</m:t>
                          </m:r>
                          <m:r>
                            <a:rPr kumimoji="0" lang="zh-TW" alt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</m:t>
                          </m:r>
                          <m:r>
                            <a:rPr kumimoji="0" lang="zh-TW" alt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</m:t>
                          </m:r>
                          <m:r>
                            <a:rPr kumimoji="0" lang="zh-TW" alt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</m:t>
                          </m:r>
                          <m:r>
                            <a:rPr kumimoji="0" lang="zh-TW" alt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</m:t>
                          </m:r>
                          <m:r>
                            <a:rPr kumimoji="0" lang="zh-TW" alt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</m:t>
                          </m:r>
                          <m:r>
                            <a:rPr kumimoji="0" lang="zh-TW" alt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</m:t>
                          </m:r>
                          <m:r>
                            <a:rPr kumimoji="0" lang="zh-TW" alt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</m:t>
                          </m:r>
                          <m:r>
                            <a:rPr kumimoji="0" lang="zh-TW" alt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</m:t>
                          </m:r>
                          <m:r>
                            <a:rPr kumimoji="0" lang="zh-TW" alt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</m:t>
                          </m:r>
                          <m:r>
                            <a:rPr kumimoji="0" lang="zh-TW" alt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kumimoji="0" lang="zh-TW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</mc:Choice>
        <mc:Fallback xmlns="">
          <p:sp>
            <p:nvSpPr>
              <p:cNvPr id="27" name="文字方塊 24">
                <a:extLst>
                  <a:ext uri="{FF2B5EF4-FFF2-40B4-BE49-F238E27FC236}">
                    <a16:creationId xmlns:a16="http://schemas.microsoft.com/office/drawing/2014/main" id="{7AC42233-8E6D-1C87-D97B-7D49E54DD0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2363" y="2514001"/>
                <a:ext cx="2682979" cy="430887"/>
              </a:xfrm>
              <a:prstGeom prst="rect">
                <a:avLst/>
              </a:prstGeom>
              <a:blipFill>
                <a:blip r:embed="rId4"/>
                <a:stretch>
                  <a:fillRect t="-8571" b="-3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8" name="Picture 2">
            <a:extLst>
              <a:ext uri="{FF2B5EF4-FFF2-40B4-BE49-F238E27FC236}">
                <a16:creationId xmlns:a16="http://schemas.microsoft.com/office/drawing/2014/main" id="{623F21BF-5EB5-32B7-378D-14EF117D9C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2776" y="2149878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2">
            <a:extLst>
              <a:ext uri="{FF2B5EF4-FFF2-40B4-BE49-F238E27FC236}">
                <a16:creationId xmlns:a16="http://schemas.microsoft.com/office/drawing/2014/main" id="{505C239A-EC8D-4CE6-DDC3-C76F529AEA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67985" y="2149878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字方塊 27">
                <a:extLst>
                  <a:ext uri="{FF2B5EF4-FFF2-40B4-BE49-F238E27FC236}">
                    <a16:creationId xmlns:a16="http://schemas.microsoft.com/office/drawing/2014/main" id="{FF5251D6-B836-C1F9-127B-70B2241D646F}"/>
                  </a:ext>
                </a:extLst>
              </p:cNvPr>
              <p:cNvSpPr txBox="1"/>
              <p:nvPr/>
            </p:nvSpPr>
            <p:spPr>
              <a:xfrm>
                <a:off x="7974878" y="2514001"/>
                <a:ext cx="4018280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zh-TW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r>
                        <a:rPr kumimoji="0" lang="en-US" altLang="zh-TW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𝑓</m:t>
                      </m:r>
                      <m:d>
                        <m:dPr>
                          <m:ctrlPr>
                            <a:rPr kumimoji="0" lang="en-US" altLang="zh-TW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zh-TW" alt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 </m:t>
                          </m:r>
                          <m:r>
                            <a:rPr kumimoji="0" lang="zh-TW" alt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</m:t>
                          </m:r>
                          <m:r>
                            <a:rPr kumimoji="0" lang="zh-TW" alt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</m:t>
                          </m:r>
                          <m:r>
                            <a:rPr kumimoji="0" lang="zh-TW" alt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</m:t>
                          </m:r>
                          <m:r>
                            <a:rPr kumimoji="0" lang="zh-TW" alt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</m:t>
                          </m:r>
                          <m:r>
                            <a:rPr kumimoji="0" lang="zh-TW" alt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</m:t>
                          </m:r>
                          <m:r>
                            <a:rPr kumimoji="0" lang="zh-TW" alt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</m:t>
                          </m:r>
                          <m:r>
                            <a:rPr kumimoji="0" lang="zh-TW" alt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</m:t>
                          </m:r>
                          <m:r>
                            <a:rPr kumimoji="0" lang="zh-TW" alt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</m:t>
                          </m:r>
                          <m:r>
                            <a:rPr kumimoji="0" lang="zh-TW" alt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</m:t>
                          </m:r>
                          <m:r>
                            <a:rPr kumimoji="0" lang="zh-TW" alt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</m:t>
                          </m:r>
                          <m:r>
                            <a:rPr kumimoji="0" lang="zh-TW" alt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</m:t>
                          </m:r>
                          <m:r>
                            <a:rPr kumimoji="0" lang="zh-TW" alt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</m:t>
                          </m:r>
                          <m:r>
                            <a:rPr kumimoji="0" lang="zh-TW" alt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</m:t>
                          </m:r>
                          <m:r>
                            <a:rPr kumimoji="0" lang="zh-TW" alt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</m:t>
                          </m:r>
                          <m:r>
                            <a:rPr kumimoji="0" lang="zh-TW" alt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</m:t>
                          </m:r>
                          <m:r>
                            <a:rPr kumimoji="0" lang="zh-TW" alt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</m:t>
                          </m:r>
                          <m:r>
                            <a:rPr kumimoji="0" lang="zh-TW" alt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</m:t>
                          </m:r>
                          <m:r>
                            <a:rPr kumimoji="0" lang="zh-TW" alt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</m:t>
                          </m:r>
                          <m:r>
                            <a:rPr kumimoji="0" lang="zh-TW" alt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</m:t>
                          </m:r>
                          <m:r>
                            <a:rPr kumimoji="0" lang="zh-TW" alt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</m:t>
                          </m:r>
                          <m:r>
                            <a:rPr kumimoji="0" lang="en-US" altLang="zh-TW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                </m:t>
                          </m:r>
                        </m:e>
                      </m:d>
                    </m:oMath>
                  </m:oMathPara>
                </a14:m>
                <a:endParaRPr kumimoji="0" lang="zh-TW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</mc:Choice>
        <mc:Fallback xmlns="">
          <p:sp>
            <p:nvSpPr>
              <p:cNvPr id="30" name="文字方塊 27">
                <a:extLst>
                  <a:ext uri="{FF2B5EF4-FFF2-40B4-BE49-F238E27FC236}">
                    <a16:creationId xmlns:a16="http://schemas.microsoft.com/office/drawing/2014/main" id="{FF5251D6-B836-C1F9-127B-70B2241D64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4878" y="2514001"/>
                <a:ext cx="4018280" cy="430887"/>
              </a:xfrm>
              <a:prstGeom prst="rect">
                <a:avLst/>
              </a:prstGeom>
              <a:blipFill>
                <a:blip r:embed="rId5"/>
                <a:stretch>
                  <a:fillRect l="-314" t="-8571" b="-3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1" name="Picture 2">
            <a:extLst>
              <a:ext uri="{FF2B5EF4-FFF2-40B4-BE49-F238E27FC236}">
                <a16:creationId xmlns:a16="http://schemas.microsoft.com/office/drawing/2014/main" id="{4AB9A9CE-F333-D6F4-8F96-DC665336B3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5291" y="2149878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文字方塊 32">
            <a:extLst>
              <a:ext uri="{FF2B5EF4-FFF2-40B4-BE49-F238E27FC236}">
                <a16:creationId xmlns:a16="http://schemas.microsoft.com/office/drawing/2014/main" id="{33C862B1-C999-2292-DC7D-FEA8D75B92D0}"/>
              </a:ext>
            </a:extLst>
          </p:cNvPr>
          <p:cNvSpPr txBox="1"/>
          <p:nvPr/>
        </p:nvSpPr>
        <p:spPr>
          <a:xfrm>
            <a:off x="7550930" y="3612777"/>
            <a:ext cx="1870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Fixed LLM</a:t>
            </a:r>
            <a:endParaRPr kumimoji="0" lang="zh-TW" alt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36" name="文字方塊 34">
            <a:extLst>
              <a:ext uri="{FF2B5EF4-FFF2-40B4-BE49-F238E27FC236}">
                <a16:creationId xmlns:a16="http://schemas.microsoft.com/office/drawing/2014/main" id="{4E7FC3E0-D6E7-C093-1C43-21DF1244A5D2}"/>
              </a:ext>
            </a:extLst>
          </p:cNvPr>
          <p:cNvSpPr txBox="1"/>
          <p:nvPr/>
        </p:nvSpPr>
        <p:spPr>
          <a:xfrm>
            <a:off x="2070050" y="3594404"/>
            <a:ext cx="1870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Fixed LLM </a:t>
            </a:r>
          </a:p>
        </p:txBody>
      </p:sp>
      <p:pic>
        <p:nvPicPr>
          <p:cNvPr id="37" name="圖形 29" descr="皇冠 以實心填滿">
            <a:extLst>
              <a:ext uri="{FF2B5EF4-FFF2-40B4-BE49-F238E27FC236}">
                <a16:creationId xmlns:a16="http://schemas.microsoft.com/office/drawing/2014/main" id="{E6BA3440-9F30-D1D7-8F12-8A122B209ED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05291" y="1430563"/>
            <a:ext cx="914400" cy="914400"/>
          </a:xfrm>
          <a:prstGeom prst="rect">
            <a:avLst/>
          </a:prstGeom>
        </p:spPr>
      </p:pic>
      <p:pic>
        <p:nvPicPr>
          <p:cNvPr id="38" name="Picture 2">
            <a:extLst>
              <a:ext uri="{FF2B5EF4-FFF2-40B4-BE49-F238E27FC236}">
                <a16:creationId xmlns:a16="http://schemas.microsoft.com/office/drawing/2014/main" id="{956FC705-09B9-53E3-707A-2E0BF1E63D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9308" y="2149878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25327126-FCDB-0E9F-351A-8CFBC35679D7}"/>
              </a:ext>
            </a:extLst>
          </p:cNvPr>
          <p:cNvSpPr txBox="1"/>
          <p:nvPr/>
        </p:nvSpPr>
        <p:spPr>
          <a:xfrm>
            <a:off x="922663" y="1506022"/>
            <a:ext cx="38058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Enhance LLM without retraining</a:t>
            </a:r>
          </a:p>
        </p:txBody>
      </p:sp>
      <p:sp>
        <p:nvSpPr>
          <p:cNvPr id="40" name="Up Arrow 39">
            <a:extLst>
              <a:ext uri="{FF2B5EF4-FFF2-40B4-BE49-F238E27FC236}">
                <a16:creationId xmlns:a16="http://schemas.microsoft.com/office/drawing/2014/main" id="{59632979-5D0F-BA70-F747-A11A2D5A91F3}"/>
              </a:ext>
            </a:extLst>
          </p:cNvPr>
          <p:cNvSpPr/>
          <p:nvPr/>
        </p:nvSpPr>
        <p:spPr>
          <a:xfrm rot="5400000">
            <a:off x="5472238" y="2342759"/>
            <a:ext cx="669701" cy="698080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4A0B12BB-17A6-AE5E-831E-E38F94A6F8C4}"/>
              </a:ext>
            </a:extLst>
          </p:cNvPr>
          <p:cNvCxnSpPr/>
          <p:nvPr/>
        </p:nvCxnSpPr>
        <p:spPr>
          <a:xfrm flipV="1">
            <a:off x="3005467" y="3106314"/>
            <a:ext cx="0" cy="428365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6B540C28-8280-1008-E6E0-E63E5BBC0DD9}"/>
              </a:ext>
            </a:extLst>
          </p:cNvPr>
          <p:cNvCxnSpPr/>
          <p:nvPr/>
        </p:nvCxnSpPr>
        <p:spPr>
          <a:xfrm flipV="1">
            <a:off x="8488890" y="3089035"/>
            <a:ext cx="0" cy="428365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CE28845E-2378-D492-BF6B-07F7F7FC9418}"/>
              </a:ext>
            </a:extLst>
          </p:cNvPr>
          <p:cNvSpPr txBox="1"/>
          <p:nvPr/>
        </p:nvSpPr>
        <p:spPr>
          <a:xfrm>
            <a:off x="3737660" y="6226756"/>
            <a:ext cx="847443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Adapted from Lee (2024), Slide 25 (Chinese):</a:t>
            </a:r>
            <a:br>
              <a:rPr lang="en-US" sz="1600" dirty="0"/>
            </a:br>
            <a:r>
              <a:rPr lang="en-US" sz="1600" dirty="0">
                <a:hlinkClick r:id="rId8"/>
              </a:rPr>
              <a:t>https://speech.ee.ntu.edu.tw/~hylee/genai/2024-spring-course-data/0301/0301_universal.pdf</a:t>
            </a:r>
            <a:endParaRPr lang="en-US" sz="1600" dirty="0"/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8549910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04ED7-DF1D-7836-96E9-1E03B079AF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900719" cy="1325563"/>
          </a:xfrm>
        </p:spPr>
        <p:txBody>
          <a:bodyPr/>
          <a:lstStyle/>
          <a:p>
            <a:r>
              <a:rPr lang="en-US" dirty="0"/>
              <a:t>Approach 2: Train Your Own Model (Fine-tuning)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64F02785-8736-E875-A265-63AA9F441E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7541" y="2077263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24">
                <a:extLst>
                  <a:ext uri="{FF2B5EF4-FFF2-40B4-BE49-F238E27FC236}">
                    <a16:creationId xmlns:a16="http://schemas.microsoft.com/office/drawing/2014/main" id="{D549D719-F1F4-1EBC-8CA1-475F4634DB7F}"/>
                  </a:ext>
                </a:extLst>
              </p:cNvPr>
              <p:cNvSpPr txBox="1"/>
              <p:nvPr/>
            </p:nvSpPr>
            <p:spPr>
              <a:xfrm>
                <a:off x="2502363" y="2441386"/>
                <a:ext cx="2682979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zh-TW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r>
                        <a:rPr kumimoji="0" lang="en-US" altLang="zh-TW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𝑓</m:t>
                      </m:r>
                      <m:d>
                        <m:dPr>
                          <m:ctrlPr>
                            <a:rPr kumimoji="0" lang="en-US" altLang="zh-TW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zh-TW" alt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 </m:t>
                          </m:r>
                          <m:r>
                            <a:rPr kumimoji="0" lang="zh-TW" alt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</m:t>
                          </m:r>
                          <m:r>
                            <a:rPr kumimoji="0" lang="zh-TW" alt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</m:t>
                          </m:r>
                          <m:r>
                            <a:rPr kumimoji="0" lang="zh-TW" alt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</m:t>
                          </m:r>
                          <m:r>
                            <a:rPr kumimoji="0" lang="zh-TW" alt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</m:t>
                          </m:r>
                          <m:r>
                            <a:rPr kumimoji="0" lang="zh-TW" alt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</m:t>
                          </m:r>
                          <m:r>
                            <a:rPr kumimoji="0" lang="zh-TW" alt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</m:t>
                          </m:r>
                          <m:r>
                            <a:rPr kumimoji="0" lang="zh-TW" alt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</m:t>
                          </m:r>
                          <m:r>
                            <a:rPr kumimoji="0" lang="zh-TW" alt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</m:t>
                          </m:r>
                          <m:r>
                            <a:rPr kumimoji="0" lang="zh-TW" alt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</m:t>
                          </m:r>
                          <m:r>
                            <a:rPr kumimoji="0" lang="zh-TW" alt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</m:t>
                          </m:r>
                          <m:r>
                            <a:rPr kumimoji="0" lang="zh-TW" alt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</m:t>
                          </m:r>
                          <m:r>
                            <a:rPr kumimoji="0" lang="zh-TW" alt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</m:t>
                          </m:r>
                          <m:r>
                            <a:rPr kumimoji="0" lang="zh-TW" alt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</m:t>
                          </m:r>
                          <m:r>
                            <a:rPr kumimoji="0" lang="zh-TW" alt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</m:t>
                          </m:r>
                          <m:r>
                            <a:rPr kumimoji="0" lang="zh-TW" alt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</m:t>
                          </m:r>
                          <m:r>
                            <a:rPr kumimoji="0" lang="zh-TW" alt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</m:t>
                          </m:r>
                          <m:r>
                            <a:rPr kumimoji="0" lang="zh-TW" alt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</m:t>
                          </m:r>
                          <m:r>
                            <a:rPr kumimoji="0" lang="zh-TW" alt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</m:t>
                          </m:r>
                          <m:r>
                            <a:rPr kumimoji="0" lang="zh-TW" alt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</m:t>
                          </m:r>
                          <m:r>
                            <a:rPr kumimoji="0" lang="zh-TW" alt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kumimoji="0" lang="zh-TW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</mc:Choice>
        <mc:Fallback xmlns="">
          <p:sp>
            <p:nvSpPr>
              <p:cNvPr id="5" name="文字方塊 24">
                <a:extLst>
                  <a:ext uri="{FF2B5EF4-FFF2-40B4-BE49-F238E27FC236}">
                    <a16:creationId xmlns:a16="http://schemas.microsoft.com/office/drawing/2014/main" id="{D549D719-F1F4-1EBC-8CA1-475F4634DB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2363" y="2441386"/>
                <a:ext cx="2682979" cy="430887"/>
              </a:xfrm>
              <a:prstGeom prst="rect">
                <a:avLst/>
              </a:prstGeom>
              <a:blipFill>
                <a:blip r:embed="rId3"/>
                <a:stretch>
                  <a:fillRect l="-939" t="-8571" b="-3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2">
            <a:extLst>
              <a:ext uri="{FF2B5EF4-FFF2-40B4-BE49-F238E27FC236}">
                <a16:creationId xmlns:a16="http://schemas.microsoft.com/office/drawing/2014/main" id="{5D723B21-7EE6-C924-61FD-420F179F97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2776" y="2077263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66A65314-55BC-45F3-7270-3E160E9A93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67985" y="2077263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27">
                <a:extLst>
                  <a:ext uri="{FF2B5EF4-FFF2-40B4-BE49-F238E27FC236}">
                    <a16:creationId xmlns:a16="http://schemas.microsoft.com/office/drawing/2014/main" id="{2639C79A-E57C-E972-E5D8-C8A90BD73CAE}"/>
                  </a:ext>
                </a:extLst>
              </p:cNvPr>
              <p:cNvSpPr txBox="1"/>
              <p:nvPr/>
            </p:nvSpPr>
            <p:spPr>
              <a:xfrm>
                <a:off x="7974878" y="2441386"/>
                <a:ext cx="276543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zh-TW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r>
                        <a:rPr kumimoji="0" lang="en-US" altLang="zh-TW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𝑓</m:t>
                      </m:r>
                      <m:r>
                        <a:rPr kumimoji="0" lang="en-US" altLang="zh-TW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′</m:t>
                      </m:r>
                      <m:d>
                        <m:dPr>
                          <m:ctrlPr>
                            <a:rPr kumimoji="0" lang="en-US" altLang="zh-TW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zh-TW" alt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 </m:t>
                          </m:r>
                          <m:r>
                            <a:rPr kumimoji="0" lang="zh-TW" alt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</m:t>
                          </m:r>
                          <m:r>
                            <a:rPr kumimoji="0" lang="zh-TW" alt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</m:t>
                          </m:r>
                          <m:r>
                            <a:rPr kumimoji="0" lang="zh-TW" alt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</m:t>
                          </m:r>
                          <m:r>
                            <a:rPr kumimoji="0" lang="zh-TW" alt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</m:t>
                          </m:r>
                          <m:r>
                            <a:rPr kumimoji="0" lang="zh-TW" alt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</m:t>
                          </m:r>
                          <m:r>
                            <a:rPr kumimoji="0" lang="zh-TW" alt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</m:t>
                          </m:r>
                          <m:r>
                            <a:rPr kumimoji="0" lang="zh-TW" alt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</m:t>
                          </m:r>
                          <m:r>
                            <a:rPr kumimoji="0" lang="zh-TW" alt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</m:t>
                          </m:r>
                          <m:r>
                            <a:rPr kumimoji="0" lang="zh-TW" alt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</m:t>
                          </m:r>
                          <m:r>
                            <a:rPr kumimoji="0" lang="zh-TW" alt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</m:t>
                          </m:r>
                          <m:r>
                            <a:rPr kumimoji="0" lang="zh-TW" alt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</m:t>
                          </m:r>
                          <m:r>
                            <a:rPr kumimoji="0" lang="zh-TW" alt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</m:t>
                          </m:r>
                          <m:r>
                            <a:rPr kumimoji="0" lang="zh-TW" alt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</m:t>
                          </m:r>
                          <m:r>
                            <a:rPr kumimoji="0" lang="zh-TW" alt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</m:t>
                          </m:r>
                          <m:r>
                            <a:rPr kumimoji="0" lang="zh-TW" alt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</m:t>
                          </m:r>
                          <m:r>
                            <a:rPr kumimoji="0" lang="zh-TW" alt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</m:t>
                          </m:r>
                          <m:r>
                            <a:rPr kumimoji="0" lang="zh-TW" alt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</m:t>
                          </m:r>
                          <m:r>
                            <a:rPr kumimoji="0" lang="zh-TW" alt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</m:t>
                          </m:r>
                          <m:r>
                            <a:rPr kumimoji="0" lang="zh-TW" alt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</m:t>
                          </m:r>
                          <m:r>
                            <a:rPr kumimoji="0" lang="zh-TW" alt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kumimoji="0" lang="zh-TW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新細明體" panose="02020500000000000000" pitchFamily="18" charset="-120"/>
                  <a:cs typeface="+mn-cs"/>
                </a:endParaRPr>
              </a:p>
            </p:txBody>
          </p:sp>
        </mc:Choice>
        <mc:Fallback xmlns="">
          <p:sp>
            <p:nvSpPr>
              <p:cNvPr id="8" name="文字方塊 27">
                <a:extLst>
                  <a:ext uri="{FF2B5EF4-FFF2-40B4-BE49-F238E27FC236}">
                    <a16:creationId xmlns:a16="http://schemas.microsoft.com/office/drawing/2014/main" id="{2639C79A-E57C-E972-E5D8-C8A90BD73C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4878" y="2441386"/>
                <a:ext cx="2765437" cy="430887"/>
              </a:xfrm>
              <a:prstGeom prst="rect">
                <a:avLst/>
              </a:prstGeom>
              <a:blipFill>
                <a:blip r:embed="rId4"/>
                <a:stretch>
                  <a:fillRect l="-913" t="-8571" b="-3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2">
            <a:extLst>
              <a:ext uri="{FF2B5EF4-FFF2-40B4-BE49-F238E27FC236}">
                <a16:creationId xmlns:a16="http://schemas.microsoft.com/office/drawing/2014/main" id="{BDD19970-33F0-75D4-5939-8C3DFFBD04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5291" y="2077263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圖形 29" descr="皇冠 以實心填滿">
            <a:extLst>
              <a:ext uri="{FF2B5EF4-FFF2-40B4-BE49-F238E27FC236}">
                <a16:creationId xmlns:a16="http://schemas.microsoft.com/office/drawing/2014/main" id="{AF4738F5-AD0C-58C5-525A-01ED902FF5D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05291" y="1382630"/>
            <a:ext cx="914400" cy="914400"/>
          </a:xfrm>
          <a:prstGeom prst="rect">
            <a:avLst/>
          </a:prstGeom>
        </p:spPr>
      </p:pic>
      <p:sp>
        <p:nvSpPr>
          <p:cNvPr id="13" name="文字方塊 32">
            <a:extLst>
              <a:ext uri="{FF2B5EF4-FFF2-40B4-BE49-F238E27FC236}">
                <a16:creationId xmlns:a16="http://schemas.microsoft.com/office/drawing/2014/main" id="{E2F04CDB-D2C5-06B1-DB42-E70C0162269C}"/>
              </a:ext>
            </a:extLst>
          </p:cNvPr>
          <p:cNvSpPr txBox="1"/>
          <p:nvPr/>
        </p:nvSpPr>
        <p:spPr>
          <a:xfrm>
            <a:off x="7550930" y="3540162"/>
            <a:ext cx="1870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Edited LLM</a:t>
            </a:r>
            <a:endParaRPr kumimoji="0" lang="zh-TW" alt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5" name="文字方塊 34">
            <a:extLst>
              <a:ext uri="{FF2B5EF4-FFF2-40B4-BE49-F238E27FC236}">
                <a16:creationId xmlns:a16="http://schemas.microsoft.com/office/drawing/2014/main" id="{CCE623FA-57C6-F2A0-6770-5D7790BDBD65}"/>
              </a:ext>
            </a:extLst>
          </p:cNvPr>
          <p:cNvSpPr txBox="1"/>
          <p:nvPr/>
        </p:nvSpPr>
        <p:spPr>
          <a:xfrm>
            <a:off x="2070050" y="3521789"/>
            <a:ext cx="18708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LLM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(Open Source)</a:t>
            </a:r>
            <a:endParaRPr kumimoji="0" lang="zh-TW" alt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893CFC5-73D3-B14B-C73A-BD51542E88A8}"/>
              </a:ext>
            </a:extLst>
          </p:cNvPr>
          <p:cNvSpPr txBox="1"/>
          <p:nvPr/>
        </p:nvSpPr>
        <p:spPr>
          <a:xfrm>
            <a:off x="1248031" y="4769708"/>
            <a:ext cx="475352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More complex process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Requires additional resources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86DB690-1CAA-5823-3119-5AAD785BBA29}"/>
              </a:ext>
            </a:extLst>
          </p:cNvPr>
          <p:cNvCxnSpPr/>
          <p:nvPr/>
        </p:nvCxnSpPr>
        <p:spPr>
          <a:xfrm flipV="1">
            <a:off x="3005467" y="2959557"/>
            <a:ext cx="0" cy="428365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6A0CAC9-E74C-D4B6-F8FA-2759E2A6C924}"/>
              </a:ext>
            </a:extLst>
          </p:cNvPr>
          <p:cNvCxnSpPr/>
          <p:nvPr/>
        </p:nvCxnSpPr>
        <p:spPr>
          <a:xfrm flipV="1">
            <a:off x="8489720" y="2959557"/>
            <a:ext cx="0" cy="428365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Up Arrow 18">
            <a:extLst>
              <a:ext uri="{FF2B5EF4-FFF2-40B4-BE49-F238E27FC236}">
                <a16:creationId xmlns:a16="http://schemas.microsoft.com/office/drawing/2014/main" id="{A35F6027-B324-E6B8-281E-C82748A373A0}"/>
              </a:ext>
            </a:extLst>
          </p:cNvPr>
          <p:cNvSpPr/>
          <p:nvPr/>
        </p:nvSpPr>
        <p:spPr>
          <a:xfrm rot="5400000">
            <a:off x="5444498" y="2282841"/>
            <a:ext cx="669701" cy="698080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66D522-A215-F22C-6B30-BE1961831B48}"/>
              </a:ext>
            </a:extLst>
          </p:cNvPr>
          <p:cNvSpPr txBox="1"/>
          <p:nvPr/>
        </p:nvSpPr>
        <p:spPr>
          <a:xfrm>
            <a:off x="3737660" y="6226756"/>
            <a:ext cx="847443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Adapted from Lee (2024), Slide 25 (Chinese):</a:t>
            </a:r>
            <a:br>
              <a:rPr lang="en-US" sz="1600" dirty="0"/>
            </a:br>
            <a:r>
              <a:rPr lang="en-US" sz="1600" dirty="0">
                <a:hlinkClick r:id="rId7"/>
              </a:rPr>
              <a:t>https://speech.ee.ntu.edu.tw/~hylee/genai/2024-spring-course-data/0301/0301_universal.pdf</a:t>
            </a:r>
            <a:endParaRPr lang="en-US" sz="1600" dirty="0"/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138120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02721-673E-38A5-14E5-4AE5F4A30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Enhance LLM Without Retraining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08CC869-3DC1-5EDA-0CD0-F5092BCF4F5D}"/>
                  </a:ext>
                </a:extLst>
              </p:cNvPr>
              <p:cNvSpPr txBox="1"/>
              <p:nvPr/>
            </p:nvSpPr>
            <p:spPr>
              <a:xfrm>
                <a:off x="667264" y="1674674"/>
                <a:ext cx="5745892" cy="28179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000" b="1" dirty="0"/>
                  <a:t>Model Thinking – Chain of Thought</a:t>
                </a: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000" dirty="0"/>
                  <a:t>Magic Spells: Let’s think it step by step</a:t>
                </a: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000" dirty="0"/>
                  <a:t>Encourage models to reason step by step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lang="en-US" sz="2000" dirty="0">
                    <a:ea typeface="Cambria Math" panose="02040503050406030204" pitchFamily="18" charset="0"/>
                  </a:rPr>
                  <a:t>     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en-US" sz="2000" dirty="0"/>
                  <a:t> Task Decomposition</a:t>
                </a: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000" dirty="0"/>
                  <a:t>Ask the models to explain its reasoning</a:t>
                </a:r>
              </a:p>
              <a:p>
                <a:pPr>
                  <a:lnSpc>
                    <a:spcPct val="150000"/>
                  </a:lnSpc>
                </a:pPr>
                <a:endParaRPr lang="en-US" sz="2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08CC869-3DC1-5EDA-0CD0-F5092BCF4F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264" y="1674674"/>
                <a:ext cx="5745892" cy="2817951"/>
              </a:xfrm>
              <a:prstGeom prst="rect">
                <a:avLst/>
              </a:prstGeom>
              <a:blipFill>
                <a:blip r:embed="rId3"/>
                <a:stretch>
                  <a:fillRect l="-11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7AF5A8C2-A082-3E27-962E-DEEF921E409A}"/>
              </a:ext>
            </a:extLst>
          </p:cNvPr>
          <p:cNvSpPr txBox="1"/>
          <p:nvPr/>
        </p:nvSpPr>
        <p:spPr>
          <a:xfrm>
            <a:off x="529134" y="4853611"/>
            <a:ext cx="7760044" cy="23562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/>
              <a:t>Provide Additional Information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Clarify context and background if model lacks prior knowledge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Give model relevant data before asking the question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Give example before asking</a:t>
            </a:r>
          </a:p>
          <a:p>
            <a:pPr>
              <a:lnSpc>
                <a:spcPct val="150000"/>
              </a:lnSpc>
            </a:pPr>
            <a:endParaRPr lang="en-US" sz="2000" dirty="0"/>
          </a:p>
        </p:txBody>
      </p:sp>
      <p:pic>
        <p:nvPicPr>
          <p:cNvPr id="6" name="Picture 2" descr="Image">
            <a:extLst>
              <a:ext uri="{FF2B5EF4-FFF2-40B4-BE49-F238E27FC236}">
                <a16:creationId xmlns:a16="http://schemas.microsoft.com/office/drawing/2014/main" id="{22EA4873-69A0-6B82-7E08-8EEBCB84DB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6394" y="1550840"/>
            <a:ext cx="891217" cy="8912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F5671C0-F790-39B1-87E9-3A4BF3B7CB5A}"/>
              </a:ext>
            </a:extLst>
          </p:cNvPr>
          <p:cNvSpPr/>
          <p:nvPr/>
        </p:nvSpPr>
        <p:spPr>
          <a:xfrm>
            <a:off x="6254484" y="1767011"/>
            <a:ext cx="1235378" cy="4588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Question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D5BA45B-48E2-217F-7185-1C7E5763860F}"/>
              </a:ext>
            </a:extLst>
          </p:cNvPr>
          <p:cNvSpPr/>
          <p:nvPr/>
        </p:nvSpPr>
        <p:spPr>
          <a:xfrm>
            <a:off x="9978595" y="1798343"/>
            <a:ext cx="1235378" cy="396209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Output</a:t>
            </a:r>
          </a:p>
        </p:txBody>
      </p:sp>
      <p:pic>
        <p:nvPicPr>
          <p:cNvPr id="13" name="Picture 12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FED5DA8C-1AEB-7C41-8108-6C643F35E54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1889" t="25739" r="33023" b="31539"/>
          <a:stretch>
            <a:fillRect/>
          </a:stretch>
        </p:blipFill>
        <p:spPr>
          <a:xfrm>
            <a:off x="7290763" y="1854394"/>
            <a:ext cx="616519" cy="750678"/>
          </a:xfrm>
          <a:prstGeom prst="rect">
            <a:avLst/>
          </a:prstGeom>
        </p:spPr>
      </p:pic>
      <p:pic>
        <p:nvPicPr>
          <p:cNvPr id="14" name="Picture 2" descr="Image">
            <a:extLst>
              <a:ext uri="{FF2B5EF4-FFF2-40B4-BE49-F238E27FC236}">
                <a16:creationId xmlns:a16="http://schemas.microsoft.com/office/drawing/2014/main" id="{2A018CB9-1B94-D08A-90DC-C59C5F7D25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63646" y="4619450"/>
            <a:ext cx="891217" cy="8912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C79B464D-B96E-90EF-708B-CC699215720F}"/>
              </a:ext>
            </a:extLst>
          </p:cNvPr>
          <p:cNvSpPr/>
          <p:nvPr/>
        </p:nvSpPr>
        <p:spPr>
          <a:xfrm>
            <a:off x="6851736" y="4897406"/>
            <a:ext cx="1235378" cy="4588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Question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7AA4F5F-CC86-5966-FB0D-44DE92B15DAD}"/>
              </a:ext>
            </a:extLst>
          </p:cNvPr>
          <p:cNvSpPr/>
          <p:nvPr/>
        </p:nvSpPr>
        <p:spPr>
          <a:xfrm>
            <a:off x="10575847" y="4928738"/>
            <a:ext cx="1235378" cy="396209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Output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B9177F2-1E58-B0A0-F8AB-95A953641ED9}"/>
              </a:ext>
            </a:extLst>
          </p:cNvPr>
          <p:cNvSpPr/>
          <p:nvPr/>
        </p:nvSpPr>
        <p:spPr>
          <a:xfrm>
            <a:off x="5143969" y="4872734"/>
            <a:ext cx="1235378" cy="45887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Extra Info.</a:t>
            </a:r>
            <a:r>
              <a:rPr lang="zh-CN" altLang="en-US" dirty="0"/>
              <a:t> </a:t>
            </a:r>
            <a:endParaRPr lang="en-US" dirty="0"/>
          </a:p>
        </p:txBody>
      </p:sp>
      <p:pic>
        <p:nvPicPr>
          <p:cNvPr id="22" name="Graphic 21" descr="Add with solid fill">
            <a:extLst>
              <a:ext uri="{FF2B5EF4-FFF2-40B4-BE49-F238E27FC236}">
                <a16:creationId xmlns:a16="http://schemas.microsoft.com/office/drawing/2014/main" id="{D9F8FDEF-0C80-3548-9F45-BC2B20CB63F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06910" y="4921006"/>
            <a:ext cx="410604" cy="410604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C9CEE1A5-ED4F-4554-A966-F7AFB49CD815}"/>
              </a:ext>
            </a:extLst>
          </p:cNvPr>
          <p:cNvSpPr/>
          <p:nvPr/>
        </p:nvSpPr>
        <p:spPr>
          <a:xfrm>
            <a:off x="6236735" y="3326761"/>
            <a:ext cx="1235378" cy="4588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Question</a:t>
            </a:r>
          </a:p>
        </p:txBody>
      </p:sp>
      <p:sp>
        <p:nvSpPr>
          <p:cNvPr id="24" name="Left Brace 23">
            <a:extLst>
              <a:ext uri="{FF2B5EF4-FFF2-40B4-BE49-F238E27FC236}">
                <a16:creationId xmlns:a16="http://schemas.microsoft.com/office/drawing/2014/main" id="{95DA1764-EC96-1933-48E2-AB43E511101B}"/>
              </a:ext>
            </a:extLst>
          </p:cNvPr>
          <p:cNvSpPr/>
          <p:nvPr/>
        </p:nvSpPr>
        <p:spPr>
          <a:xfrm>
            <a:off x="7617543" y="2890996"/>
            <a:ext cx="399781" cy="1334530"/>
          </a:xfrm>
          <a:prstGeom prst="leftBrace">
            <a:avLst/>
          </a:prstGeom>
          <a:ln w="2222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5E90A90-A62B-54AE-FE7C-C02F0EED2860}"/>
              </a:ext>
            </a:extLst>
          </p:cNvPr>
          <p:cNvSpPr/>
          <p:nvPr/>
        </p:nvSpPr>
        <p:spPr>
          <a:xfrm>
            <a:off x="8162754" y="2659892"/>
            <a:ext cx="1071848" cy="45887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Task 1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769A0C1-C64C-51DB-1D2B-48D41C83F25E}"/>
              </a:ext>
            </a:extLst>
          </p:cNvPr>
          <p:cNvSpPr/>
          <p:nvPr/>
        </p:nvSpPr>
        <p:spPr>
          <a:xfrm>
            <a:off x="8162754" y="3336603"/>
            <a:ext cx="1071848" cy="45887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Task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BCF33FE9-ABCC-35C7-2E09-23C39A452E58}"/>
                  </a:ext>
                </a:extLst>
              </p:cNvPr>
              <p:cNvSpPr/>
              <p:nvPr/>
            </p:nvSpPr>
            <p:spPr>
              <a:xfrm>
                <a:off x="8176370" y="3973064"/>
                <a:ext cx="1071848" cy="458876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Task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BCF33FE9-ABCC-35C7-2E09-23C39A452E5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6370" y="3973064"/>
                <a:ext cx="1071848" cy="458876"/>
              </a:xfrm>
              <a:prstGeom prst="rect">
                <a:avLst/>
              </a:prstGeom>
              <a:blipFill>
                <a:blip r:embed="rId8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3" name="Picture 2" descr="Image">
            <a:extLst>
              <a:ext uri="{FF2B5EF4-FFF2-40B4-BE49-F238E27FC236}">
                <a16:creationId xmlns:a16="http://schemas.microsoft.com/office/drawing/2014/main" id="{9840BE6A-E847-9E12-B148-3BA416E601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22590" y="2586745"/>
            <a:ext cx="555767" cy="5557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2" descr="Image">
            <a:extLst>
              <a:ext uri="{FF2B5EF4-FFF2-40B4-BE49-F238E27FC236}">
                <a16:creationId xmlns:a16="http://schemas.microsoft.com/office/drawing/2014/main" id="{D5498554-27BD-038C-2351-0BF351F8BE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6974" y="3244758"/>
            <a:ext cx="555767" cy="5557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" name="Picture 2" descr="Image">
            <a:extLst>
              <a:ext uri="{FF2B5EF4-FFF2-40B4-BE49-F238E27FC236}">
                <a16:creationId xmlns:a16="http://schemas.microsoft.com/office/drawing/2014/main" id="{37F1F7AF-5DC2-B223-EF0E-C40CEE0616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6974" y="3936794"/>
            <a:ext cx="555767" cy="5557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" name="Left Brace 41">
            <a:extLst>
              <a:ext uri="{FF2B5EF4-FFF2-40B4-BE49-F238E27FC236}">
                <a16:creationId xmlns:a16="http://schemas.microsoft.com/office/drawing/2014/main" id="{6F6A3A68-9E69-7421-CCA8-CF2B23923148}"/>
              </a:ext>
            </a:extLst>
          </p:cNvPr>
          <p:cNvSpPr/>
          <p:nvPr/>
        </p:nvSpPr>
        <p:spPr>
          <a:xfrm rot="10800000">
            <a:off x="10366564" y="2895297"/>
            <a:ext cx="399781" cy="1334530"/>
          </a:xfrm>
          <a:prstGeom prst="leftBrace">
            <a:avLst/>
          </a:prstGeom>
          <a:ln w="2222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D1A1CD8-3C86-1941-FB45-36752BEDF402}"/>
              </a:ext>
            </a:extLst>
          </p:cNvPr>
          <p:cNvSpPr/>
          <p:nvPr/>
        </p:nvSpPr>
        <p:spPr>
          <a:xfrm>
            <a:off x="10907047" y="3363540"/>
            <a:ext cx="1235378" cy="396209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Output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FAC40936-5020-D6D9-27D4-6E3F070E3101}"/>
              </a:ext>
            </a:extLst>
          </p:cNvPr>
          <p:cNvCxnSpPr>
            <a:cxnSpLocks/>
          </p:cNvCxnSpPr>
          <p:nvPr/>
        </p:nvCxnSpPr>
        <p:spPr>
          <a:xfrm>
            <a:off x="9273976" y="2883985"/>
            <a:ext cx="394556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D6B0C4E1-689F-1111-9655-BD11D4395A33}"/>
              </a:ext>
            </a:extLst>
          </p:cNvPr>
          <p:cNvCxnSpPr>
            <a:cxnSpLocks/>
          </p:cNvCxnSpPr>
          <p:nvPr/>
        </p:nvCxnSpPr>
        <p:spPr>
          <a:xfrm>
            <a:off x="9286855" y="3577297"/>
            <a:ext cx="394556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F4B532DD-20DC-4C7D-7F9B-796A5D2C1D55}"/>
              </a:ext>
            </a:extLst>
          </p:cNvPr>
          <p:cNvCxnSpPr>
            <a:cxnSpLocks/>
          </p:cNvCxnSpPr>
          <p:nvPr/>
        </p:nvCxnSpPr>
        <p:spPr>
          <a:xfrm>
            <a:off x="9328034" y="4183860"/>
            <a:ext cx="394556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FB1A5F4F-96C3-0225-0794-ECEAE279DDA3}"/>
              </a:ext>
            </a:extLst>
          </p:cNvPr>
          <p:cNvCxnSpPr>
            <a:cxnSpLocks/>
          </p:cNvCxnSpPr>
          <p:nvPr/>
        </p:nvCxnSpPr>
        <p:spPr>
          <a:xfrm>
            <a:off x="8289178" y="5097004"/>
            <a:ext cx="394556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90C66485-4342-629D-B012-7895454321FA}"/>
              </a:ext>
            </a:extLst>
          </p:cNvPr>
          <p:cNvCxnSpPr>
            <a:cxnSpLocks/>
          </p:cNvCxnSpPr>
          <p:nvPr/>
        </p:nvCxnSpPr>
        <p:spPr>
          <a:xfrm>
            <a:off x="9972008" y="5097004"/>
            <a:ext cx="394556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1F45C8B2-E980-DD52-EB23-465491CC6B0C}"/>
              </a:ext>
            </a:extLst>
          </p:cNvPr>
          <p:cNvCxnSpPr>
            <a:cxnSpLocks/>
          </p:cNvCxnSpPr>
          <p:nvPr/>
        </p:nvCxnSpPr>
        <p:spPr>
          <a:xfrm>
            <a:off x="7710004" y="1981769"/>
            <a:ext cx="394556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783FEA10-92BF-EB64-D3D8-C88F43440A7A}"/>
              </a:ext>
            </a:extLst>
          </p:cNvPr>
          <p:cNvCxnSpPr>
            <a:cxnSpLocks/>
          </p:cNvCxnSpPr>
          <p:nvPr/>
        </p:nvCxnSpPr>
        <p:spPr>
          <a:xfrm>
            <a:off x="9328034" y="1981769"/>
            <a:ext cx="394556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7325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5" grpId="0" animBg="1"/>
      <p:bldP spid="17" grpId="0" animBg="1"/>
      <p:bldP spid="20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42" grpId="0" animBg="1"/>
      <p:bldP spid="4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C618FB3-2629-7B5F-EBB9-4CE8A3E99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881575" cy="1325563"/>
          </a:xfrm>
        </p:spPr>
        <p:txBody>
          <a:bodyPr>
            <a:normAutofit/>
          </a:bodyPr>
          <a:lstStyle/>
          <a:p>
            <a:r>
              <a:rPr lang="en-US" sz="4000" dirty="0"/>
              <a:t>Enhance LLM Without Retraining – Function Calling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21333C-7E6C-B979-88D9-C309D590C678}"/>
              </a:ext>
            </a:extLst>
          </p:cNvPr>
          <p:cNvSpPr txBox="1"/>
          <p:nvPr/>
        </p:nvSpPr>
        <p:spPr>
          <a:xfrm>
            <a:off x="535692" y="3869256"/>
            <a:ext cx="38275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Retrieval-Augmented Generation </a:t>
            </a:r>
          </a:p>
          <a:p>
            <a:pPr algn="ctr"/>
            <a:r>
              <a:rPr lang="en-US" sz="2000" dirty="0"/>
              <a:t>(RAG)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80D6F4-EDA1-6D5E-38CE-B372CE319A1B}"/>
              </a:ext>
            </a:extLst>
          </p:cNvPr>
          <p:cNvSpPr txBox="1"/>
          <p:nvPr/>
        </p:nvSpPr>
        <p:spPr>
          <a:xfrm>
            <a:off x="5294066" y="3852280"/>
            <a:ext cx="19523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Search Engine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0D866DF-D28C-A6CE-7393-DE2135830D29}"/>
              </a:ext>
            </a:extLst>
          </p:cNvPr>
          <p:cNvSpPr txBox="1"/>
          <p:nvPr/>
        </p:nvSpPr>
        <p:spPr>
          <a:xfrm>
            <a:off x="7772583" y="3823089"/>
            <a:ext cx="16990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Programming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4FD6A83-F838-3A71-00DD-D1B34DFE700B}"/>
              </a:ext>
            </a:extLst>
          </p:cNvPr>
          <p:cNvSpPr txBox="1"/>
          <p:nvPr/>
        </p:nvSpPr>
        <p:spPr>
          <a:xfrm>
            <a:off x="9625569" y="3818992"/>
            <a:ext cx="19523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Other AI  </a:t>
            </a:r>
          </a:p>
        </p:txBody>
      </p:sp>
      <p:pic>
        <p:nvPicPr>
          <p:cNvPr id="15" name="Picture 14" descr="A blue and yellow snake logo&#10;&#10;AI-generated content may be incorrect.">
            <a:extLst>
              <a:ext uri="{FF2B5EF4-FFF2-40B4-BE49-F238E27FC236}">
                <a16:creationId xmlns:a16="http://schemas.microsoft.com/office/drawing/2014/main" id="{9D2E433E-F196-41BC-6DE7-84747F6FFA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6323" y="2153514"/>
            <a:ext cx="1114372" cy="1114372"/>
          </a:xfrm>
          <a:prstGeom prst="rect">
            <a:avLst/>
          </a:prstGeom>
        </p:spPr>
      </p:pic>
      <p:pic>
        <p:nvPicPr>
          <p:cNvPr id="17" name="Picture 16" descr="A brain with lines and text&#10;&#10;AI-generated content may be incorrect.">
            <a:extLst>
              <a:ext uri="{FF2B5EF4-FFF2-40B4-BE49-F238E27FC236}">
                <a16:creationId xmlns:a16="http://schemas.microsoft.com/office/drawing/2014/main" id="{33AB38FA-4323-6E94-0BE1-9334A4D23F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2782" y="2068637"/>
            <a:ext cx="1666365" cy="1246151"/>
          </a:xfrm>
          <a:prstGeom prst="rect">
            <a:avLst/>
          </a:prstGeom>
        </p:spPr>
      </p:pic>
      <p:pic>
        <p:nvPicPr>
          <p:cNvPr id="23" name="Graphic 22" descr="Research with solid fill">
            <a:extLst>
              <a:ext uri="{FF2B5EF4-FFF2-40B4-BE49-F238E27FC236}">
                <a16:creationId xmlns:a16="http://schemas.microsoft.com/office/drawing/2014/main" id="{BFEE1EA5-707D-118D-913D-EE964A2EC4A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67959" y="2143049"/>
            <a:ext cx="1119425" cy="1119425"/>
          </a:xfrm>
          <a:prstGeom prst="rect">
            <a:avLst/>
          </a:prstGeom>
        </p:spPr>
      </p:pic>
      <p:pic>
        <p:nvPicPr>
          <p:cNvPr id="25" name="Graphic 24" descr="Database with solid fill">
            <a:extLst>
              <a:ext uri="{FF2B5EF4-FFF2-40B4-BE49-F238E27FC236}">
                <a16:creationId xmlns:a16="http://schemas.microsoft.com/office/drawing/2014/main" id="{289A9BD8-914A-63F3-095A-A16C1797C4A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-17309" y="2232375"/>
            <a:ext cx="618468" cy="618468"/>
          </a:xfrm>
          <a:prstGeom prst="rect">
            <a:avLst/>
          </a:prstGeom>
        </p:spPr>
      </p:pic>
      <p:pic>
        <p:nvPicPr>
          <p:cNvPr id="27" name="Graphic 26" descr="Database outline">
            <a:extLst>
              <a:ext uri="{FF2B5EF4-FFF2-40B4-BE49-F238E27FC236}">
                <a16:creationId xmlns:a16="http://schemas.microsoft.com/office/drawing/2014/main" id="{C66F184A-26EF-A80D-99E0-8BA74130ADD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35691" y="2207050"/>
            <a:ext cx="618468" cy="618468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90B9E28A-0A25-0CCC-01F8-8131E20FDE69}"/>
              </a:ext>
            </a:extLst>
          </p:cNvPr>
          <p:cNvSpPr/>
          <p:nvPr/>
        </p:nvSpPr>
        <p:spPr>
          <a:xfrm>
            <a:off x="1652041" y="1529752"/>
            <a:ext cx="1235378" cy="5720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Profession Query</a:t>
            </a:r>
          </a:p>
        </p:txBody>
      </p:sp>
      <p:cxnSp>
        <p:nvCxnSpPr>
          <p:cNvPr id="30" name="Elbow Connector 29">
            <a:extLst>
              <a:ext uri="{FF2B5EF4-FFF2-40B4-BE49-F238E27FC236}">
                <a16:creationId xmlns:a16="http://schemas.microsoft.com/office/drawing/2014/main" id="{E18A8C72-4532-4626-76CE-AD50D7B14C80}"/>
              </a:ext>
            </a:extLst>
          </p:cNvPr>
          <p:cNvCxnSpPr>
            <a:cxnSpLocks/>
          </p:cNvCxnSpPr>
          <p:nvPr/>
        </p:nvCxnSpPr>
        <p:spPr>
          <a:xfrm rot="10800000" flipV="1">
            <a:off x="535694" y="1854135"/>
            <a:ext cx="994465" cy="378237"/>
          </a:xfrm>
          <a:prstGeom prst="bentConnector3">
            <a:avLst>
              <a:gd name="adj1" fmla="val 99915"/>
            </a:avLst>
          </a:prstGeom>
          <a:ln w="317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C285F7A6-47B1-3F7E-BA7A-DAD5A8D7B6EC}"/>
              </a:ext>
            </a:extLst>
          </p:cNvPr>
          <p:cNvSpPr txBox="1"/>
          <p:nvPr/>
        </p:nvSpPr>
        <p:spPr>
          <a:xfrm>
            <a:off x="601486" y="1484804"/>
            <a:ext cx="9601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Search</a:t>
            </a:r>
          </a:p>
        </p:txBody>
      </p:sp>
      <p:cxnSp>
        <p:nvCxnSpPr>
          <p:cNvPr id="33" name="Elbow Connector 32">
            <a:extLst>
              <a:ext uri="{FF2B5EF4-FFF2-40B4-BE49-F238E27FC236}">
                <a16:creationId xmlns:a16="http://schemas.microsoft.com/office/drawing/2014/main" id="{89C9E299-0C7F-7EBE-59A3-9C9B26441B5D}"/>
              </a:ext>
            </a:extLst>
          </p:cNvPr>
          <p:cNvCxnSpPr>
            <a:cxnSpLocks/>
          </p:cNvCxnSpPr>
          <p:nvPr/>
        </p:nvCxnSpPr>
        <p:spPr>
          <a:xfrm>
            <a:off x="491480" y="2982833"/>
            <a:ext cx="1093424" cy="445627"/>
          </a:xfrm>
          <a:prstGeom prst="bentConnector3">
            <a:avLst>
              <a:gd name="adj1" fmla="val 1520"/>
            </a:avLst>
          </a:prstGeom>
          <a:ln w="317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3" name="Picture 2">
            <a:extLst>
              <a:ext uri="{FF2B5EF4-FFF2-40B4-BE49-F238E27FC236}">
                <a16:creationId xmlns:a16="http://schemas.microsoft.com/office/drawing/2014/main" id="{A00F8927-0BF3-AFEC-AFB8-1D8A4C7566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0153" y="3142452"/>
            <a:ext cx="572016" cy="5720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6CBE82C9-8610-F990-DA8A-DA91827DCCBC}"/>
              </a:ext>
            </a:extLst>
          </p:cNvPr>
          <p:cNvSpPr txBox="1"/>
          <p:nvPr/>
        </p:nvSpPr>
        <p:spPr>
          <a:xfrm>
            <a:off x="1565546" y="2768632"/>
            <a:ext cx="15651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External Info</a:t>
            </a:r>
          </a:p>
        </p:txBody>
      </p:sp>
      <p:pic>
        <p:nvPicPr>
          <p:cNvPr id="46" name="Picture 2" descr="Image">
            <a:extLst>
              <a:ext uri="{FF2B5EF4-FFF2-40B4-BE49-F238E27FC236}">
                <a16:creationId xmlns:a16="http://schemas.microsoft.com/office/drawing/2014/main" id="{C19F6DF2-B122-3F78-19E8-1CA3D1E1A0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5853" y="2324225"/>
            <a:ext cx="729453" cy="7294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3" name="Group 72">
            <a:extLst>
              <a:ext uri="{FF2B5EF4-FFF2-40B4-BE49-F238E27FC236}">
                <a16:creationId xmlns:a16="http://schemas.microsoft.com/office/drawing/2014/main" id="{AD2941E9-3ADD-FD69-66B0-E391D20AD5B1}"/>
              </a:ext>
            </a:extLst>
          </p:cNvPr>
          <p:cNvGrpSpPr/>
          <p:nvPr/>
        </p:nvGrpSpPr>
        <p:grpSpPr>
          <a:xfrm>
            <a:off x="2887419" y="1802881"/>
            <a:ext cx="898434" cy="1625579"/>
            <a:chOff x="2887419" y="2820322"/>
            <a:chExt cx="898434" cy="1625579"/>
          </a:xfrm>
        </p:grpSpPr>
        <p:cxnSp>
          <p:nvCxnSpPr>
            <p:cNvPr id="53" name="Elbow Connector 52">
              <a:extLst>
                <a:ext uri="{FF2B5EF4-FFF2-40B4-BE49-F238E27FC236}">
                  <a16:creationId xmlns:a16="http://schemas.microsoft.com/office/drawing/2014/main" id="{205EE9C4-B861-3331-2CE9-BD526EFD7FF8}"/>
                </a:ext>
              </a:extLst>
            </p:cNvPr>
            <p:cNvCxnSpPr>
              <a:stCxn id="28" idx="3"/>
              <a:endCxn id="46" idx="1"/>
            </p:cNvCxnSpPr>
            <p:nvPr/>
          </p:nvCxnSpPr>
          <p:spPr>
            <a:xfrm>
              <a:off x="2887419" y="2820322"/>
              <a:ext cx="898434" cy="873192"/>
            </a:xfrm>
            <a:prstGeom prst="bentConnector3">
              <a:avLst/>
            </a:prstGeom>
            <a:ln w="3175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Elbow Connector 55">
              <a:extLst>
                <a:ext uri="{FF2B5EF4-FFF2-40B4-BE49-F238E27FC236}">
                  <a16:creationId xmlns:a16="http://schemas.microsoft.com/office/drawing/2014/main" id="{8BE610F1-A9C0-C8DF-46F0-9B04017CF17D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2742273" y="3851539"/>
              <a:ext cx="739509" cy="449216"/>
            </a:xfrm>
            <a:prstGeom prst="bentConnector3">
              <a:avLst>
                <a:gd name="adj1" fmla="val 2318"/>
              </a:avLst>
            </a:prstGeom>
            <a:ln w="317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912AB099-A0E7-36C4-BE9E-8889FE9137A6}"/>
              </a:ext>
            </a:extLst>
          </p:cNvPr>
          <p:cNvCxnSpPr>
            <a:cxnSpLocks/>
          </p:cNvCxnSpPr>
          <p:nvPr/>
        </p:nvCxnSpPr>
        <p:spPr>
          <a:xfrm>
            <a:off x="4114782" y="3072914"/>
            <a:ext cx="0" cy="265464"/>
          </a:xfrm>
          <a:prstGeom prst="straightConnector1">
            <a:avLst/>
          </a:prstGeom>
          <a:ln w="31750">
            <a:solidFill>
              <a:schemeClr val="accent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8" name="Rectangle 67">
            <a:extLst>
              <a:ext uri="{FF2B5EF4-FFF2-40B4-BE49-F238E27FC236}">
                <a16:creationId xmlns:a16="http://schemas.microsoft.com/office/drawing/2014/main" id="{AF058955-FC20-FF07-F15F-0BACEE52D860}"/>
              </a:ext>
            </a:extLst>
          </p:cNvPr>
          <p:cNvSpPr/>
          <p:nvPr/>
        </p:nvSpPr>
        <p:spPr>
          <a:xfrm>
            <a:off x="3613135" y="3402059"/>
            <a:ext cx="1074887" cy="368927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Output</a:t>
            </a:r>
            <a:endParaRPr lang="en-US" dirty="0"/>
          </a:p>
        </p:txBody>
      </p:sp>
      <p:pic>
        <p:nvPicPr>
          <p:cNvPr id="12" name="Picture 11" descr="A hexagon with different colored hexagons&#10;&#10;AI-generated content may be incorrect.">
            <a:extLst>
              <a:ext uri="{FF2B5EF4-FFF2-40B4-BE49-F238E27FC236}">
                <a16:creationId xmlns:a16="http://schemas.microsoft.com/office/drawing/2014/main" id="{A11142CB-6AC0-1CBB-83FC-1823A140E39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785853" y="4675412"/>
            <a:ext cx="4096302" cy="1661644"/>
          </a:xfrm>
          <a:prstGeom prst="rect">
            <a:avLst/>
          </a:prstGeom>
        </p:spPr>
      </p:pic>
      <p:pic>
        <p:nvPicPr>
          <p:cNvPr id="14" name="Picture 13" descr="A blue hexagon with a bridge and white text&#10;&#10;AI-generated content may be incorrect.">
            <a:extLst>
              <a:ext uri="{FF2B5EF4-FFF2-40B4-BE49-F238E27FC236}">
                <a16:creationId xmlns:a16="http://schemas.microsoft.com/office/drawing/2014/main" id="{63B2920E-3B0F-913B-D67F-467B0DCB2CAE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74439" y="4654980"/>
            <a:ext cx="1659985" cy="165832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67A088F9-2BE3-9E19-CEA0-C228F6C2216D}"/>
              </a:ext>
            </a:extLst>
          </p:cNvPr>
          <p:cNvSpPr txBox="1"/>
          <p:nvPr/>
        </p:nvSpPr>
        <p:spPr>
          <a:xfrm>
            <a:off x="5369880" y="6384791"/>
            <a:ext cx="28350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Domain-specific packages</a:t>
            </a:r>
          </a:p>
        </p:txBody>
      </p:sp>
    </p:spTree>
    <p:extLst>
      <p:ext uri="{BB962C8B-B14F-4D97-AF65-F5344CB8AC3E}">
        <p14:creationId xmlns:p14="http://schemas.microsoft.com/office/powerpoint/2010/main" val="3059110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C51F4BA-FFBF-FC75-56FB-14435F5234A8}"/>
              </a:ext>
            </a:extLst>
          </p:cNvPr>
          <p:cNvGrpSpPr/>
          <p:nvPr/>
        </p:nvGrpSpPr>
        <p:grpSpPr>
          <a:xfrm>
            <a:off x="250156" y="889686"/>
            <a:ext cx="11488763" cy="5492686"/>
            <a:chOff x="250156" y="264693"/>
            <a:chExt cx="11902528" cy="6089277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B44C89E5-FD55-1FD6-13A5-489DABD65CAC}"/>
                </a:ext>
              </a:extLst>
            </p:cNvPr>
            <p:cNvSpPr/>
            <p:nvPr/>
          </p:nvSpPr>
          <p:spPr>
            <a:xfrm>
              <a:off x="250156" y="3274374"/>
              <a:ext cx="1199148" cy="1022684"/>
            </a:xfrm>
            <a:prstGeom prst="rect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LLM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400B92B9-1C05-1F5C-6428-7755703EC97D}"/>
                </a:ext>
              </a:extLst>
            </p:cNvPr>
            <p:cNvSpPr/>
            <p:nvPr/>
          </p:nvSpPr>
          <p:spPr>
            <a:xfrm>
              <a:off x="262433" y="1214628"/>
              <a:ext cx="1199148" cy="102268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Question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3453B0F-BB28-DE06-2BC4-44039117660B}"/>
                </a:ext>
              </a:extLst>
            </p:cNvPr>
            <p:cNvSpPr/>
            <p:nvPr/>
          </p:nvSpPr>
          <p:spPr>
            <a:xfrm>
              <a:off x="262433" y="5331286"/>
              <a:ext cx="1199148" cy="1022684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Extra Datasets (optional)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C427965-D05F-52D8-01FE-410ABBF15471}"/>
                </a:ext>
              </a:extLst>
            </p:cNvPr>
            <p:cNvSpPr txBox="1"/>
            <p:nvPr/>
          </p:nvSpPr>
          <p:spPr>
            <a:xfrm>
              <a:off x="307668" y="584638"/>
              <a:ext cx="95289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User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9FFD4645-D239-5DC1-C6EB-48858ECE1FD5}"/>
                </a:ext>
              </a:extLst>
            </p:cNvPr>
            <p:cNvCxnSpPr>
              <a:cxnSpLocks/>
              <a:stCxn id="4" idx="3"/>
            </p:cNvCxnSpPr>
            <p:nvPr/>
          </p:nvCxnSpPr>
          <p:spPr>
            <a:xfrm flipV="1">
              <a:off x="1449304" y="3767356"/>
              <a:ext cx="984056" cy="1836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108512CA-E9D8-AF5F-1CC3-31296CBDB90B}"/>
                </a:ext>
              </a:extLst>
            </p:cNvPr>
            <p:cNvCxnSpPr>
              <a:cxnSpLocks/>
              <a:stCxn id="6" idx="0"/>
            </p:cNvCxnSpPr>
            <p:nvPr/>
          </p:nvCxnSpPr>
          <p:spPr>
            <a:xfrm flipV="1">
              <a:off x="862007" y="4297058"/>
              <a:ext cx="0" cy="1034228"/>
            </a:xfrm>
            <a:prstGeom prst="straightConnector1">
              <a:avLst/>
            </a:prstGeom>
            <a:ln w="38100">
              <a:prstDash val="sysDot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50293D29-13BB-4E42-F2CD-2687B571EAE6}"/>
                </a:ext>
              </a:extLst>
            </p:cNvPr>
            <p:cNvCxnSpPr>
              <a:cxnSpLocks/>
              <a:stCxn id="5" idx="2"/>
              <a:endCxn id="4" idx="0"/>
            </p:cNvCxnSpPr>
            <p:nvPr/>
          </p:nvCxnSpPr>
          <p:spPr>
            <a:xfrm flipH="1">
              <a:off x="849730" y="2237312"/>
              <a:ext cx="12277" cy="1037062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1" name="Graphic 10" descr="Single gear with solid fill">
              <a:extLst>
                <a:ext uri="{FF2B5EF4-FFF2-40B4-BE49-F238E27FC236}">
                  <a16:creationId xmlns:a16="http://schemas.microsoft.com/office/drawing/2014/main" id="{4DEF01E0-CE9B-DAAD-8B48-1925FCC823D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62007" y="4629390"/>
              <a:ext cx="457200" cy="457200"/>
            </a:xfrm>
            <a:prstGeom prst="rect">
              <a:avLst/>
            </a:prstGeom>
          </p:spPr>
        </p:pic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2045C4ED-F85A-F670-58BF-F2A22F1E2BB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10350" y="2237312"/>
              <a:ext cx="0" cy="1035561"/>
            </a:xfrm>
            <a:prstGeom prst="straightConnector1">
              <a:avLst/>
            </a:prstGeom>
            <a:ln w="38100">
              <a:prstDash val="sysDot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87FB89B-4685-63DD-3342-70C5DDBEF0A7}"/>
                </a:ext>
              </a:extLst>
            </p:cNvPr>
            <p:cNvSpPr/>
            <p:nvPr/>
          </p:nvSpPr>
          <p:spPr>
            <a:xfrm>
              <a:off x="2519129" y="2531226"/>
              <a:ext cx="953263" cy="362445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Task 1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5EAB26F-0722-0DDC-EB23-C938102C030A}"/>
                </a:ext>
              </a:extLst>
            </p:cNvPr>
            <p:cNvSpPr/>
            <p:nvPr/>
          </p:nvSpPr>
          <p:spPr>
            <a:xfrm>
              <a:off x="1384733" y="2561887"/>
              <a:ext cx="832511" cy="474491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Human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5A4D7886-6968-BED2-3D37-8AA9B03555A0}"/>
                </a:ext>
              </a:extLst>
            </p:cNvPr>
            <p:cNvSpPr/>
            <p:nvPr/>
          </p:nvSpPr>
          <p:spPr>
            <a:xfrm>
              <a:off x="2519129" y="3152125"/>
              <a:ext cx="953266" cy="356777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Task 2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D0AE2184-5491-8DE7-1E28-6C1A81AF5D41}"/>
                </a:ext>
              </a:extLst>
            </p:cNvPr>
            <p:cNvSpPr/>
            <p:nvPr/>
          </p:nvSpPr>
          <p:spPr>
            <a:xfrm>
              <a:off x="2519129" y="3767356"/>
              <a:ext cx="953268" cy="356777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Task 3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8EC17FC6-D250-6658-F414-C133DC022B61}"/>
                    </a:ext>
                  </a:extLst>
                </p:cNvPr>
                <p:cNvSpPr/>
                <p:nvPr/>
              </p:nvSpPr>
              <p:spPr>
                <a:xfrm>
                  <a:off x="2519124" y="4566748"/>
                  <a:ext cx="953268" cy="356777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Task </a:t>
                  </a:r>
                  <a14:m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8EC17FC6-D250-6658-F414-C133DC022B6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9124" y="4566748"/>
                  <a:ext cx="953268" cy="356777"/>
                </a:xfrm>
                <a:prstGeom prst="rect">
                  <a:avLst/>
                </a:prstGeom>
                <a:blipFill>
                  <a:blip r:embed="rId5"/>
                  <a:stretch>
                    <a:fillRect t="-14815" b="-3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36EF42C8-48F6-FF01-5B8C-5D974895046F}"/>
                </a:ext>
              </a:extLst>
            </p:cNvPr>
            <p:cNvSpPr txBox="1"/>
            <p:nvPr/>
          </p:nvSpPr>
          <p:spPr>
            <a:xfrm rot="5400000">
              <a:off x="2828627" y="4194110"/>
              <a:ext cx="4629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….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96CF39AB-54E7-EA36-DFE4-FB9C936696B2}"/>
                </a:ext>
              </a:extLst>
            </p:cNvPr>
            <p:cNvSpPr/>
            <p:nvPr/>
          </p:nvSpPr>
          <p:spPr>
            <a:xfrm>
              <a:off x="4123244" y="3272873"/>
              <a:ext cx="1478114" cy="837727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Communicator with LLM </a:t>
              </a:r>
              <a:r>
                <a:rPr lang="en-US" dirty="0"/>
                <a:t>(Distributor)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690B0E09-5842-8648-4921-BFA1B82ECE37}"/>
                </a:ext>
              </a:extLst>
            </p:cNvPr>
            <p:cNvSpPr/>
            <p:nvPr/>
          </p:nvSpPr>
          <p:spPr>
            <a:xfrm>
              <a:off x="6468097" y="1229217"/>
              <a:ext cx="2178801" cy="837727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700" dirty="0"/>
                <a:t>Agent 1</a:t>
              </a:r>
            </a:p>
            <a:p>
              <a:pPr algn="ctr"/>
              <a:r>
                <a:rPr lang="en-US" sz="1700" dirty="0"/>
                <a:t>(observational data)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329C98BA-0307-FAF8-23AA-381787367125}"/>
                </a:ext>
              </a:extLst>
            </p:cNvPr>
            <p:cNvSpPr/>
            <p:nvPr/>
          </p:nvSpPr>
          <p:spPr>
            <a:xfrm>
              <a:off x="6468097" y="2640387"/>
              <a:ext cx="2178801" cy="837727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Agent 2</a:t>
              </a:r>
            </a:p>
            <a:p>
              <a:pPr algn="ctr"/>
              <a:r>
                <a:rPr lang="en-US" dirty="0"/>
                <a:t>(Sequencing)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0C434A79-4B14-02B2-31FB-958D4189065E}"/>
                </a:ext>
              </a:extLst>
            </p:cNvPr>
            <p:cNvSpPr/>
            <p:nvPr/>
          </p:nvSpPr>
          <p:spPr>
            <a:xfrm>
              <a:off x="6468097" y="3981625"/>
              <a:ext cx="2178801" cy="837727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Agent 3</a:t>
              </a:r>
            </a:p>
            <a:p>
              <a:pPr algn="ctr"/>
              <a:r>
                <a:rPr lang="en-US" dirty="0"/>
                <a:t>(Imaging)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56B67CA5-1F08-BBF6-824F-CADA30032BC7}"/>
                    </a:ext>
                  </a:extLst>
                </p:cNvPr>
                <p:cNvSpPr/>
                <p:nvPr/>
              </p:nvSpPr>
              <p:spPr>
                <a:xfrm>
                  <a:off x="6468096" y="5516244"/>
                  <a:ext cx="2178801" cy="670548"/>
                </a:xfrm>
                <a:prstGeom prst="rect">
                  <a:avLst/>
                </a:prstGeom>
                <a:solidFill>
                  <a:schemeClr val="tx2">
                    <a:lumMod val="90000"/>
                    <a:lumOff val="1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Agent </a:t>
                  </a:r>
                  <a14:m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</a14:m>
                  <a:endParaRPr lang="en-US" dirty="0"/>
                </a:p>
                <a:p>
                  <a:pPr algn="ctr"/>
                  <a:r>
                    <a:rPr lang="en-US" dirty="0"/>
                    <a:t>(EHR)</a:t>
                  </a:r>
                </a:p>
              </p:txBody>
            </p:sp>
          </mc:Choice>
          <mc:Fallback xmlns=""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56B67CA5-1F08-BBF6-824F-CADA30032BC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68096" y="5516244"/>
                  <a:ext cx="2178801" cy="670548"/>
                </a:xfrm>
                <a:prstGeom prst="rect">
                  <a:avLst/>
                </a:prstGeom>
                <a:blipFill>
                  <a:blip r:embed="rId6"/>
                  <a:stretch>
                    <a:fillRect t="-6000" b="-16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A5E9FD3D-D887-E117-6A20-5094E48CE8C8}"/>
                </a:ext>
              </a:extLst>
            </p:cNvPr>
            <p:cNvSpPr txBox="1"/>
            <p:nvPr/>
          </p:nvSpPr>
          <p:spPr>
            <a:xfrm rot="5400000">
              <a:off x="7326004" y="4978589"/>
              <a:ext cx="462986" cy="3826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…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2B622A92-0C37-CC65-2718-D3D3946482DA}"/>
                </a:ext>
              </a:extLst>
            </p:cNvPr>
            <p:cNvSpPr/>
            <p:nvPr/>
          </p:nvSpPr>
          <p:spPr>
            <a:xfrm>
              <a:off x="9574341" y="4966337"/>
              <a:ext cx="1097638" cy="549906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Output</a:t>
              </a:r>
            </a:p>
          </p:txBody>
        </p:sp>
        <p:sp>
          <p:nvSpPr>
            <p:cNvPr id="29" name="Right Brace 28">
              <a:extLst>
                <a:ext uri="{FF2B5EF4-FFF2-40B4-BE49-F238E27FC236}">
                  <a16:creationId xmlns:a16="http://schemas.microsoft.com/office/drawing/2014/main" id="{6ADD4C07-B9D5-D81D-9F8E-4A055BB7878E}"/>
                </a:ext>
              </a:extLst>
            </p:cNvPr>
            <p:cNvSpPr/>
            <p:nvPr/>
          </p:nvSpPr>
          <p:spPr>
            <a:xfrm>
              <a:off x="3576570" y="2712448"/>
              <a:ext cx="462987" cy="2032688"/>
            </a:xfrm>
            <a:prstGeom prst="rightBrace">
              <a:avLst/>
            </a:prstGeom>
            <a:ln w="317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Left Brace 29">
              <a:extLst>
                <a:ext uri="{FF2B5EF4-FFF2-40B4-BE49-F238E27FC236}">
                  <a16:creationId xmlns:a16="http://schemas.microsoft.com/office/drawing/2014/main" id="{CE62B8C1-4C26-6176-C238-DEBEEE666CBB}"/>
                </a:ext>
              </a:extLst>
            </p:cNvPr>
            <p:cNvSpPr/>
            <p:nvPr/>
          </p:nvSpPr>
          <p:spPr>
            <a:xfrm>
              <a:off x="5920592" y="1648080"/>
              <a:ext cx="410020" cy="4194548"/>
            </a:xfrm>
            <a:prstGeom prst="leftBrace">
              <a:avLst/>
            </a:prstGeom>
            <a:ln w="317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ight Brace 30">
              <a:extLst>
                <a:ext uri="{FF2B5EF4-FFF2-40B4-BE49-F238E27FC236}">
                  <a16:creationId xmlns:a16="http://schemas.microsoft.com/office/drawing/2014/main" id="{42803F0F-D3DB-1AE0-1317-3E5FD15912CB}"/>
                </a:ext>
              </a:extLst>
            </p:cNvPr>
            <p:cNvSpPr/>
            <p:nvPr/>
          </p:nvSpPr>
          <p:spPr>
            <a:xfrm>
              <a:off x="8771453" y="1545543"/>
              <a:ext cx="462987" cy="4403844"/>
            </a:xfrm>
            <a:prstGeom prst="rightBrace">
              <a:avLst/>
            </a:prstGeom>
            <a:ln w="317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BC8BE5F5-7564-4B47-31C0-719E42E24D44}"/>
                </a:ext>
              </a:extLst>
            </p:cNvPr>
            <p:cNvSpPr/>
            <p:nvPr/>
          </p:nvSpPr>
          <p:spPr>
            <a:xfrm>
              <a:off x="9320209" y="3272873"/>
              <a:ext cx="1514245" cy="837727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  <a:p>
              <a:pPr algn="ctr"/>
              <a:r>
                <a:rPr lang="en-US" sz="1400" dirty="0"/>
                <a:t>Communicator with LLM </a:t>
              </a:r>
              <a:r>
                <a:rPr lang="en-US" dirty="0"/>
                <a:t>(Summarizer)</a:t>
              </a:r>
            </a:p>
          </p:txBody>
        </p: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886C3103-4CC4-C6D1-A114-A7F901E66F6E}"/>
                </a:ext>
              </a:extLst>
            </p:cNvPr>
            <p:cNvCxnSpPr>
              <a:cxnSpLocks/>
            </p:cNvCxnSpPr>
            <p:nvPr/>
          </p:nvCxnSpPr>
          <p:spPr>
            <a:xfrm>
              <a:off x="10077331" y="4124133"/>
              <a:ext cx="0" cy="789532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Rounded Rectangle 35">
              <a:extLst>
                <a:ext uri="{FF2B5EF4-FFF2-40B4-BE49-F238E27FC236}">
                  <a16:creationId xmlns:a16="http://schemas.microsoft.com/office/drawing/2014/main" id="{66C03F12-BAB2-C756-0F5A-699472B78940}"/>
                </a:ext>
              </a:extLst>
            </p:cNvPr>
            <p:cNvSpPr/>
            <p:nvPr/>
          </p:nvSpPr>
          <p:spPr>
            <a:xfrm>
              <a:off x="1659108" y="912351"/>
              <a:ext cx="10493576" cy="5404901"/>
            </a:xfrm>
            <a:prstGeom prst="roundRect">
              <a:avLst/>
            </a:prstGeom>
            <a:noFill/>
            <a:ln w="31750"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Direct Access Storage 36">
              <a:extLst>
                <a:ext uri="{FF2B5EF4-FFF2-40B4-BE49-F238E27FC236}">
                  <a16:creationId xmlns:a16="http://schemas.microsoft.com/office/drawing/2014/main" id="{E780ECBD-C1A8-ECD9-9319-E8D522C06265}"/>
                </a:ext>
              </a:extLst>
            </p:cNvPr>
            <p:cNvSpPr/>
            <p:nvPr/>
          </p:nvSpPr>
          <p:spPr>
            <a:xfrm rot="16200000">
              <a:off x="2118756" y="1351194"/>
              <a:ext cx="264481" cy="224778"/>
            </a:xfrm>
            <a:prstGeom prst="flowChartMagneticDrum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Direct Access Storage 37">
              <a:extLst>
                <a:ext uri="{FF2B5EF4-FFF2-40B4-BE49-F238E27FC236}">
                  <a16:creationId xmlns:a16="http://schemas.microsoft.com/office/drawing/2014/main" id="{79AB3521-E6F0-AC49-9DA6-2050CD959875}"/>
                </a:ext>
              </a:extLst>
            </p:cNvPr>
            <p:cNvSpPr/>
            <p:nvPr/>
          </p:nvSpPr>
          <p:spPr>
            <a:xfrm rot="16200000">
              <a:off x="2124301" y="1647979"/>
              <a:ext cx="250371" cy="227794"/>
            </a:xfrm>
            <a:prstGeom prst="flowChartMagneticDrum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66E781C0-ED1F-71C8-EBA8-0B9DD587783C}"/>
                </a:ext>
              </a:extLst>
            </p:cNvPr>
            <p:cNvCxnSpPr>
              <a:cxnSpLocks/>
            </p:cNvCxnSpPr>
            <p:nvPr/>
          </p:nvCxnSpPr>
          <p:spPr>
            <a:xfrm>
              <a:off x="2544832" y="1665733"/>
              <a:ext cx="41786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2EB3FF65-1366-9211-0DC0-EC16C0171D68}"/>
                </a:ext>
              </a:extLst>
            </p:cNvPr>
            <p:cNvSpPr txBox="1"/>
            <p:nvPr/>
          </p:nvSpPr>
          <p:spPr>
            <a:xfrm>
              <a:off x="2269473" y="1785058"/>
              <a:ext cx="118402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Encryption  Indexing</a:t>
              </a: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DA34BF3C-872B-3C7F-093C-D5DD62F6D2F0}"/>
                </a:ext>
              </a:extLst>
            </p:cNvPr>
            <p:cNvSpPr/>
            <p:nvPr/>
          </p:nvSpPr>
          <p:spPr>
            <a:xfrm>
              <a:off x="3070710" y="1434563"/>
              <a:ext cx="90311" cy="29915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C090A919-196C-422C-1EA0-5F8766A73E37}"/>
                </a:ext>
              </a:extLst>
            </p:cNvPr>
            <p:cNvSpPr/>
            <p:nvPr/>
          </p:nvSpPr>
          <p:spPr>
            <a:xfrm>
              <a:off x="3229183" y="1434563"/>
              <a:ext cx="90311" cy="299156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4E6E5760-F83D-6461-99C2-DDB6592B95DD}"/>
                </a:ext>
              </a:extLst>
            </p:cNvPr>
            <p:cNvSpPr txBox="1"/>
            <p:nvPr/>
          </p:nvSpPr>
          <p:spPr>
            <a:xfrm>
              <a:off x="2311132" y="923192"/>
              <a:ext cx="22646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Retrieve</a:t>
              </a:r>
            </a:p>
          </p:txBody>
        </p:sp>
        <p:pic>
          <p:nvPicPr>
            <p:cNvPr id="44" name="Graphic 43" descr="Single gear with solid fill">
              <a:extLst>
                <a:ext uri="{FF2B5EF4-FFF2-40B4-BE49-F238E27FC236}">
                  <a16:creationId xmlns:a16="http://schemas.microsoft.com/office/drawing/2014/main" id="{02FE6460-BF5E-61CA-C4C7-435FDA7FA6C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525164" y="1205963"/>
              <a:ext cx="457200" cy="457200"/>
            </a:xfrm>
            <a:prstGeom prst="rect">
              <a:avLst/>
            </a:prstGeom>
          </p:spPr>
        </p:pic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D47D99EB-AD35-822E-7C42-DB7142E36786}"/>
                </a:ext>
              </a:extLst>
            </p:cNvPr>
            <p:cNvSpPr txBox="1"/>
            <p:nvPr/>
          </p:nvSpPr>
          <p:spPr>
            <a:xfrm>
              <a:off x="3914951" y="923192"/>
              <a:ext cx="97971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Tools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9746659B-269D-2DEE-7953-0901EC86292C}"/>
                </a:ext>
              </a:extLst>
            </p:cNvPr>
            <p:cNvSpPr txBox="1"/>
            <p:nvPr/>
          </p:nvSpPr>
          <p:spPr>
            <a:xfrm>
              <a:off x="5960956" y="264693"/>
              <a:ext cx="135838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Docker</a:t>
              </a:r>
            </a:p>
          </p:txBody>
        </p:sp>
        <p:pic>
          <p:nvPicPr>
            <p:cNvPr id="15" name="Graphic 14" descr="Single gear with solid fill">
              <a:extLst>
                <a:ext uri="{FF2B5EF4-FFF2-40B4-BE49-F238E27FC236}">
                  <a16:creationId xmlns:a16="http://schemas.microsoft.com/office/drawing/2014/main" id="{72B43D6D-B49B-0275-6EE2-3640F3E679C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123107" y="4254201"/>
              <a:ext cx="457200" cy="457200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15F5248-AFA6-7DBD-C653-1000F6E7EFF0}"/>
                </a:ext>
              </a:extLst>
            </p:cNvPr>
            <p:cNvSpPr/>
            <p:nvPr/>
          </p:nvSpPr>
          <p:spPr>
            <a:xfrm>
              <a:off x="9137425" y="2341146"/>
              <a:ext cx="832511" cy="474491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Human</a:t>
              </a:r>
            </a:p>
          </p:txBody>
        </p:sp>
        <p:pic>
          <p:nvPicPr>
            <p:cNvPr id="35" name="Picture 34" descr="A cartoon face of a robot&#10;&#10;AI-generated content may be incorrect.">
              <a:extLst>
                <a:ext uri="{FF2B5EF4-FFF2-40B4-BE49-F238E27FC236}">
                  <a16:creationId xmlns:a16="http://schemas.microsoft.com/office/drawing/2014/main" id="{BBEA8BEB-2E67-F811-FEF7-EAA0522A19F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309997" y="1380510"/>
              <a:ext cx="598447" cy="598447"/>
            </a:xfrm>
            <a:prstGeom prst="rect">
              <a:avLst/>
            </a:prstGeom>
          </p:spPr>
        </p:pic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6C29757F-03DF-ED67-A41F-032A6AE19AA0}"/>
                </a:ext>
              </a:extLst>
            </p:cNvPr>
            <p:cNvSpPr txBox="1"/>
            <p:nvPr/>
          </p:nvSpPr>
          <p:spPr>
            <a:xfrm>
              <a:off x="10468448" y="4284871"/>
              <a:ext cx="147368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800" dirty="0"/>
                <a:t>Decryption</a:t>
              </a:r>
              <a:endParaRPr lang="en-US" dirty="0"/>
            </a:p>
          </p:txBody>
        </p:sp>
        <p:pic>
          <p:nvPicPr>
            <p:cNvPr id="3" name="Picture 2" descr="A black and white symbol of tools in a box&#10;&#10;AI-generated content may be incorrect.">
              <a:extLst>
                <a:ext uri="{FF2B5EF4-FFF2-40B4-BE49-F238E27FC236}">
                  <a16:creationId xmlns:a16="http://schemas.microsoft.com/office/drawing/2014/main" id="{6EB669B1-485D-91A8-39AC-6F2725F1D80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11916" t="16920" r="8367" b="13538"/>
            <a:stretch>
              <a:fillRect/>
            </a:stretch>
          </p:blipFill>
          <p:spPr>
            <a:xfrm>
              <a:off x="3759696" y="1271810"/>
              <a:ext cx="1112025" cy="970079"/>
            </a:xfrm>
            <a:prstGeom prst="rect">
              <a:avLst/>
            </a:prstGeom>
          </p:spPr>
        </p:pic>
      </p:grpSp>
      <p:sp>
        <p:nvSpPr>
          <p:cNvPr id="20" name="Title 1">
            <a:extLst>
              <a:ext uri="{FF2B5EF4-FFF2-40B4-BE49-F238E27FC236}">
                <a16:creationId xmlns:a16="http://schemas.microsoft.com/office/drawing/2014/main" id="{7129F032-B027-FFE1-0119-9596D17EE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006" y="-20030"/>
            <a:ext cx="10515600" cy="1325563"/>
          </a:xfrm>
        </p:spPr>
        <p:txBody>
          <a:bodyPr/>
          <a:lstStyle/>
          <a:p>
            <a:r>
              <a:rPr lang="en-US" dirty="0"/>
              <a:t>Use Enhanced LLM to Build AI Agent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B19B8EF-3D49-9D8C-A6D5-840A74DE2BB4}"/>
              </a:ext>
            </a:extLst>
          </p:cNvPr>
          <p:cNvSpPr txBox="1"/>
          <p:nvPr/>
        </p:nvSpPr>
        <p:spPr>
          <a:xfrm>
            <a:off x="8899301" y="6446138"/>
            <a:ext cx="32926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Concept courtesy of Solomon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818783C9-442E-C0C0-D08E-F37801578AD0}"/>
              </a:ext>
            </a:extLst>
          </p:cNvPr>
          <p:cNvCxnSpPr>
            <a:cxnSpLocks/>
          </p:cNvCxnSpPr>
          <p:nvPr/>
        </p:nvCxnSpPr>
        <p:spPr>
          <a:xfrm>
            <a:off x="1345292" y="2045046"/>
            <a:ext cx="740676" cy="0"/>
          </a:xfrm>
          <a:prstGeom prst="straightConnector1">
            <a:avLst/>
          </a:prstGeom>
          <a:ln w="38100"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5109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tangle 72">
            <a:extLst>
              <a:ext uri="{FF2B5EF4-FFF2-40B4-BE49-F238E27FC236}">
                <a16:creationId xmlns:a16="http://schemas.microsoft.com/office/drawing/2014/main" id="{910E9342-2EE9-2902-FF87-1CBACF2B8FEC}"/>
              </a:ext>
            </a:extLst>
          </p:cNvPr>
          <p:cNvSpPr/>
          <p:nvPr/>
        </p:nvSpPr>
        <p:spPr>
          <a:xfrm>
            <a:off x="331466" y="3470517"/>
            <a:ext cx="1257420" cy="75236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Tasks</a:t>
            </a:r>
            <a:endParaRPr lang="en-US" dirty="0"/>
          </a:p>
        </p:txBody>
      </p: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CD685E6F-576C-0698-34A9-804B90414E4F}"/>
              </a:ext>
            </a:extLst>
          </p:cNvPr>
          <p:cNvCxnSpPr>
            <a:cxnSpLocks/>
          </p:cNvCxnSpPr>
          <p:nvPr/>
        </p:nvCxnSpPr>
        <p:spPr>
          <a:xfrm flipV="1">
            <a:off x="4114947" y="2965101"/>
            <a:ext cx="642846" cy="2834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itle 1">
            <a:extLst>
              <a:ext uri="{FF2B5EF4-FFF2-40B4-BE49-F238E27FC236}">
                <a16:creationId xmlns:a16="http://schemas.microsoft.com/office/drawing/2014/main" id="{9486619B-F3B4-B6E6-7FC4-AC26C4B49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Inside the Agent</a:t>
            </a:r>
          </a:p>
        </p:txBody>
      </p:sp>
      <p:pic>
        <p:nvPicPr>
          <p:cNvPr id="6" name="Picture 2" descr="Image">
            <a:extLst>
              <a:ext uri="{FF2B5EF4-FFF2-40B4-BE49-F238E27FC236}">
                <a16:creationId xmlns:a16="http://schemas.microsoft.com/office/drawing/2014/main" id="{72132903-AABE-EC9C-B4FD-68F4899D35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1106" y="2484672"/>
            <a:ext cx="892399" cy="892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D8DB2844-9CEF-67B1-3BB4-18765DB6A42A}"/>
              </a:ext>
            </a:extLst>
          </p:cNvPr>
          <p:cNvSpPr/>
          <p:nvPr/>
        </p:nvSpPr>
        <p:spPr>
          <a:xfrm>
            <a:off x="331466" y="1574777"/>
            <a:ext cx="1344458" cy="922488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2400" dirty="0"/>
              <a:t>Datasets (optional)</a:t>
            </a:r>
          </a:p>
        </p:txBody>
      </p:sp>
      <p:pic>
        <p:nvPicPr>
          <p:cNvPr id="17" name="Graphic 16" descr="Add with solid fill">
            <a:extLst>
              <a:ext uri="{FF2B5EF4-FFF2-40B4-BE49-F238E27FC236}">
                <a16:creationId xmlns:a16="http://schemas.microsoft.com/office/drawing/2014/main" id="{CEA64F68-D8CF-AFD2-94C4-806B33C392F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6887" y="2771121"/>
            <a:ext cx="410604" cy="410604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1CAB99AB-E931-9376-B398-112B4A9DFCDA}"/>
              </a:ext>
            </a:extLst>
          </p:cNvPr>
          <p:cNvGrpSpPr/>
          <p:nvPr/>
        </p:nvGrpSpPr>
        <p:grpSpPr>
          <a:xfrm>
            <a:off x="1869024" y="2094744"/>
            <a:ext cx="898434" cy="1612700"/>
            <a:chOff x="2887419" y="2833201"/>
            <a:chExt cx="898434" cy="1612700"/>
          </a:xfrm>
        </p:grpSpPr>
        <p:cxnSp>
          <p:nvCxnSpPr>
            <p:cNvPr id="21" name="Elbow Connector 20">
              <a:extLst>
                <a:ext uri="{FF2B5EF4-FFF2-40B4-BE49-F238E27FC236}">
                  <a16:creationId xmlns:a16="http://schemas.microsoft.com/office/drawing/2014/main" id="{11F2EBE6-8815-8B61-C887-C8E34D76E280}"/>
                </a:ext>
              </a:extLst>
            </p:cNvPr>
            <p:cNvCxnSpPr/>
            <p:nvPr/>
          </p:nvCxnSpPr>
          <p:spPr>
            <a:xfrm>
              <a:off x="2887419" y="2833201"/>
              <a:ext cx="898434" cy="873192"/>
            </a:xfrm>
            <a:prstGeom prst="bentConnector3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Elbow Connector 25">
              <a:extLst>
                <a:ext uri="{FF2B5EF4-FFF2-40B4-BE49-F238E27FC236}">
                  <a16:creationId xmlns:a16="http://schemas.microsoft.com/office/drawing/2014/main" id="{DD9BFB3E-1DFA-5075-D536-76623383A5B3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2742273" y="3851539"/>
              <a:ext cx="739509" cy="449216"/>
            </a:xfrm>
            <a:prstGeom prst="bentConnector3">
              <a:avLst>
                <a:gd name="adj1" fmla="val 2318"/>
              </a:avLst>
            </a:prstGeom>
            <a:ln w="381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4C93095B-FC15-B32C-9745-B6B5AC878462}"/>
              </a:ext>
            </a:extLst>
          </p:cNvPr>
          <p:cNvSpPr/>
          <p:nvPr/>
        </p:nvSpPr>
        <p:spPr>
          <a:xfrm>
            <a:off x="4838720" y="2419528"/>
            <a:ext cx="1322073" cy="102268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[python/R code]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19686A1-61AB-021E-C05A-FC9D9A7E2A40}"/>
              </a:ext>
            </a:extLst>
          </p:cNvPr>
          <p:cNvSpPr/>
          <p:nvPr/>
        </p:nvSpPr>
        <p:spPr>
          <a:xfrm>
            <a:off x="7046423" y="2419529"/>
            <a:ext cx="1585243" cy="102268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Executor</a:t>
            </a:r>
            <a:endParaRPr lang="en-US" sz="2000" dirty="0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67D00028-B18A-DFAF-0C4A-7CCF12603A37}"/>
              </a:ext>
            </a:extLst>
          </p:cNvPr>
          <p:cNvCxnSpPr>
            <a:cxnSpLocks/>
          </p:cNvCxnSpPr>
          <p:nvPr/>
        </p:nvCxnSpPr>
        <p:spPr>
          <a:xfrm flipV="1">
            <a:off x="6241721" y="2962267"/>
            <a:ext cx="642846" cy="2834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Curved Up Arrow 38">
            <a:extLst>
              <a:ext uri="{FF2B5EF4-FFF2-40B4-BE49-F238E27FC236}">
                <a16:creationId xmlns:a16="http://schemas.microsoft.com/office/drawing/2014/main" id="{CDE6762C-9D4A-F682-D626-E5EED49FCAC3}"/>
              </a:ext>
            </a:extLst>
          </p:cNvPr>
          <p:cNvSpPr/>
          <p:nvPr/>
        </p:nvSpPr>
        <p:spPr>
          <a:xfrm flipH="1">
            <a:off x="3252328" y="3529272"/>
            <a:ext cx="4543318" cy="990309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08C105C-69A0-F40C-D14C-792763F807F6}"/>
              </a:ext>
            </a:extLst>
          </p:cNvPr>
          <p:cNvSpPr/>
          <p:nvPr/>
        </p:nvSpPr>
        <p:spPr>
          <a:xfrm>
            <a:off x="9485975" y="2706055"/>
            <a:ext cx="1517904" cy="44963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Output</a:t>
            </a:r>
            <a:endParaRPr lang="en-US" dirty="0"/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80696972-E35A-8350-CCC6-75CAC0FEE777}"/>
              </a:ext>
            </a:extLst>
          </p:cNvPr>
          <p:cNvCxnSpPr>
            <a:cxnSpLocks/>
          </p:cNvCxnSpPr>
          <p:nvPr/>
        </p:nvCxnSpPr>
        <p:spPr>
          <a:xfrm flipV="1">
            <a:off x="8737397" y="2959433"/>
            <a:ext cx="642846" cy="2834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349E720E-D212-976B-044A-1C7045535919}"/>
              </a:ext>
            </a:extLst>
          </p:cNvPr>
          <p:cNvSpPr txBox="1"/>
          <p:nvPr/>
        </p:nvSpPr>
        <p:spPr>
          <a:xfrm>
            <a:off x="7046423" y="4722552"/>
            <a:ext cx="470769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To Be Added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Incorporate Human Feedback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Memory Integration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RAG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More to come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48F104C7-7BB1-9C87-7A55-02EB6D063679}"/>
              </a:ext>
            </a:extLst>
          </p:cNvPr>
          <p:cNvSpPr/>
          <p:nvPr/>
        </p:nvSpPr>
        <p:spPr>
          <a:xfrm>
            <a:off x="4940129" y="4606641"/>
            <a:ext cx="1517904" cy="69699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/>
              <a:t>ReACT</a:t>
            </a:r>
            <a:r>
              <a:rPr lang="en-US" sz="2400" dirty="0"/>
              <a:t> </a:t>
            </a:r>
          </a:p>
          <a:p>
            <a:pPr algn="ctr"/>
            <a:r>
              <a:rPr lang="en-US" sz="2400" dirty="0"/>
              <a:t>(Debug)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D567FC6-8B0A-B5CE-6546-CED71840CE3B}"/>
              </a:ext>
            </a:extLst>
          </p:cNvPr>
          <p:cNvSpPr txBox="1"/>
          <p:nvPr/>
        </p:nvSpPr>
        <p:spPr>
          <a:xfrm>
            <a:off x="131026" y="5223128"/>
            <a:ext cx="470769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2"/>
                </a:solidFill>
              </a:rPr>
              <a:t>Current Bottleneck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2"/>
                </a:solidFill>
              </a:rPr>
              <a:t>Requires scalable multi-node parallelism</a:t>
            </a:r>
            <a:endParaRPr lang="en-US" sz="2400" b="1" dirty="0">
              <a:solidFill>
                <a:schemeClr val="accent2"/>
              </a:solidFill>
            </a:endParaRPr>
          </a:p>
          <a:p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5921810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2101</TotalTime>
  <Words>1105</Words>
  <Application>Microsoft Macintosh PowerPoint</Application>
  <PresentationFormat>Widescreen</PresentationFormat>
  <Paragraphs>183</Paragraphs>
  <Slides>9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微軟正黑體</vt:lpstr>
      <vt:lpstr>Aptos</vt:lpstr>
      <vt:lpstr>Aptos Display</vt:lpstr>
      <vt:lpstr>Arial</vt:lpstr>
      <vt:lpstr>Calibri</vt:lpstr>
      <vt:lpstr>Cambria Math</vt:lpstr>
      <vt:lpstr>Wingdings</vt:lpstr>
      <vt:lpstr>Office Theme</vt:lpstr>
      <vt:lpstr>Overview of AI Agent and Prompt Engineering</vt:lpstr>
      <vt:lpstr>What is an AI Agent?</vt:lpstr>
      <vt:lpstr>Build an AI Agent</vt:lpstr>
      <vt:lpstr>Approach 1: Prompt Engineering</vt:lpstr>
      <vt:lpstr>Approach 2: Train Your Own Model (Fine-tuning)</vt:lpstr>
      <vt:lpstr>Enhance LLM Without Retraining</vt:lpstr>
      <vt:lpstr>Enhance LLM Without Retraining – Function Calling</vt:lpstr>
      <vt:lpstr>Use Enhanced LLM to Build AI Agent</vt:lpstr>
      <vt:lpstr>Inside the Agent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Wang, Xutao</dc:creator>
  <cp:lastModifiedBy>Wang, Xutao</cp:lastModifiedBy>
  <cp:revision>180</cp:revision>
  <dcterms:created xsi:type="dcterms:W3CDTF">2025-11-05T01:49:12Z</dcterms:created>
  <dcterms:modified xsi:type="dcterms:W3CDTF">2025-11-11T20:16:16Z</dcterms:modified>
</cp:coreProperties>
</file>